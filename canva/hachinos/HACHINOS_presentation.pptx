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jp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image" Target="../media/image-8-9.jpg"/><Relationship Id="rId10" Type="http://schemas.openxmlformats.org/officeDocument/2006/relationships/image" Target="../media/image-8-10.jpg"/><Relationship Id="rId11" Type="http://schemas.openxmlformats.org/officeDocument/2006/relationships/image" Target="../media/image-8-11.jp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548640" y="274320"/>
            <a:ext cx="1737360" cy="425403"/>
          </a:xfrm>
          <a:prstGeom prst="rect">
            <a:avLst/>
          </a:prstGeom>
        </p:spPr>
      </p:pic>
      <p:sp>
        <p:nvSpPr>
          <p:cNvPr id="3" name="Text 0"/>
          <p:cNvSpPr txBox="1"/>
          <p:nvPr/>
        </p:nvSpPr>
        <p:spPr>
          <a:xfrm>
            <a:off x="7985455" y="329184"/>
            <a:ext cx="3657600" cy="365760"/>
          </a:xfrm>
          <a:prstGeom prst="rect">
            <a:avLst/>
          </a:prstGeom>
          <a:noFill/>
          <a:ln/>
        </p:spPr>
        <p:txBody>
          <a:bodyPr wrap="square" lIns="0" tIns="0" rIns="0" bIns="0" rtlCol="0" anchor="t"/>
          <a:lstStyle/>
          <a:p>
            <a:pPr algn="r" indent="0" marL="0">
              <a:buNone/>
            </a:pPr>
            <a:r>
              <a:rPr lang="en-US" sz="1400" b="1" dirty="0">
                <a:solidFill>
                  <a:srgbClr val="111111"/>
                </a:solidFill>
                <a:latin typeface="Noto Sans JP" pitchFamily="34" charset="0"/>
                <a:ea typeface="Noto Sans JP" pitchFamily="34" charset="-122"/>
                <a:cs typeface="Noto Sans JP" pitchFamily="34" charset="-120"/>
              </a:rPr>
              <a:t>サービスご紹介資料</a:t>
            </a:r>
            <a:endParaRPr lang="en-US" sz="1400" dirty="0"/>
          </a:p>
        </p:txBody>
      </p:sp>
      <p:pic>
        <p:nvPicPr>
          <p:cNvPr id="4" name="Image 1" descr="/tmp/claude-0/-home-user-AIInfinity/c029ed01-a8ff-5307-a636-4c28fa3dbac4/scratchpad/lp/jpg/hero.jpg">    </p:cNvPr>
          <p:cNvPicPr>
            <a:picLocks noChangeAspect="1"/>
          </p:cNvPicPr>
          <p:nvPr/>
        </p:nvPicPr>
        <p:blipFill>
          <a:blip r:embed="rId2"/>
          <a:stretch>
            <a:fillRect/>
          </a:stretch>
        </p:blipFill>
        <p:spPr>
          <a:xfrm>
            <a:off x="0" y="868680"/>
            <a:ext cx="12191695" cy="5455377"/>
          </a:xfrm>
          <a:prstGeom prst="rect">
            <a:avLst/>
          </a:prstGeom>
        </p:spPr>
      </p:pic>
      <p:sp>
        <p:nvSpPr>
          <p:cNvPr id="5" name="Text 1"/>
          <p:cNvSpPr txBox="1"/>
          <p:nvPr/>
        </p:nvSpPr>
        <p:spPr>
          <a:xfrm>
            <a:off x="548640" y="6400800"/>
            <a:ext cx="8229600" cy="274320"/>
          </a:xfrm>
          <a:prstGeom prst="rect">
            <a:avLst/>
          </a:prstGeom>
          <a:noFill/>
          <a:ln/>
        </p:spPr>
        <p:txBody>
          <a:bodyPr wrap="square" lIns="0" tIns="0" rIns="0" bIns="0" rtlCol="0" anchor="t"/>
          <a:lstStyle/>
          <a:p>
            <a:pPr indent="0" marL="0">
              <a:buNone/>
            </a:pPr>
            <a:r>
              <a:rPr lang="en-US" sz="1100" dirty="0">
                <a:solidFill>
                  <a:srgbClr val="5B5B5B"/>
                </a:solidFill>
                <a:latin typeface="Noto Sans JP" pitchFamily="34" charset="0"/>
                <a:ea typeface="Noto Sans JP" pitchFamily="34" charset="-122"/>
                <a:cs typeface="Noto Sans JP" pitchFamily="34" charset="-120"/>
              </a:rPr>
              <a:t>株式会社HornetVentures　｜　info@hornet-v.com　｜　03-4400-2790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2"/>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2</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PROBLEM</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防犯カメラ、「録画するだけ」になっていませんか？</a:t>
            </a:r>
            <a:endParaRPr lang="en-US" sz="3000" dirty="0"/>
          </a:p>
        </p:txBody>
      </p:sp>
      <p:sp>
        <p:nvSpPr>
          <p:cNvPr id="7" name="Shape 4"/>
          <p:cNvSpPr/>
          <p:nvPr/>
        </p:nvSpPr>
        <p:spPr>
          <a:xfrm>
            <a:off x="586588" y="1874520"/>
            <a:ext cx="2057400" cy="3108960"/>
          </a:xfrm>
          <a:prstGeom prst="roundRect">
            <a:avLst>
              <a:gd name="adj" fmla="val 5333"/>
            </a:avLst>
          </a:prstGeom>
          <a:solidFill>
            <a:srgbClr val="FFFFFF"/>
          </a:solidFill>
          <a:ln w="25400">
            <a:solidFill>
              <a:srgbClr val="FFD400"/>
            </a:solidFill>
            <a:prstDash val="solid"/>
          </a:ln>
        </p:spPr>
      </p:sp>
      <p:pic>
        <p:nvPicPr>
          <p:cNvPr id="8" name="Image 1" descr="/tmp/claude-0/-home-user-AIInfinity/c029ed01-a8ff-5307-a636-4c28fa3dbac4/scratchpad/lp/jpg/p-record.jpg">    </p:cNvPr>
          <p:cNvPicPr>
            <a:picLocks noChangeAspect="1"/>
          </p:cNvPicPr>
          <p:nvPr/>
        </p:nvPicPr>
        <p:blipFill>
          <a:blip r:embed="rId2"/>
          <a:stretch>
            <a:fillRect/>
          </a:stretch>
        </p:blipFill>
        <p:spPr>
          <a:xfrm>
            <a:off x="883768" y="2103120"/>
            <a:ext cx="1463040" cy="1463040"/>
          </a:xfrm>
          <a:prstGeom prst="rect">
            <a:avLst/>
          </a:prstGeom>
        </p:spPr>
      </p:pic>
      <p:sp>
        <p:nvSpPr>
          <p:cNvPr id="9" name="Text 5"/>
          <p:cNvSpPr txBox="1"/>
          <p:nvPr/>
        </p:nvSpPr>
        <p:spPr>
          <a:xfrm>
            <a:off x="659740" y="3703320"/>
            <a:ext cx="1911096" cy="1097280"/>
          </a:xfrm>
          <a:prstGeom prst="rect">
            <a:avLst/>
          </a:prstGeom>
          <a:noFill/>
          <a:ln/>
        </p:spPr>
        <p:txBody>
          <a:bodyPr wrap="square" lIns="0" tIns="0" rIns="0" bIns="0" rtlCol="0" anchor="ctr"/>
          <a:lstStyle/>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映像は何かあった時に</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見返すだけ</a:t>
            </a:r>
            <a:endParaRPr lang="en-US" sz="1300" dirty="0"/>
          </a:p>
        </p:txBody>
      </p:sp>
      <p:sp>
        <p:nvSpPr>
          <p:cNvPr id="10" name="Shape 6"/>
          <p:cNvSpPr/>
          <p:nvPr/>
        </p:nvSpPr>
        <p:spPr>
          <a:xfrm>
            <a:off x="2826868" y="1874520"/>
            <a:ext cx="2057400" cy="3108960"/>
          </a:xfrm>
          <a:prstGeom prst="roundRect">
            <a:avLst>
              <a:gd name="adj" fmla="val 5333"/>
            </a:avLst>
          </a:prstGeom>
          <a:solidFill>
            <a:srgbClr val="FFFFFF"/>
          </a:solidFill>
          <a:ln w="25400">
            <a:solidFill>
              <a:srgbClr val="FFD400"/>
            </a:solidFill>
            <a:prstDash val="solid"/>
          </a:ln>
        </p:spPr>
      </p:sp>
      <p:pic>
        <p:nvPicPr>
          <p:cNvPr id="11" name="Image 2" descr="/tmp/claude-0/-home-user-AIInfinity/c029ed01-a8ff-5307-a636-4c28fa3dbac4/scratchpad/lp/jpg/p-unknown.jpg">    </p:cNvPr>
          <p:cNvPicPr>
            <a:picLocks noChangeAspect="1"/>
          </p:cNvPicPr>
          <p:nvPr/>
        </p:nvPicPr>
        <p:blipFill>
          <a:blip r:embed="rId3"/>
          <a:stretch>
            <a:fillRect/>
          </a:stretch>
        </p:blipFill>
        <p:spPr>
          <a:xfrm>
            <a:off x="3124048" y="2103120"/>
            <a:ext cx="1463040" cy="1463040"/>
          </a:xfrm>
          <a:prstGeom prst="rect">
            <a:avLst/>
          </a:prstGeom>
        </p:spPr>
      </p:pic>
      <p:sp>
        <p:nvSpPr>
          <p:cNvPr id="12" name="Text 7"/>
          <p:cNvSpPr txBox="1"/>
          <p:nvPr/>
        </p:nvSpPr>
        <p:spPr>
          <a:xfrm>
            <a:off x="2900020" y="3703320"/>
            <a:ext cx="1911096" cy="1097280"/>
          </a:xfrm>
          <a:prstGeom prst="rect">
            <a:avLst/>
          </a:prstGeom>
          <a:noFill/>
          <a:ln/>
        </p:spPr>
        <p:txBody>
          <a:bodyPr wrap="square" lIns="0" tIns="0" rIns="0" bIns="0" rtlCol="0" anchor="ctr"/>
          <a:lstStyle/>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どんなお客様が</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来ているか</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数字でわからない</a:t>
            </a:r>
            <a:endParaRPr lang="en-US" sz="1300" dirty="0"/>
          </a:p>
        </p:txBody>
      </p:sp>
      <p:sp>
        <p:nvSpPr>
          <p:cNvPr id="13" name="Shape 8"/>
          <p:cNvSpPr/>
          <p:nvPr/>
        </p:nvSpPr>
        <p:spPr>
          <a:xfrm>
            <a:off x="5067148" y="1874520"/>
            <a:ext cx="2057400" cy="3108960"/>
          </a:xfrm>
          <a:prstGeom prst="roundRect">
            <a:avLst>
              <a:gd name="adj" fmla="val 5333"/>
            </a:avLst>
          </a:prstGeom>
          <a:solidFill>
            <a:srgbClr val="FFFFFF"/>
          </a:solidFill>
          <a:ln w="25400">
            <a:solidFill>
              <a:srgbClr val="FFD400"/>
            </a:solidFill>
            <a:prstDash val="solid"/>
          </a:ln>
        </p:spPr>
      </p:sp>
      <p:pic>
        <p:nvPicPr>
          <p:cNvPr id="14" name="Image 3" descr="/tmp/claude-0/-home-user-AIInfinity/c029ed01-a8ff-5307-a636-4c28fa3dbac4/scratchpad/lp/jpg/p-route.jpg">    </p:cNvPr>
          <p:cNvPicPr>
            <a:picLocks noChangeAspect="1"/>
          </p:cNvPicPr>
          <p:nvPr/>
        </p:nvPicPr>
        <p:blipFill>
          <a:blip r:embed="rId4"/>
          <a:stretch>
            <a:fillRect/>
          </a:stretch>
        </p:blipFill>
        <p:spPr>
          <a:xfrm>
            <a:off x="5364328" y="2103120"/>
            <a:ext cx="1463040" cy="1463040"/>
          </a:xfrm>
          <a:prstGeom prst="rect">
            <a:avLst/>
          </a:prstGeom>
        </p:spPr>
      </p:pic>
      <p:sp>
        <p:nvSpPr>
          <p:cNvPr id="15" name="Text 9"/>
          <p:cNvSpPr txBox="1"/>
          <p:nvPr/>
        </p:nvSpPr>
        <p:spPr>
          <a:xfrm>
            <a:off x="5140300" y="3703320"/>
            <a:ext cx="1911096" cy="1097280"/>
          </a:xfrm>
          <a:prstGeom prst="rect">
            <a:avLst/>
          </a:prstGeom>
          <a:noFill/>
          <a:ln/>
        </p:spPr>
        <p:txBody>
          <a:bodyPr wrap="square" lIns="0" tIns="0" rIns="0" bIns="0" rtlCol="0" anchor="ctr"/>
          <a:lstStyle/>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売場やレイアウトの</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効果を検証できない</a:t>
            </a:r>
            <a:endParaRPr lang="en-US" sz="1300" dirty="0"/>
          </a:p>
        </p:txBody>
      </p:sp>
      <p:sp>
        <p:nvSpPr>
          <p:cNvPr id="16" name="Shape 10"/>
          <p:cNvSpPr/>
          <p:nvPr/>
        </p:nvSpPr>
        <p:spPr>
          <a:xfrm>
            <a:off x="7307428" y="1874520"/>
            <a:ext cx="2057400" cy="3108960"/>
          </a:xfrm>
          <a:prstGeom prst="roundRect">
            <a:avLst>
              <a:gd name="adj" fmla="val 5333"/>
            </a:avLst>
          </a:prstGeom>
          <a:solidFill>
            <a:srgbClr val="FFFFFF"/>
          </a:solidFill>
          <a:ln w="25400">
            <a:solidFill>
              <a:srgbClr val="FFD400"/>
            </a:solidFill>
            <a:prstDash val="solid"/>
          </a:ln>
        </p:spPr>
      </p:sp>
      <p:pic>
        <p:nvPicPr>
          <p:cNvPr id="17" name="Image 4" descr="/tmp/claude-0/-home-user-AIInfinity/c029ed01-a8ff-5307-a636-4c28fa3dbac4/scratchpad/lp/jpg/p-late.jpg">    </p:cNvPr>
          <p:cNvPicPr>
            <a:picLocks noChangeAspect="1"/>
          </p:cNvPicPr>
          <p:nvPr/>
        </p:nvPicPr>
        <p:blipFill>
          <a:blip r:embed="rId5"/>
          <a:stretch>
            <a:fillRect/>
          </a:stretch>
        </p:blipFill>
        <p:spPr>
          <a:xfrm>
            <a:off x="7604608" y="2103120"/>
            <a:ext cx="1463040" cy="1463040"/>
          </a:xfrm>
          <a:prstGeom prst="rect">
            <a:avLst/>
          </a:prstGeom>
        </p:spPr>
      </p:pic>
      <p:sp>
        <p:nvSpPr>
          <p:cNvPr id="18" name="Text 11"/>
          <p:cNvSpPr txBox="1"/>
          <p:nvPr/>
        </p:nvSpPr>
        <p:spPr>
          <a:xfrm>
            <a:off x="7380580" y="3703320"/>
            <a:ext cx="1911096" cy="1097280"/>
          </a:xfrm>
          <a:prstGeom prst="rect">
            <a:avLst/>
          </a:prstGeom>
          <a:noFill/>
          <a:ln/>
        </p:spPr>
        <p:txBody>
          <a:bodyPr wrap="square" lIns="0" tIns="0" rIns="0" bIns="0" rtlCol="0" anchor="ctr"/>
          <a:lstStyle/>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万引き・転倒・侵入に</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気づくのが</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遅れる</a:t>
            </a:r>
            <a:endParaRPr lang="en-US" sz="1300" dirty="0"/>
          </a:p>
        </p:txBody>
      </p:sp>
      <p:sp>
        <p:nvSpPr>
          <p:cNvPr id="19" name="Shape 12"/>
          <p:cNvSpPr/>
          <p:nvPr/>
        </p:nvSpPr>
        <p:spPr>
          <a:xfrm>
            <a:off x="9547708" y="1874520"/>
            <a:ext cx="2057400" cy="3108960"/>
          </a:xfrm>
          <a:prstGeom prst="roundRect">
            <a:avLst>
              <a:gd name="adj" fmla="val 5333"/>
            </a:avLst>
          </a:prstGeom>
          <a:solidFill>
            <a:srgbClr val="FFFFFF"/>
          </a:solidFill>
          <a:ln w="25400">
            <a:solidFill>
              <a:srgbClr val="FFD400"/>
            </a:solidFill>
            <a:prstDash val="solid"/>
          </a:ln>
        </p:spPr>
      </p:sp>
      <p:pic>
        <p:nvPicPr>
          <p:cNvPr id="20" name="Image 5" descr="/tmp/claude-0/-home-user-AIInfinity/c029ed01-a8ff-5307-a636-4c28fa3dbac4/scratchpad/lp/jpg/p-staff.jpg">    </p:cNvPr>
          <p:cNvPicPr>
            <a:picLocks noChangeAspect="1"/>
          </p:cNvPicPr>
          <p:nvPr/>
        </p:nvPicPr>
        <p:blipFill>
          <a:blip r:embed="rId6"/>
          <a:stretch>
            <a:fillRect/>
          </a:stretch>
        </p:blipFill>
        <p:spPr>
          <a:xfrm>
            <a:off x="9844888" y="2103120"/>
            <a:ext cx="1463040" cy="1463040"/>
          </a:xfrm>
          <a:prstGeom prst="rect">
            <a:avLst/>
          </a:prstGeom>
        </p:spPr>
      </p:pic>
      <p:sp>
        <p:nvSpPr>
          <p:cNvPr id="21" name="Text 13"/>
          <p:cNvSpPr txBox="1"/>
          <p:nvPr/>
        </p:nvSpPr>
        <p:spPr>
          <a:xfrm>
            <a:off x="9620860" y="3703320"/>
            <a:ext cx="1911096" cy="1097280"/>
          </a:xfrm>
          <a:prstGeom prst="rect">
            <a:avLst/>
          </a:prstGeom>
          <a:noFill/>
          <a:ln/>
        </p:spPr>
        <p:txBody>
          <a:bodyPr wrap="square" lIns="0" tIns="0" rIns="0" bIns="0" rtlCol="0" anchor="ctr"/>
          <a:lstStyle/>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人手不足で</a:t>
            </a:r>
            <a:endParaRPr lang="en-US" sz="1300" dirty="0"/>
          </a:p>
          <a:p>
            <a:pPr algn="ctr" indent="0" marL="0">
              <a:lnSpc>
                <a:spcPct val="130000"/>
              </a:lnSpc>
              <a:buNone/>
            </a:pPr>
            <a:r>
              <a:rPr lang="en-US" sz="1300" b="1" dirty="0">
                <a:solidFill>
                  <a:srgbClr val="222222"/>
                </a:solidFill>
                <a:latin typeface="Noto Sans JP" pitchFamily="34" charset="0"/>
                <a:ea typeface="Noto Sans JP" pitchFamily="34" charset="-122"/>
                <a:cs typeface="Noto Sans JP" pitchFamily="34" charset="-120"/>
              </a:rPr>
              <a:t>見回りが追いつかない</a:t>
            </a:r>
            <a:endParaRPr lang="en-US" sz="1300" dirty="0"/>
          </a:p>
        </p:txBody>
      </p:sp>
      <p:sp>
        <p:nvSpPr>
          <p:cNvPr id="22" name="Text 14"/>
          <p:cNvSpPr txBox="1"/>
          <p:nvPr/>
        </p:nvSpPr>
        <p:spPr>
          <a:xfrm>
            <a:off x="548640" y="5440680"/>
            <a:ext cx="11094415" cy="548640"/>
          </a:xfrm>
          <a:prstGeom prst="rect">
            <a:avLst/>
          </a:prstGeom>
          <a:noFill/>
          <a:ln/>
        </p:spPr>
        <p:txBody>
          <a:bodyPr wrap="square" lIns="0" tIns="0" rIns="0" bIns="0" rtlCol="0" anchor="ctr"/>
          <a:lstStyle/>
          <a:p>
            <a:pPr algn="ctr" indent="0" marL="0">
              <a:buNone/>
            </a:pPr>
            <a:r>
              <a:rPr lang="en-US" sz="2400" b="1" dirty="0">
                <a:solidFill>
                  <a:srgbClr val="111111"/>
                </a:solidFill>
                <a:latin typeface="Noto Sans JP" pitchFamily="34" charset="0"/>
                <a:ea typeface="Noto Sans JP" pitchFamily="34" charset="-122"/>
                <a:cs typeface="Noto Sans JP" pitchFamily="34" charset="-120"/>
              </a:rPr>
              <a:t>その映像、</a:t>
            </a:r>
            <a:pPr algn="ctr" indent="0" marL="0">
              <a:buNone/>
            </a:pPr>
            <a:r>
              <a:rPr lang="en-US" sz="2400" b="1" dirty="0">
                <a:solidFill>
                  <a:srgbClr val="111111"/>
                </a:solidFill>
                <a:highlight>
                  <a:srgbClr val="FFD400"/>
                </a:highlight>
                <a:latin typeface="Noto Sans JP" pitchFamily="34" charset="0"/>
                <a:ea typeface="Noto Sans JP" pitchFamily="34" charset="-122"/>
                <a:cs typeface="Noto Sans JP" pitchFamily="34" charset="-120"/>
              </a:rPr>
              <a:t>売上と現場改善のデータ</a:t>
            </a:r>
            <a:pPr algn="ctr" indent="0" marL="0">
              <a:buNone/>
            </a:pPr>
            <a:r>
              <a:rPr lang="en-US" sz="2400" b="1" dirty="0">
                <a:solidFill>
                  <a:srgbClr val="111111"/>
                </a:solidFill>
                <a:latin typeface="Noto Sans JP" pitchFamily="34" charset="0"/>
                <a:ea typeface="Noto Sans JP" pitchFamily="34" charset="-122"/>
                <a:cs typeface="Noto Sans JP" pitchFamily="34" charset="-120"/>
              </a:rPr>
              <a:t>に変えられます。</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3</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SOLUTION</a:t>
            </a:r>
            <a:endParaRPr lang="en-US" sz="1100" dirty="0"/>
          </a:p>
        </p:txBody>
      </p:sp>
      <p:sp>
        <p:nvSpPr>
          <p:cNvPr id="6" name="Text 3"/>
          <p:cNvSpPr txBox="1"/>
          <p:nvPr/>
        </p:nvSpPr>
        <p:spPr>
          <a:xfrm>
            <a:off x="548640" y="850392"/>
            <a:ext cx="100584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HACHINOSは、映像を「使えるデータ」に変えるAIです</a:t>
            </a:r>
            <a:endParaRPr lang="en-US" sz="3000" dirty="0"/>
          </a:p>
        </p:txBody>
      </p:sp>
      <p:sp>
        <p:nvSpPr>
          <p:cNvPr id="7" name="Shape 4"/>
          <p:cNvSpPr/>
          <p:nvPr/>
        </p:nvSpPr>
        <p:spPr>
          <a:xfrm>
            <a:off x="472288" y="2011680"/>
            <a:ext cx="2606040" cy="4023360"/>
          </a:xfrm>
          <a:prstGeom prst="roundRect">
            <a:avLst>
              <a:gd name="adj" fmla="val 4211"/>
            </a:avLst>
          </a:prstGeom>
          <a:solidFill>
            <a:srgbClr val="FFFFFF"/>
          </a:solidFill>
          <a:ln w="19050">
            <a:solidFill>
              <a:srgbClr val="111111"/>
            </a:solidFill>
            <a:prstDash val="solid"/>
          </a:ln>
        </p:spPr>
      </p:sp>
      <p:pic>
        <p:nvPicPr>
          <p:cNvPr id="8" name="Image 1" descr="/tmp/claude-0/-home-user-AIInfinity/c029ed01-a8ff-5307-a636-4c28fa3dbac4/scratchpad/lp/jpg/capture.jpg">    </p:cNvPr>
          <p:cNvPicPr>
            <a:picLocks noChangeAspect="1"/>
          </p:cNvPicPr>
          <p:nvPr/>
        </p:nvPicPr>
        <p:blipFill>
          <a:blip r:embed="rId2"/>
          <a:srcRect l="0" r="0" t="0" b="0"/>
          <a:stretch/>
        </p:blipFill>
        <p:spPr>
          <a:xfrm>
            <a:off x="490576" y="2029968"/>
            <a:ext cx="2569464" cy="1714200"/>
          </a:xfrm>
          <a:prstGeom prst="rect">
            <a:avLst/>
          </a:prstGeom>
        </p:spPr>
      </p:pic>
      <p:sp>
        <p:nvSpPr>
          <p:cNvPr id="9" name="Shape 5"/>
          <p:cNvSpPr/>
          <p:nvPr/>
        </p:nvSpPr>
        <p:spPr>
          <a:xfrm>
            <a:off x="1455268" y="1856232"/>
            <a:ext cx="640080" cy="310896"/>
          </a:xfrm>
          <a:prstGeom prst="roundRect">
            <a:avLst>
              <a:gd name="adj" fmla="val 50000"/>
            </a:avLst>
          </a:prstGeom>
          <a:solidFill>
            <a:srgbClr val="111111"/>
          </a:solidFill>
          <a:ln/>
        </p:spPr>
      </p:sp>
      <p:sp>
        <p:nvSpPr>
          <p:cNvPr id="10" name="Text 6"/>
          <p:cNvSpPr txBox="1"/>
          <p:nvPr/>
        </p:nvSpPr>
        <p:spPr>
          <a:xfrm>
            <a:off x="1455268" y="1856232"/>
            <a:ext cx="640080" cy="310896"/>
          </a:xfrm>
          <a:prstGeom prst="rect">
            <a:avLst/>
          </a:prstGeom>
          <a:noFill/>
          <a:ln/>
        </p:spPr>
        <p:txBody>
          <a:bodyPr wrap="square" lIns="0" tIns="0" rIns="0" bIns="0" rtlCol="0" anchor="ctr"/>
          <a:lstStyle/>
          <a:p>
            <a:pPr algn="ctr" indent="0" marL="0">
              <a:buNone/>
            </a:pPr>
            <a:r>
              <a:rPr lang="en-US" sz="1200" b="1" dirty="0">
                <a:solidFill>
                  <a:srgbClr val="FFD400"/>
                </a:solidFill>
                <a:latin typeface="Noto Sans JP" pitchFamily="34" charset="0"/>
                <a:ea typeface="Noto Sans JP" pitchFamily="34" charset="-122"/>
                <a:cs typeface="Noto Sans JP" pitchFamily="34" charset="-120"/>
              </a:rPr>
              <a:t>01</a:t>
            </a:r>
            <a:endParaRPr lang="en-US" sz="1200" dirty="0"/>
          </a:p>
        </p:txBody>
      </p:sp>
      <p:sp>
        <p:nvSpPr>
          <p:cNvPr id="11" name="Text 7"/>
          <p:cNvSpPr txBox="1"/>
          <p:nvPr/>
        </p:nvSpPr>
        <p:spPr>
          <a:xfrm>
            <a:off x="655168" y="3931920"/>
            <a:ext cx="2240280" cy="457200"/>
          </a:xfrm>
          <a:prstGeom prst="rect">
            <a:avLst/>
          </a:prstGeom>
          <a:noFill/>
          <a:ln/>
        </p:spPr>
        <p:txBody>
          <a:bodyPr wrap="square" lIns="0" tIns="0" rIns="0" bIns="0" rtlCol="0" anchor="t"/>
          <a:lstStyle/>
          <a:p>
            <a:pPr algn="ctr" indent="0" marL="0">
              <a:buNone/>
            </a:pPr>
            <a:r>
              <a:rPr lang="en-US" sz="2000" b="1" dirty="0">
                <a:solidFill>
                  <a:srgbClr val="111111"/>
                </a:solidFill>
                <a:latin typeface="Noto Sans JP" pitchFamily="34" charset="0"/>
                <a:ea typeface="Noto Sans JP" pitchFamily="34" charset="-122"/>
                <a:cs typeface="Noto Sans JP" pitchFamily="34" charset="-120"/>
              </a:rPr>
              <a:t>映像取得</a:t>
            </a:r>
            <a:endParaRPr lang="en-US" sz="2000" dirty="0"/>
          </a:p>
        </p:txBody>
      </p:sp>
      <p:sp>
        <p:nvSpPr>
          <p:cNvPr id="12" name="Text 8"/>
          <p:cNvSpPr txBox="1"/>
          <p:nvPr/>
        </p:nvSpPr>
        <p:spPr>
          <a:xfrm>
            <a:off x="700888" y="4480560"/>
            <a:ext cx="2148840" cy="1371600"/>
          </a:xfrm>
          <a:prstGeom prst="rect">
            <a:avLst/>
          </a:prstGeom>
          <a:noFill/>
          <a:ln/>
        </p:spPr>
        <p:txBody>
          <a:bodyPr wrap="square" lIns="0" tIns="0" rIns="0" bIns="0" rtlCol="0" anchor="t"/>
          <a:lstStyle/>
          <a:p>
            <a:pPr indent="0" marL="0">
              <a:lnSpc>
                <a:spcPct val="140000"/>
              </a:lnSpc>
              <a:buNone/>
            </a:pPr>
            <a:r>
              <a:rPr lang="en-US" sz="1300" dirty="0">
                <a:solidFill>
                  <a:srgbClr val="5B5B5B"/>
                </a:solidFill>
                <a:latin typeface="Noto Sans JP" pitchFamily="34" charset="0"/>
                <a:ea typeface="Noto Sans JP" pitchFamily="34" charset="-122"/>
                <a:cs typeface="Noto Sans JP" pitchFamily="34" charset="-120"/>
              </a:rPr>
              <a:t>今お使いの防犯カメラの映像を、そのままHACHINOS本体に取り込みます。</a:t>
            </a:r>
            <a:endParaRPr lang="en-US" sz="1300" dirty="0"/>
          </a:p>
        </p:txBody>
      </p:sp>
      <p:sp>
        <p:nvSpPr>
          <p:cNvPr id="13" name="Text 9"/>
          <p:cNvSpPr txBox="1"/>
          <p:nvPr/>
        </p:nvSpPr>
        <p:spPr>
          <a:xfrm>
            <a:off x="3096616" y="3566160"/>
            <a:ext cx="237744" cy="548640"/>
          </a:xfrm>
          <a:prstGeom prst="rect">
            <a:avLst/>
          </a:prstGeom>
          <a:noFill/>
          <a:ln/>
        </p:spPr>
        <p:txBody>
          <a:bodyPr wrap="square" lIns="0" tIns="0" rIns="0" bIns="0" rtlCol="0" anchor="t"/>
          <a:lstStyle/>
          <a:p>
            <a:pPr algn="ctr" indent="0" marL="0">
              <a:buNone/>
            </a:pPr>
            <a:r>
              <a:rPr lang="en-US" sz="3000" b="1" dirty="0">
                <a:solidFill>
                  <a:srgbClr val="111111"/>
                </a:solidFill>
                <a:latin typeface="Noto Sans JP" pitchFamily="34" charset="0"/>
                <a:ea typeface="Noto Sans JP" pitchFamily="34" charset="-122"/>
                <a:cs typeface="Noto Sans JP" pitchFamily="34" charset="-120"/>
              </a:rPr>
              <a:t>›</a:t>
            </a:r>
            <a:endParaRPr lang="en-US" sz="3000" dirty="0"/>
          </a:p>
        </p:txBody>
      </p:sp>
      <p:sp>
        <p:nvSpPr>
          <p:cNvPr id="14" name="Shape 10"/>
          <p:cNvSpPr/>
          <p:nvPr/>
        </p:nvSpPr>
        <p:spPr>
          <a:xfrm>
            <a:off x="3352648" y="2011680"/>
            <a:ext cx="2606040" cy="4023360"/>
          </a:xfrm>
          <a:prstGeom prst="roundRect">
            <a:avLst>
              <a:gd name="adj" fmla="val 4211"/>
            </a:avLst>
          </a:prstGeom>
          <a:solidFill>
            <a:srgbClr val="FFFFFF"/>
          </a:solidFill>
          <a:ln w="19050">
            <a:solidFill>
              <a:srgbClr val="111111"/>
            </a:solidFill>
            <a:prstDash val="solid"/>
          </a:ln>
        </p:spPr>
      </p:sp>
      <p:pic>
        <p:nvPicPr>
          <p:cNvPr id="15" name="Image 2" descr="/tmp/claude-0/-home-user-AIInfinity/c029ed01-a8ff-5307-a636-4c28fa3dbac4/scratchpad/lp/jpg/ai.jpg">    </p:cNvPr>
          <p:cNvPicPr>
            <a:picLocks noChangeAspect="1"/>
          </p:cNvPicPr>
          <p:nvPr/>
        </p:nvPicPr>
        <p:blipFill>
          <a:blip r:embed="rId3"/>
          <a:srcRect l="0" r="0" t="0" b="0"/>
          <a:stretch/>
        </p:blipFill>
        <p:spPr>
          <a:xfrm>
            <a:off x="3370936" y="2029968"/>
            <a:ext cx="2569464" cy="1714200"/>
          </a:xfrm>
          <a:prstGeom prst="rect">
            <a:avLst/>
          </a:prstGeom>
        </p:spPr>
      </p:pic>
      <p:sp>
        <p:nvSpPr>
          <p:cNvPr id="16" name="Shape 11"/>
          <p:cNvSpPr/>
          <p:nvPr/>
        </p:nvSpPr>
        <p:spPr>
          <a:xfrm>
            <a:off x="4335628" y="1856232"/>
            <a:ext cx="640080" cy="310896"/>
          </a:xfrm>
          <a:prstGeom prst="roundRect">
            <a:avLst>
              <a:gd name="adj" fmla="val 50000"/>
            </a:avLst>
          </a:prstGeom>
          <a:solidFill>
            <a:srgbClr val="111111"/>
          </a:solidFill>
          <a:ln/>
        </p:spPr>
      </p:sp>
      <p:sp>
        <p:nvSpPr>
          <p:cNvPr id="17" name="Text 12"/>
          <p:cNvSpPr txBox="1"/>
          <p:nvPr/>
        </p:nvSpPr>
        <p:spPr>
          <a:xfrm>
            <a:off x="4335628" y="1856232"/>
            <a:ext cx="640080" cy="310896"/>
          </a:xfrm>
          <a:prstGeom prst="rect">
            <a:avLst/>
          </a:prstGeom>
          <a:noFill/>
          <a:ln/>
        </p:spPr>
        <p:txBody>
          <a:bodyPr wrap="square" lIns="0" tIns="0" rIns="0" bIns="0" rtlCol="0" anchor="ctr"/>
          <a:lstStyle/>
          <a:p>
            <a:pPr algn="ctr" indent="0" marL="0">
              <a:buNone/>
            </a:pPr>
            <a:r>
              <a:rPr lang="en-US" sz="1200" b="1" dirty="0">
                <a:solidFill>
                  <a:srgbClr val="FFD400"/>
                </a:solidFill>
                <a:latin typeface="Noto Sans JP" pitchFamily="34" charset="0"/>
                <a:ea typeface="Noto Sans JP" pitchFamily="34" charset="-122"/>
                <a:cs typeface="Noto Sans JP" pitchFamily="34" charset="-120"/>
              </a:rPr>
              <a:t>02</a:t>
            </a:r>
            <a:endParaRPr lang="en-US" sz="1200" dirty="0"/>
          </a:p>
        </p:txBody>
      </p:sp>
      <p:sp>
        <p:nvSpPr>
          <p:cNvPr id="18" name="Text 13"/>
          <p:cNvSpPr txBox="1"/>
          <p:nvPr/>
        </p:nvSpPr>
        <p:spPr>
          <a:xfrm>
            <a:off x="3535528" y="3931920"/>
            <a:ext cx="2240280" cy="457200"/>
          </a:xfrm>
          <a:prstGeom prst="rect">
            <a:avLst/>
          </a:prstGeom>
          <a:noFill/>
          <a:ln/>
        </p:spPr>
        <p:txBody>
          <a:bodyPr wrap="square" lIns="0" tIns="0" rIns="0" bIns="0" rtlCol="0" anchor="t"/>
          <a:lstStyle/>
          <a:p>
            <a:pPr algn="ctr" indent="0" marL="0">
              <a:buNone/>
            </a:pPr>
            <a:r>
              <a:rPr lang="en-US" sz="2000" b="1" dirty="0">
                <a:solidFill>
                  <a:srgbClr val="111111"/>
                </a:solidFill>
                <a:latin typeface="Noto Sans JP" pitchFamily="34" charset="0"/>
                <a:ea typeface="Noto Sans JP" pitchFamily="34" charset="-122"/>
                <a:cs typeface="Noto Sans JP" pitchFamily="34" charset="-120"/>
              </a:rPr>
              <a:t>AI解析</a:t>
            </a:r>
            <a:endParaRPr lang="en-US" sz="2000" dirty="0"/>
          </a:p>
        </p:txBody>
      </p:sp>
      <p:sp>
        <p:nvSpPr>
          <p:cNvPr id="19" name="Text 14"/>
          <p:cNvSpPr txBox="1"/>
          <p:nvPr/>
        </p:nvSpPr>
        <p:spPr>
          <a:xfrm>
            <a:off x="3581248" y="4480560"/>
            <a:ext cx="2148840" cy="1371600"/>
          </a:xfrm>
          <a:prstGeom prst="rect">
            <a:avLst/>
          </a:prstGeom>
          <a:noFill/>
          <a:ln/>
        </p:spPr>
        <p:txBody>
          <a:bodyPr wrap="square" lIns="0" tIns="0" rIns="0" bIns="0" rtlCol="0" anchor="t"/>
          <a:lstStyle/>
          <a:p>
            <a:pPr indent="0" marL="0">
              <a:lnSpc>
                <a:spcPct val="140000"/>
              </a:lnSpc>
              <a:buNone/>
            </a:pPr>
            <a:r>
              <a:rPr lang="en-US" sz="1300" dirty="0">
                <a:solidFill>
                  <a:srgbClr val="5B5B5B"/>
                </a:solidFill>
                <a:latin typeface="Noto Sans JP" pitchFamily="34" charset="0"/>
                <a:ea typeface="Noto Sans JP" pitchFamily="34" charset="-122"/>
                <a:cs typeface="Noto Sans JP" pitchFamily="34" charset="-120"/>
              </a:rPr>
              <a:t>施設内の本体でAIが人物の属性・動き・人数・異常を解析します。</a:t>
            </a:r>
            <a:endParaRPr lang="en-US" sz="1300" dirty="0"/>
          </a:p>
        </p:txBody>
      </p:sp>
      <p:sp>
        <p:nvSpPr>
          <p:cNvPr id="20" name="Text 15"/>
          <p:cNvSpPr txBox="1"/>
          <p:nvPr/>
        </p:nvSpPr>
        <p:spPr>
          <a:xfrm>
            <a:off x="5976976" y="3566160"/>
            <a:ext cx="237744" cy="548640"/>
          </a:xfrm>
          <a:prstGeom prst="rect">
            <a:avLst/>
          </a:prstGeom>
          <a:noFill/>
          <a:ln/>
        </p:spPr>
        <p:txBody>
          <a:bodyPr wrap="square" lIns="0" tIns="0" rIns="0" bIns="0" rtlCol="0" anchor="t"/>
          <a:lstStyle/>
          <a:p>
            <a:pPr algn="ctr" indent="0" marL="0">
              <a:buNone/>
            </a:pPr>
            <a:r>
              <a:rPr lang="en-US" sz="3000" b="1" dirty="0">
                <a:solidFill>
                  <a:srgbClr val="111111"/>
                </a:solidFill>
                <a:latin typeface="Noto Sans JP" pitchFamily="34" charset="0"/>
                <a:ea typeface="Noto Sans JP" pitchFamily="34" charset="-122"/>
                <a:cs typeface="Noto Sans JP" pitchFamily="34" charset="-120"/>
              </a:rPr>
              <a:t>›</a:t>
            </a:r>
            <a:endParaRPr lang="en-US" sz="3000" dirty="0"/>
          </a:p>
        </p:txBody>
      </p:sp>
      <p:sp>
        <p:nvSpPr>
          <p:cNvPr id="21" name="Shape 16"/>
          <p:cNvSpPr/>
          <p:nvPr/>
        </p:nvSpPr>
        <p:spPr>
          <a:xfrm>
            <a:off x="6233008" y="2011680"/>
            <a:ext cx="2606040" cy="4023360"/>
          </a:xfrm>
          <a:prstGeom prst="roundRect">
            <a:avLst>
              <a:gd name="adj" fmla="val 4211"/>
            </a:avLst>
          </a:prstGeom>
          <a:solidFill>
            <a:srgbClr val="FFFFFF"/>
          </a:solidFill>
          <a:ln w="19050">
            <a:solidFill>
              <a:srgbClr val="111111"/>
            </a:solidFill>
            <a:prstDash val="solid"/>
          </a:ln>
        </p:spPr>
      </p:sp>
      <p:pic>
        <p:nvPicPr>
          <p:cNvPr id="22" name="Image 3" descr="/tmp/claude-0/-home-user-AIInfinity/c029ed01-a8ff-5307-a636-4c28fa3dbac4/scratchpad/lp/jpg/visual.jpg">    </p:cNvPr>
          <p:cNvPicPr>
            <a:picLocks noChangeAspect="1"/>
          </p:cNvPicPr>
          <p:nvPr/>
        </p:nvPicPr>
        <p:blipFill>
          <a:blip r:embed="rId4"/>
          <a:srcRect l="0" r="0" t="0" b="0"/>
          <a:stretch/>
        </p:blipFill>
        <p:spPr>
          <a:xfrm>
            <a:off x="6251296" y="2029968"/>
            <a:ext cx="2569464" cy="1714200"/>
          </a:xfrm>
          <a:prstGeom prst="rect">
            <a:avLst/>
          </a:prstGeom>
        </p:spPr>
      </p:pic>
      <p:sp>
        <p:nvSpPr>
          <p:cNvPr id="23" name="Shape 17"/>
          <p:cNvSpPr/>
          <p:nvPr/>
        </p:nvSpPr>
        <p:spPr>
          <a:xfrm>
            <a:off x="7215988" y="1856232"/>
            <a:ext cx="640080" cy="310896"/>
          </a:xfrm>
          <a:prstGeom prst="roundRect">
            <a:avLst>
              <a:gd name="adj" fmla="val 50000"/>
            </a:avLst>
          </a:prstGeom>
          <a:solidFill>
            <a:srgbClr val="111111"/>
          </a:solidFill>
          <a:ln/>
        </p:spPr>
      </p:sp>
      <p:sp>
        <p:nvSpPr>
          <p:cNvPr id="24" name="Text 18"/>
          <p:cNvSpPr txBox="1"/>
          <p:nvPr/>
        </p:nvSpPr>
        <p:spPr>
          <a:xfrm>
            <a:off x="7215988" y="1856232"/>
            <a:ext cx="640080" cy="310896"/>
          </a:xfrm>
          <a:prstGeom prst="rect">
            <a:avLst/>
          </a:prstGeom>
          <a:noFill/>
          <a:ln/>
        </p:spPr>
        <p:txBody>
          <a:bodyPr wrap="square" lIns="0" tIns="0" rIns="0" bIns="0" rtlCol="0" anchor="ctr"/>
          <a:lstStyle/>
          <a:p>
            <a:pPr algn="ctr" indent="0" marL="0">
              <a:buNone/>
            </a:pPr>
            <a:r>
              <a:rPr lang="en-US" sz="1200" b="1" dirty="0">
                <a:solidFill>
                  <a:srgbClr val="FFD400"/>
                </a:solidFill>
                <a:latin typeface="Noto Sans JP" pitchFamily="34" charset="0"/>
                <a:ea typeface="Noto Sans JP" pitchFamily="34" charset="-122"/>
                <a:cs typeface="Noto Sans JP" pitchFamily="34" charset="-120"/>
              </a:rPr>
              <a:t>03</a:t>
            </a:r>
            <a:endParaRPr lang="en-US" sz="1200" dirty="0"/>
          </a:p>
        </p:txBody>
      </p:sp>
      <p:sp>
        <p:nvSpPr>
          <p:cNvPr id="25" name="Text 19"/>
          <p:cNvSpPr txBox="1"/>
          <p:nvPr/>
        </p:nvSpPr>
        <p:spPr>
          <a:xfrm>
            <a:off x="6415888" y="3931920"/>
            <a:ext cx="2240280" cy="457200"/>
          </a:xfrm>
          <a:prstGeom prst="rect">
            <a:avLst/>
          </a:prstGeom>
          <a:noFill/>
          <a:ln/>
        </p:spPr>
        <p:txBody>
          <a:bodyPr wrap="square" lIns="0" tIns="0" rIns="0" bIns="0" rtlCol="0" anchor="t"/>
          <a:lstStyle/>
          <a:p>
            <a:pPr algn="ctr" indent="0" marL="0">
              <a:buNone/>
            </a:pPr>
            <a:r>
              <a:rPr lang="en-US" sz="2000" b="1" dirty="0">
                <a:solidFill>
                  <a:srgbClr val="111111"/>
                </a:solidFill>
                <a:latin typeface="Noto Sans JP" pitchFamily="34" charset="0"/>
                <a:ea typeface="Noto Sans JP" pitchFamily="34" charset="-122"/>
                <a:cs typeface="Noto Sans JP" pitchFamily="34" charset="-120"/>
              </a:rPr>
              <a:t>可視化</a:t>
            </a:r>
            <a:endParaRPr lang="en-US" sz="2000" dirty="0"/>
          </a:p>
        </p:txBody>
      </p:sp>
      <p:sp>
        <p:nvSpPr>
          <p:cNvPr id="26" name="Text 20"/>
          <p:cNvSpPr txBox="1"/>
          <p:nvPr/>
        </p:nvSpPr>
        <p:spPr>
          <a:xfrm>
            <a:off x="6461608" y="4480560"/>
            <a:ext cx="2148840" cy="1371600"/>
          </a:xfrm>
          <a:prstGeom prst="rect">
            <a:avLst/>
          </a:prstGeom>
          <a:noFill/>
          <a:ln/>
        </p:spPr>
        <p:txBody>
          <a:bodyPr wrap="square" lIns="0" tIns="0" rIns="0" bIns="0" rtlCol="0" anchor="t"/>
          <a:lstStyle/>
          <a:p>
            <a:pPr indent="0" marL="0">
              <a:lnSpc>
                <a:spcPct val="140000"/>
              </a:lnSpc>
              <a:buNone/>
            </a:pPr>
            <a:r>
              <a:rPr lang="en-US" sz="1300" dirty="0">
                <a:solidFill>
                  <a:srgbClr val="5B5B5B"/>
                </a:solidFill>
                <a:latin typeface="Noto Sans JP" pitchFamily="34" charset="0"/>
                <a:ea typeface="Noto Sans JP" pitchFamily="34" charset="-122"/>
                <a:cs typeface="Noto Sans JP" pitchFamily="34" charset="-120"/>
              </a:rPr>
              <a:t>来店客の傾向や動線、混雑をダッシュボードでグラフ・ヒートマップ表示します。</a:t>
            </a:r>
            <a:endParaRPr lang="en-US" sz="1300" dirty="0"/>
          </a:p>
        </p:txBody>
      </p:sp>
      <p:sp>
        <p:nvSpPr>
          <p:cNvPr id="27" name="Text 21"/>
          <p:cNvSpPr txBox="1"/>
          <p:nvPr/>
        </p:nvSpPr>
        <p:spPr>
          <a:xfrm>
            <a:off x="8857336" y="3566160"/>
            <a:ext cx="237744" cy="548640"/>
          </a:xfrm>
          <a:prstGeom prst="rect">
            <a:avLst/>
          </a:prstGeom>
          <a:noFill/>
          <a:ln/>
        </p:spPr>
        <p:txBody>
          <a:bodyPr wrap="square" lIns="0" tIns="0" rIns="0" bIns="0" rtlCol="0" anchor="t"/>
          <a:lstStyle/>
          <a:p>
            <a:pPr algn="ctr" indent="0" marL="0">
              <a:buNone/>
            </a:pPr>
            <a:r>
              <a:rPr lang="en-US" sz="3000" b="1" dirty="0">
                <a:solidFill>
                  <a:srgbClr val="111111"/>
                </a:solidFill>
                <a:latin typeface="Noto Sans JP" pitchFamily="34" charset="0"/>
                <a:ea typeface="Noto Sans JP" pitchFamily="34" charset="-122"/>
                <a:cs typeface="Noto Sans JP" pitchFamily="34" charset="-120"/>
              </a:rPr>
              <a:t>›</a:t>
            </a:r>
            <a:endParaRPr lang="en-US" sz="3000" dirty="0"/>
          </a:p>
        </p:txBody>
      </p:sp>
      <p:sp>
        <p:nvSpPr>
          <p:cNvPr id="28" name="Shape 22"/>
          <p:cNvSpPr/>
          <p:nvPr/>
        </p:nvSpPr>
        <p:spPr>
          <a:xfrm>
            <a:off x="9113368" y="2011680"/>
            <a:ext cx="2606040" cy="4023360"/>
          </a:xfrm>
          <a:prstGeom prst="roundRect">
            <a:avLst>
              <a:gd name="adj" fmla="val 4211"/>
            </a:avLst>
          </a:prstGeom>
          <a:solidFill>
            <a:srgbClr val="FFFFFF"/>
          </a:solidFill>
          <a:ln w="19050">
            <a:solidFill>
              <a:srgbClr val="111111"/>
            </a:solidFill>
            <a:prstDash val="solid"/>
          </a:ln>
        </p:spPr>
      </p:sp>
      <p:pic>
        <p:nvPicPr>
          <p:cNvPr id="29" name="Image 4" descr="/tmp/claude-0/-home-user-AIInfinity/c029ed01-a8ff-5307-a636-4c28fa3dbac4/scratchpad/lp/jpg/notify.jpg">    </p:cNvPr>
          <p:cNvPicPr>
            <a:picLocks noChangeAspect="1"/>
          </p:cNvPicPr>
          <p:nvPr/>
        </p:nvPicPr>
        <p:blipFill>
          <a:blip r:embed="rId5"/>
          <a:srcRect l="0" r="0" t="0" b="0"/>
          <a:stretch/>
        </p:blipFill>
        <p:spPr>
          <a:xfrm>
            <a:off x="9131656" y="2029968"/>
            <a:ext cx="2569464" cy="1714200"/>
          </a:xfrm>
          <a:prstGeom prst="rect">
            <a:avLst/>
          </a:prstGeom>
        </p:spPr>
      </p:pic>
      <p:sp>
        <p:nvSpPr>
          <p:cNvPr id="30" name="Shape 23"/>
          <p:cNvSpPr/>
          <p:nvPr/>
        </p:nvSpPr>
        <p:spPr>
          <a:xfrm>
            <a:off x="10096348" y="1856232"/>
            <a:ext cx="640080" cy="310896"/>
          </a:xfrm>
          <a:prstGeom prst="roundRect">
            <a:avLst>
              <a:gd name="adj" fmla="val 50000"/>
            </a:avLst>
          </a:prstGeom>
          <a:solidFill>
            <a:srgbClr val="111111"/>
          </a:solidFill>
          <a:ln/>
        </p:spPr>
      </p:sp>
      <p:sp>
        <p:nvSpPr>
          <p:cNvPr id="31" name="Text 24"/>
          <p:cNvSpPr txBox="1"/>
          <p:nvPr/>
        </p:nvSpPr>
        <p:spPr>
          <a:xfrm>
            <a:off x="10096348" y="1856232"/>
            <a:ext cx="640080" cy="310896"/>
          </a:xfrm>
          <a:prstGeom prst="rect">
            <a:avLst/>
          </a:prstGeom>
          <a:noFill/>
          <a:ln/>
        </p:spPr>
        <p:txBody>
          <a:bodyPr wrap="square" lIns="0" tIns="0" rIns="0" bIns="0" rtlCol="0" anchor="ctr"/>
          <a:lstStyle/>
          <a:p>
            <a:pPr algn="ctr" indent="0" marL="0">
              <a:buNone/>
            </a:pPr>
            <a:r>
              <a:rPr lang="en-US" sz="1200" b="1" dirty="0">
                <a:solidFill>
                  <a:srgbClr val="FFD400"/>
                </a:solidFill>
                <a:latin typeface="Noto Sans JP" pitchFamily="34" charset="0"/>
                <a:ea typeface="Noto Sans JP" pitchFamily="34" charset="-122"/>
                <a:cs typeface="Noto Sans JP" pitchFamily="34" charset="-120"/>
              </a:rPr>
              <a:t>04</a:t>
            </a:r>
            <a:endParaRPr lang="en-US" sz="1200" dirty="0"/>
          </a:p>
        </p:txBody>
      </p:sp>
      <p:sp>
        <p:nvSpPr>
          <p:cNvPr id="32" name="Text 25"/>
          <p:cNvSpPr txBox="1"/>
          <p:nvPr/>
        </p:nvSpPr>
        <p:spPr>
          <a:xfrm>
            <a:off x="9296248" y="3931920"/>
            <a:ext cx="2240280" cy="457200"/>
          </a:xfrm>
          <a:prstGeom prst="rect">
            <a:avLst/>
          </a:prstGeom>
          <a:noFill/>
          <a:ln/>
        </p:spPr>
        <p:txBody>
          <a:bodyPr wrap="square" lIns="0" tIns="0" rIns="0" bIns="0" rtlCol="0" anchor="t"/>
          <a:lstStyle/>
          <a:p>
            <a:pPr algn="ctr" indent="0" marL="0">
              <a:buNone/>
            </a:pPr>
            <a:r>
              <a:rPr lang="en-US" sz="2000" b="1" dirty="0">
                <a:solidFill>
                  <a:srgbClr val="111111"/>
                </a:solidFill>
                <a:latin typeface="Noto Sans JP" pitchFamily="34" charset="0"/>
                <a:ea typeface="Noto Sans JP" pitchFamily="34" charset="-122"/>
                <a:cs typeface="Noto Sans JP" pitchFamily="34" charset="-120"/>
              </a:rPr>
              <a:t>現場通知</a:t>
            </a:r>
            <a:endParaRPr lang="en-US" sz="2000" dirty="0"/>
          </a:p>
        </p:txBody>
      </p:sp>
      <p:sp>
        <p:nvSpPr>
          <p:cNvPr id="33" name="Text 26"/>
          <p:cNvSpPr txBox="1"/>
          <p:nvPr/>
        </p:nvSpPr>
        <p:spPr>
          <a:xfrm>
            <a:off x="9341968" y="4480560"/>
            <a:ext cx="2148840" cy="1371600"/>
          </a:xfrm>
          <a:prstGeom prst="rect">
            <a:avLst/>
          </a:prstGeom>
          <a:noFill/>
          <a:ln/>
        </p:spPr>
        <p:txBody>
          <a:bodyPr wrap="square" lIns="0" tIns="0" rIns="0" bIns="0" rtlCol="0" anchor="t"/>
          <a:lstStyle/>
          <a:p>
            <a:pPr indent="0" marL="0">
              <a:lnSpc>
                <a:spcPct val="140000"/>
              </a:lnSpc>
              <a:buNone/>
            </a:pPr>
            <a:r>
              <a:rPr lang="en-US" sz="1300" dirty="0">
                <a:solidFill>
                  <a:srgbClr val="5B5B5B"/>
                </a:solidFill>
                <a:latin typeface="Noto Sans JP" pitchFamily="34" charset="0"/>
                <a:ea typeface="Noto Sans JP" pitchFamily="34" charset="-122"/>
                <a:cs typeface="Noto Sans JP" pitchFamily="34" charset="-120"/>
              </a:rPr>
              <a:t>侵入・転倒などを検知すると、映像ではなく匿名テキストで現場へお知らせします。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D400"/>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4</a:t>
            </a:r>
            <a:endParaRPr lang="en-US" sz="1000" dirty="0"/>
          </a:p>
        </p:txBody>
      </p:sp>
      <p:sp>
        <p:nvSpPr>
          <p:cNvPr id="4" name="Shape 1"/>
          <p:cNvSpPr/>
          <p:nvPr/>
        </p:nvSpPr>
        <p:spPr>
          <a:xfrm>
            <a:off x="548640" y="411480"/>
            <a:ext cx="365760" cy="54864"/>
          </a:xfrm>
          <a:prstGeom prst="rect">
            <a:avLst/>
          </a:prstGeom>
          <a:solidFill>
            <a:srgbClr val="111111"/>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MERIT</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導入メリット</a:t>
            </a:r>
            <a:endParaRPr lang="en-US" sz="3000" dirty="0"/>
          </a:p>
        </p:txBody>
      </p:sp>
      <p:sp>
        <p:nvSpPr>
          <p:cNvPr id="7" name="Shape 4"/>
          <p:cNvSpPr/>
          <p:nvPr/>
        </p:nvSpPr>
        <p:spPr>
          <a:xfrm>
            <a:off x="472288" y="1874520"/>
            <a:ext cx="2103120" cy="4206240"/>
          </a:xfrm>
          <a:prstGeom prst="roundRect">
            <a:avLst>
              <a:gd name="adj" fmla="val 5217"/>
            </a:avLst>
          </a:prstGeom>
          <a:solidFill>
            <a:srgbClr val="FFFFFF"/>
          </a:solidFill>
          <a:ln/>
        </p:spPr>
      </p:sp>
      <p:pic>
        <p:nvPicPr>
          <p:cNvPr id="8" name="Image 1" descr="/tmp/claude-0/-home-user-AIInfinity/c029ed01-a8ff-5307-a636-4c28fa3dbac4/scratchpad/lp/jpg/m-camera-keep-v2.jpg">    </p:cNvPr>
          <p:cNvPicPr>
            <a:picLocks noChangeAspect="1"/>
          </p:cNvPicPr>
          <p:nvPr/>
        </p:nvPicPr>
        <p:blipFill>
          <a:blip r:embed="rId2"/>
          <a:stretch>
            <a:fillRect/>
          </a:stretch>
        </p:blipFill>
        <p:spPr>
          <a:xfrm>
            <a:off x="746608" y="2103120"/>
            <a:ext cx="1554480" cy="1554480"/>
          </a:xfrm>
          <a:prstGeom prst="rect">
            <a:avLst/>
          </a:prstGeom>
        </p:spPr>
      </p:pic>
      <p:sp>
        <p:nvSpPr>
          <p:cNvPr id="9" name="Text 5"/>
          <p:cNvSpPr txBox="1"/>
          <p:nvPr/>
        </p:nvSpPr>
        <p:spPr>
          <a:xfrm>
            <a:off x="527152" y="3840480"/>
            <a:ext cx="1993392" cy="685800"/>
          </a:xfrm>
          <a:prstGeom prst="rect">
            <a:avLst/>
          </a:prstGeom>
          <a:noFill/>
          <a:ln/>
        </p:spPr>
        <p:txBody>
          <a:bodyPr wrap="square" lIns="0" tIns="0" rIns="0" bIns="0" rtlCol="0" anchor="ctr"/>
          <a:lstStyle/>
          <a:p>
            <a:pPr algn="ctr" indent="0" marL="0">
              <a:buNone/>
            </a:pPr>
            <a:r>
              <a:rPr lang="en-US" sz="1350" b="1" dirty="0">
                <a:solidFill>
                  <a:srgbClr val="111111"/>
                </a:solidFill>
                <a:latin typeface="Noto Sans JP" pitchFamily="34" charset="0"/>
                <a:ea typeface="Noto Sans JP" pitchFamily="34" charset="-122"/>
                <a:cs typeface="Noto Sans JP" pitchFamily="34" charset="-120"/>
              </a:rPr>
              <a:t>カメラの買い替え不要</a:t>
            </a:r>
            <a:endParaRPr lang="en-US" sz="1350" dirty="0"/>
          </a:p>
        </p:txBody>
      </p:sp>
      <p:sp>
        <p:nvSpPr>
          <p:cNvPr id="10" name="Text 6"/>
          <p:cNvSpPr txBox="1"/>
          <p:nvPr/>
        </p:nvSpPr>
        <p:spPr>
          <a:xfrm>
            <a:off x="655168" y="4617720"/>
            <a:ext cx="1737360" cy="1280160"/>
          </a:xfrm>
          <a:prstGeom prst="rect">
            <a:avLst/>
          </a:prstGeom>
          <a:noFill/>
          <a:ln/>
        </p:spPr>
        <p:txBody>
          <a:bodyPr wrap="square" lIns="0" tIns="0" rIns="0" bIns="0" rtlCol="0" anchor="t"/>
          <a:lstStyle/>
          <a:p>
            <a:pPr indent="0" marL="0">
              <a:lnSpc>
                <a:spcPct val="140000"/>
              </a:lnSpc>
              <a:buNone/>
            </a:pPr>
            <a:r>
              <a:rPr lang="en-US" sz="1200" dirty="0">
                <a:solidFill>
                  <a:srgbClr val="5B5B5B"/>
                </a:solidFill>
                <a:latin typeface="Noto Sans JP" pitchFamily="34" charset="0"/>
                <a:ea typeface="Noto Sans JP" pitchFamily="34" charset="-122"/>
                <a:cs typeface="Noto Sans JP" pitchFamily="34" charset="-120"/>
              </a:rPr>
              <a:t>既存の防犯カメラをそのまま活用。追加するのは本体だけです。</a:t>
            </a:r>
            <a:endParaRPr lang="en-US" sz="1200" dirty="0"/>
          </a:p>
        </p:txBody>
      </p:sp>
      <p:sp>
        <p:nvSpPr>
          <p:cNvPr id="11" name="Shape 7"/>
          <p:cNvSpPr/>
          <p:nvPr/>
        </p:nvSpPr>
        <p:spPr>
          <a:xfrm>
            <a:off x="2758288" y="1874520"/>
            <a:ext cx="2103120" cy="4206240"/>
          </a:xfrm>
          <a:prstGeom prst="roundRect">
            <a:avLst>
              <a:gd name="adj" fmla="val 5217"/>
            </a:avLst>
          </a:prstGeom>
          <a:solidFill>
            <a:srgbClr val="FFFFFF"/>
          </a:solidFill>
          <a:ln/>
        </p:spPr>
      </p:sp>
      <p:pic>
        <p:nvPicPr>
          <p:cNvPr id="12" name="Image 2" descr="/tmp/claude-0/-home-user-AIInfinity/c029ed01-a8ff-5307-a636-4c28fa3dbac4/scratchpad/lp/jpg/m-local-v2.jpg">    </p:cNvPr>
          <p:cNvPicPr>
            <a:picLocks noChangeAspect="1"/>
          </p:cNvPicPr>
          <p:nvPr/>
        </p:nvPicPr>
        <p:blipFill>
          <a:blip r:embed="rId3"/>
          <a:stretch>
            <a:fillRect/>
          </a:stretch>
        </p:blipFill>
        <p:spPr>
          <a:xfrm>
            <a:off x="3032608" y="2103120"/>
            <a:ext cx="1554480" cy="1554480"/>
          </a:xfrm>
          <a:prstGeom prst="rect">
            <a:avLst/>
          </a:prstGeom>
        </p:spPr>
      </p:pic>
      <p:sp>
        <p:nvSpPr>
          <p:cNvPr id="13" name="Text 8"/>
          <p:cNvSpPr txBox="1"/>
          <p:nvPr/>
        </p:nvSpPr>
        <p:spPr>
          <a:xfrm>
            <a:off x="2813152" y="3840480"/>
            <a:ext cx="1993392" cy="685800"/>
          </a:xfrm>
          <a:prstGeom prst="rect">
            <a:avLst/>
          </a:prstGeom>
          <a:noFill/>
          <a:ln/>
        </p:spPr>
        <p:txBody>
          <a:bodyPr wrap="square" lIns="0" tIns="0" rIns="0" bIns="0" rtlCol="0" anchor="ctr"/>
          <a:lstStyle/>
          <a:p>
            <a:pPr algn="ctr" indent="0" marL="0">
              <a:buNone/>
            </a:pPr>
            <a:r>
              <a:rPr lang="en-US" sz="1350" b="1" dirty="0">
                <a:solidFill>
                  <a:srgbClr val="111111"/>
                </a:solidFill>
                <a:latin typeface="Noto Sans JP" pitchFamily="34" charset="0"/>
                <a:ea typeface="Noto Sans JP" pitchFamily="34" charset="-122"/>
                <a:cs typeface="Noto Sans JP" pitchFamily="34" charset="-120"/>
              </a:rPr>
              <a:t>映像は施設内で処理</a:t>
            </a:r>
            <a:endParaRPr lang="en-US" sz="1350" dirty="0"/>
          </a:p>
        </p:txBody>
      </p:sp>
      <p:sp>
        <p:nvSpPr>
          <p:cNvPr id="14" name="Text 9"/>
          <p:cNvSpPr txBox="1"/>
          <p:nvPr/>
        </p:nvSpPr>
        <p:spPr>
          <a:xfrm>
            <a:off x="2941168" y="4617720"/>
            <a:ext cx="1737360" cy="1280160"/>
          </a:xfrm>
          <a:prstGeom prst="rect">
            <a:avLst/>
          </a:prstGeom>
          <a:noFill/>
          <a:ln/>
        </p:spPr>
        <p:txBody>
          <a:bodyPr wrap="square" lIns="0" tIns="0" rIns="0" bIns="0" rtlCol="0" anchor="t"/>
          <a:lstStyle/>
          <a:p>
            <a:pPr indent="0" marL="0">
              <a:lnSpc>
                <a:spcPct val="140000"/>
              </a:lnSpc>
              <a:buNone/>
            </a:pPr>
            <a:r>
              <a:rPr lang="en-US" sz="1200" dirty="0">
                <a:solidFill>
                  <a:srgbClr val="5B5B5B"/>
                </a:solidFill>
                <a:latin typeface="Noto Sans JP" pitchFamily="34" charset="0"/>
                <a:ea typeface="Noto Sans JP" pitchFamily="34" charset="-122"/>
                <a:cs typeface="Noto Sans JP" pitchFamily="34" charset="-120"/>
              </a:rPr>
              <a:t>映像を外部に送らず、施設内の本体で解析します。</a:t>
            </a:r>
            <a:endParaRPr lang="en-US" sz="1200" dirty="0"/>
          </a:p>
        </p:txBody>
      </p:sp>
      <p:sp>
        <p:nvSpPr>
          <p:cNvPr id="15" name="Shape 10"/>
          <p:cNvSpPr/>
          <p:nvPr/>
        </p:nvSpPr>
        <p:spPr>
          <a:xfrm>
            <a:off x="5044288" y="1874520"/>
            <a:ext cx="2103120" cy="4206240"/>
          </a:xfrm>
          <a:prstGeom prst="roundRect">
            <a:avLst>
              <a:gd name="adj" fmla="val 5217"/>
            </a:avLst>
          </a:prstGeom>
          <a:solidFill>
            <a:srgbClr val="FFFFFF"/>
          </a:solidFill>
          <a:ln/>
        </p:spPr>
      </p:sp>
      <p:pic>
        <p:nvPicPr>
          <p:cNvPr id="16" name="Image 3" descr="/tmp/claude-0/-home-user-AIInfinity/c029ed01-a8ff-5307-a636-4c28fa3dbac4/scratchpad/lp/jpg/m-step-v2.jpg">    </p:cNvPr>
          <p:cNvPicPr>
            <a:picLocks noChangeAspect="1"/>
          </p:cNvPicPr>
          <p:nvPr/>
        </p:nvPicPr>
        <p:blipFill>
          <a:blip r:embed="rId4"/>
          <a:stretch>
            <a:fillRect/>
          </a:stretch>
        </p:blipFill>
        <p:spPr>
          <a:xfrm>
            <a:off x="5318608" y="2103120"/>
            <a:ext cx="1554480" cy="1554480"/>
          </a:xfrm>
          <a:prstGeom prst="rect">
            <a:avLst/>
          </a:prstGeom>
        </p:spPr>
      </p:pic>
      <p:sp>
        <p:nvSpPr>
          <p:cNvPr id="17" name="Text 11"/>
          <p:cNvSpPr txBox="1"/>
          <p:nvPr/>
        </p:nvSpPr>
        <p:spPr>
          <a:xfrm>
            <a:off x="5099152" y="3840480"/>
            <a:ext cx="1993392" cy="685800"/>
          </a:xfrm>
          <a:prstGeom prst="rect">
            <a:avLst/>
          </a:prstGeom>
          <a:noFill/>
          <a:ln/>
        </p:spPr>
        <p:txBody>
          <a:bodyPr wrap="square" lIns="0" tIns="0" rIns="0" bIns="0" rtlCol="0" anchor="ctr"/>
          <a:lstStyle/>
          <a:p>
            <a:pPr algn="ctr" indent="0" marL="0">
              <a:buNone/>
            </a:pPr>
            <a:r>
              <a:rPr lang="en-US" sz="1350" b="1" dirty="0">
                <a:solidFill>
                  <a:srgbClr val="111111"/>
                </a:solidFill>
                <a:latin typeface="Noto Sans JP" pitchFamily="34" charset="0"/>
                <a:ea typeface="Noto Sans JP" pitchFamily="34" charset="-122"/>
                <a:cs typeface="Noto Sans JP" pitchFamily="34" charset="-120"/>
              </a:rPr>
              <a:t>小さく始めて広げられる</a:t>
            </a:r>
            <a:endParaRPr lang="en-US" sz="1350" dirty="0"/>
          </a:p>
        </p:txBody>
      </p:sp>
      <p:sp>
        <p:nvSpPr>
          <p:cNvPr id="18" name="Text 12"/>
          <p:cNvSpPr txBox="1"/>
          <p:nvPr/>
        </p:nvSpPr>
        <p:spPr>
          <a:xfrm>
            <a:off x="5227168" y="4617720"/>
            <a:ext cx="1737360" cy="1280160"/>
          </a:xfrm>
          <a:prstGeom prst="rect">
            <a:avLst/>
          </a:prstGeom>
          <a:noFill/>
          <a:ln/>
        </p:spPr>
        <p:txBody>
          <a:bodyPr wrap="square" lIns="0" tIns="0" rIns="0" bIns="0" rtlCol="0" anchor="t"/>
          <a:lstStyle/>
          <a:p>
            <a:pPr indent="0" marL="0">
              <a:lnSpc>
                <a:spcPct val="140000"/>
              </a:lnSpc>
              <a:buNone/>
            </a:pPr>
            <a:r>
              <a:rPr lang="en-US" sz="1200" dirty="0">
                <a:solidFill>
                  <a:srgbClr val="5B5B5B"/>
                </a:solidFill>
                <a:latin typeface="Noto Sans JP" pitchFamily="34" charset="0"/>
                <a:ea typeface="Noto Sans JP" pitchFamily="34" charset="-122"/>
                <a:cs typeface="Noto Sans JP" pitchFamily="34" charset="-120"/>
              </a:rPr>
              <a:t>必要な機能・台数から始め、追加アプリで段階的に拡張できます。</a:t>
            </a:r>
            <a:endParaRPr lang="en-US" sz="1200" dirty="0"/>
          </a:p>
        </p:txBody>
      </p:sp>
      <p:sp>
        <p:nvSpPr>
          <p:cNvPr id="19" name="Shape 13"/>
          <p:cNvSpPr/>
          <p:nvPr/>
        </p:nvSpPr>
        <p:spPr>
          <a:xfrm>
            <a:off x="7330288" y="1874520"/>
            <a:ext cx="2103120" cy="4206240"/>
          </a:xfrm>
          <a:prstGeom prst="roundRect">
            <a:avLst>
              <a:gd name="adj" fmla="val 5217"/>
            </a:avLst>
          </a:prstGeom>
          <a:solidFill>
            <a:srgbClr val="FFFFFF"/>
          </a:solidFill>
          <a:ln/>
        </p:spPr>
      </p:sp>
      <p:pic>
        <p:nvPicPr>
          <p:cNvPr id="20" name="Image 4" descr="/tmp/claude-0/-home-user-AIInfinity/c029ed01-a8ff-5307-a636-4c28fa3dbac4/scratchpad/lp/jpg/m-sales-v2.jpg">    </p:cNvPr>
          <p:cNvPicPr>
            <a:picLocks noChangeAspect="1"/>
          </p:cNvPicPr>
          <p:nvPr/>
        </p:nvPicPr>
        <p:blipFill>
          <a:blip r:embed="rId5"/>
          <a:stretch>
            <a:fillRect/>
          </a:stretch>
        </p:blipFill>
        <p:spPr>
          <a:xfrm>
            <a:off x="7604608" y="2103120"/>
            <a:ext cx="1554480" cy="1554480"/>
          </a:xfrm>
          <a:prstGeom prst="rect">
            <a:avLst/>
          </a:prstGeom>
        </p:spPr>
      </p:pic>
      <p:sp>
        <p:nvSpPr>
          <p:cNvPr id="21" name="Text 14"/>
          <p:cNvSpPr txBox="1"/>
          <p:nvPr/>
        </p:nvSpPr>
        <p:spPr>
          <a:xfrm>
            <a:off x="7385152" y="3840480"/>
            <a:ext cx="1993392" cy="685800"/>
          </a:xfrm>
          <a:prstGeom prst="rect">
            <a:avLst/>
          </a:prstGeom>
          <a:noFill/>
          <a:ln/>
        </p:spPr>
        <p:txBody>
          <a:bodyPr wrap="square" lIns="0" tIns="0" rIns="0" bIns="0" rtlCol="0" anchor="ctr"/>
          <a:lstStyle/>
          <a:p>
            <a:pPr algn="ctr" indent="0" marL="0">
              <a:buNone/>
            </a:pPr>
            <a:r>
              <a:rPr lang="en-US" sz="1350" b="1" dirty="0">
                <a:solidFill>
                  <a:srgbClr val="111111"/>
                </a:solidFill>
                <a:latin typeface="Noto Sans JP" pitchFamily="34" charset="0"/>
                <a:ea typeface="Noto Sans JP" pitchFamily="34" charset="-122"/>
                <a:cs typeface="Noto Sans JP" pitchFamily="34" charset="-120"/>
              </a:rPr>
              <a:t>データで売上改善</a:t>
            </a:r>
            <a:endParaRPr lang="en-US" sz="1350" dirty="0"/>
          </a:p>
        </p:txBody>
      </p:sp>
      <p:sp>
        <p:nvSpPr>
          <p:cNvPr id="22" name="Text 15"/>
          <p:cNvSpPr txBox="1"/>
          <p:nvPr/>
        </p:nvSpPr>
        <p:spPr>
          <a:xfrm>
            <a:off x="7513168" y="4617720"/>
            <a:ext cx="1737360" cy="1280160"/>
          </a:xfrm>
          <a:prstGeom prst="rect">
            <a:avLst/>
          </a:prstGeom>
          <a:noFill/>
          <a:ln/>
        </p:spPr>
        <p:txBody>
          <a:bodyPr wrap="square" lIns="0" tIns="0" rIns="0" bIns="0" rtlCol="0" anchor="t"/>
          <a:lstStyle/>
          <a:p>
            <a:pPr indent="0" marL="0">
              <a:lnSpc>
                <a:spcPct val="140000"/>
              </a:lnSpc>
              <a:buNone/>
            </a:pPr>
            <a:r>
              <a:rPr lang="en-US" sz="1200" dirty="0">
                <a:solidFill>
                  <a:srgbClr val="5B5B5B"/>
                </a:solidFill>
                <a:latin typeface="Noto Sans JP" pitchFamily="34" charset="0"/>
                <a:ea typeface="Noto Sans JP" pitchFamily="34" charset="-122"/>
                <a:cs typeface="Noto Sans JP" pitchFamily="34" charset="-120"/>
              </a:rPr>
              <a:t>客層・動線・滞在を数字で把握し、売場や人員配置の改善に活かせます。</a:t>
            </a:r>
            <a:endParaRPr lang="en-US" sz="1200" dirty="0"/>
          </a:p>
        </p:txBody>
      </p:sp>
      <p:sp>
        <p:nvSpPr>
          <p:cNvPr id="23" name="Shape 16"/>
          <p:cNvSpPr/>
          <p:nvPr/>
        </p:nvSpPr>
        <p:spPr>
          <a:xfrm>
            <a:off x="9616288" y="1874520"/>
            <a:ext cx="2103120" cy="4206240"/>
          </a:xfrm>
          <a:prstGeom prst="roundRect">
            <a:avLst>
              <a:gd name="adj" fmla="val 5217"/>
            </a:avLst>
          </a:prstGeom>
          <a:solidFill>
            <a:srgbClr val="FFFFFF"/>
          </a:solidFill>
          <a:ln/>
        </p:spPr>
      </p:sp>
      <p:pic>
        <p:nvPicPr>
          <p:cNvPr id="24" name="Image 5" descr="/tmp/claude-0/-home-user-AIInfinity/c029ed01-a8ff-5307-a636-4c28fa3dbac4/scratchpad/lp/jpg/m-labor-v2.jpg">    </p:cNvPr>
          <p:cNvPicPr>
            <a:picLocks noChangeAspect="1"/>
          </p:cNvPicPr>
          <p:nvPr/>
        </p:nvPicPr>
        <p:blipFill>
          <a:blip r:embed="rId6"/>
          <a:stretch>
            <a:fillRect/>
          </a:stretch>
        </p:blipFill>
        <p:spPr>
          <a:xfrm>
            <a:off x="9890608" y="2103120"/>
            <a:ext cx="1554480" cy="1554480"/>
          </a:xfrm>
          <a:prstGeom prst="rect">
            <a:avLst/>
          </a:prstGeom>
        </p:spPr>
      </p:pic>
      <p:sp>
        <p:nvSpPr>
          <p:cNvPr id="25" name="Text 17"/>
          <p:cNvSpPr txBox="1"/>
          <p:nvPr/>
        </p:nvSpPr>
        <p:spPr>
          <a:xfrm>
            <a:off x="9671152" y="3840480"/>
            <a:ext cx="1993392" cy="685800"/>
          </a:xfrm>
          <a:prstGeom prst="rect">
            <a:avLst/>
          </a:prstGeom>
          <a:noFill/>
          <a:ln/>
        </p:spPr>
        <p:txBody>
          <a:bodyPr wrap="square" lIns="0" tIns="0" rIns="0" bIns="0" rtlCol="0" anchor="ctr"/>
          <a:lstStyle/>
          <a:p>
            <a:pPr algn="ctr" indent="0" marL="0">
              <a:buNone/>
            </a:pPr>
            <a:r>
              <a:rPr lang="en-US" sz="1350" b="1" dirty="0">
                <a:solidFill>
                  <a:srgbClr val="111111"/>
                </a:solidFill>
                <a:latin typeface="Noto Sans JP" pitchFamily="34" charset="0"/>
                <a:ea typeface="Noto Sans JP" pitchFamily="34" charset="-122"/>
                <a:cs typeface="Noto Sans JP" pitchFamily="34" charset="-120"/>
              </a:rPr>
              <a:t>見守り・省人化</a:t>
            </a:r>
            <a:endParaRPr lang="en-US" sz="1350" dirty="0"/>
          </a:p>
        </p:txBody>
      </p:sp>
      <p:sp>
        <p:nvSpPr>
          <p:cNvPr id="26" name="Text 18"/>
          <p:cNvSpPr txBox="1"/>
          <p:nvPr/>
        </p:nvSpPr>
        <p:spPr>
          <a:xfrm>
            <a:off x="9799168" y="4617720"/>
            <a:ext cx="1737360" cy="1280160"/>
          </a:xfrm>
          <a:prstGeom prst="rect">
            <a:avLst/>
          </a:prstGeom>
          <a:noFill/>
          <a:ln/>
        </p:spPr>
        <p:txBody>
          <a:bodyPr wrap="square" lIns="0" tIns="0" rIns="0" bIns="0" rtlCol="0" anchor="t"/>
          <a:lstStyle/>
          <a:p>
            <a:pPr indent="0" marL="0">
              <a:lnSpc>
                <a:spcPct val="140000"/>
              </a:lnSpc>
              <a:buNone/>
            </a:pPr>
            <a:r>
              <a:rPr lang="en-US" sz="1200" dirty="0">
                <a:solidFill>
                  <a:srgbClr val="5B5B5B"/>
                </a:solidFill>
                <a:latin typeface="Noto Sans JP" pitchFamily="34" charset="0"/>
                <a:ea typeface="Noto Sans JP" pitchFamily="34" charset="-122"/>
                <a:cs typeface="Noto Sans JP" pitchFamily="34" charset="-120"/>
              </a:rPr>
              <a:t>異常検知と通知で、少ない人数でも現場の安全を保ちやすくなります。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5</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DEVICE</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既存カメラに、本体を加えるだけ</a:t>
            </a:r>
            <a:endParaRPr lang="en-US" sz="3000" dirty="0"/>
          </a:p>
        </p:txBody>
      </p:sp>
      <p:pic>
        <p:nvPicPr>
          <p:cNvPr id="7" name="Image 1" descr="/tmp/claude-0/-home-user-AIInfinity/c029ed01-a8ff-5307-a636-4c28fa3dbac4/scratchpad/lp/jpg/hachinos-product-v2.jpg">    </p:cNvPr>
          <p:cNvPicPr>
            <a:picLocks noChangeAspect="1"/>
          </p:cNvPicPr>
          <p:nvPr/>
        </p:nvPicPr>
        <p:blipFill>
          <a:blip r:embed="rId2"/>
          <a:stretch>
            <a:fillRect/>
          </a:stretch>
        </p:blipFill>
        <p:spPr>
          <a:xfrm>
            <a:off x="548640" y="1783080"/>
            <a:ext cx="5303520" cy="4242816"/>
          </a:xfrm>
          <a:prstGeom prst="rect">
            <a:avLst/>
          </a:prstGeom>
        </p:spPr>
      </p:pic>
      <p:sp>
        <p:nvSpPr>
          <p:cNvPr id="8" name="Text 4"/>
          <p:cNvSpPr txBox="1"/>
          <p:nvPr/>
        </p:nvSpPr>
        <p:spPr>
          <a:xfrm>
            <a:off x="548640" y="6080760"/>
            <a:ext cx="5303520" cy="274320"/>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HACHINOS本体　※イメージ</a:t>
            </a:r>
            <a:endParaRPr lang="en-US" sz="1000" dirty="0"/>
          </a:p>
        </p:txBody>
      </p:sp>
      <p:sp>
        <p:nvSpPr>
          <p:cNvPr id="9" name="Text 5"/>
          <p:cNvSpPr txBox="1"/>
          <p:nvPr/>
        </p:nvSpPr>
        <p:spPr>
          <a:xfrm>
            <a:off x="6400800" y="2011680"/>
            <a:ext cx="5303520" cy="118872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Noto Sans JP" pitchFamily="34" charset="0"/>
                <a:ea typeface="Noto Sans JP" pitchFamily="34" charset="-122"/>
                <a:cs typeface="Noto Sans JP" pitchFamily="34" charset="-120"/>
              </a:rPr>
              <a:t>カメラ工事を最小限に。</a:t>
            </a:r>
            <a:endParaRPr lang="en-US" sz="2600" dirty="0"/>
          </a:p>
          <a:p>
            <a:pPr indent="0" marL="0">
              <a:lnSpc>
                <a:spcPct val="125000"/>
              </a:lnSpc>
              <a:buNone/>
            </a:pPr>
            <a:r>
              <a:rPr lang="en-US" sz="2600" b="1" dirty="0">
                <a:solidFill>
                  <a:srgbClr val="111111"/>
                </a:solidFill>
                <a:latin typeface="Noto Sans JP" pitchFamily="34" charset="0"/>
                <a:ea typeface="Noto Sans JP" pitchFamily="34" charset="-122"/>
                <a:cs typeface="Noto Sans JP" pitchFamily="34" charset="-120"/>
              </a:rPr>
              <a:t>映像解析はこの1台で。</a:t>
            </a:r>
            <a:endParaRPr lang="en-US" sz="2600" dirty="0"/>
          </a:p>
        </p:txBody>
      </p:sp>
      <p:sp>
        <p:nvSpPr>
          <p:cNvPr id="10" name="Text 6"/>
          <p:cNvSpPr txBox="1"/>
          <p:nvPr/>
        </p:nvSpPr>
        <p:spPr>
          <a:xfrm>
            <a:off x="6400800" y="3383280"/>
            <a:ext cx="5120640" cy="1097280"/>
          </a:xfrm>
          <a:prstGeom prst="rect">
            <a:avLst/>
          </a:prstGeom>
          <a:noFill/>
          <a:ln/>
        </p:spPr>
        <p:txBody>
          <a:bodyPr wrap="square" lIns="0" tIns="0" rIns="0" bIns="0" rtlCol="0" anchor="t"/>
          <a:lstStyle/>
          <a:p>
            <a:pPr indent="0" marL="0">
              <a:lnSpc>
                <a:spcPct val="150000"/>
              </a:lnSpc>
              <a:buNone/>
            </a:pPr>
            <a:r>
              <a:rPr lang="en-US" sz="1400" dirty="0">
                <a:solidFill>
                  <a:srgbClr val="222222"/>
                </a:solidFill>
                <a:latin typeface="Noto Sans JP" pitchFamily="34" charset="0"/>
                <a:ea typeface="Noto Sans JP" pitchFamily="34" charset="-122"/>
                <a:cs typeface="Noto Sans JP" pitchFamily="34" charset="-120"/>
              </a:rPr>
              <a:t>HACHINOS本体を施設内のネットワークに設置し、既存の防犯カメラ映像を取り込むだけでAI解析を開始できます。カメラの入れ替えや大規模な配線工事を前提としません。</a:t>
            </a:r>
            <a:endParaRPr lang="en-US" sz="1400" dirty="0"/>
          </a:p>
        </p:txBody>
      </p:sp>
      <p:sp>
        <p:nvSpPr>
          <p:cNvPr id="11" name="Shape 7"/>
          <p:cNvSpPr/>
          <p:nvPr/>
        </p:nvSpPr>
        <p:spPr>
          <a:xfrm>
            <a:off x="6400800" y="4700016"/>
            <a:ext cx="256032" cy="256032"/>
          </a:xfrm>
          <a:prstGeom prst="ellipse">
            <a:avLst/>
          </a:prstGeom>
          <a:solidFill>
            <a:srgbClr val="FFD400"/>
          </a:solidFill>
          <a:ln/>
        </p:spPr>
      </p:sp>
      <p:sp>
        <p:nvSpPr>
          <p:cNvPr id="12" name="Text 8"/>
          <p:cNvSpPr txBox="1"/>
          <p:nvPr/>
        </p:nvSpPr>
        <p:spPr>
          <a:xfrm>
            <a:off x="6400800" y="4700016"/>
            <a:ext cx="256032" cy="256032"/>
          </a:xfrm>
          <a:prstGeom prst="rect">
            <a:avLst/>
          </a:prstGeom>
          <a:noFill/>
          <a:ln/>
        </p:spPr>
        <p:txBody>
          <a:bodyPr wrap="square" lIns="0" tIns="0" rIns="0" bIns="0" rtlCol="0" anchor="ctr"/>
          <a:lstStyle/>
          <a:p>
            <a:pPr algn="ctr" indent="0" marL="0">
              <a:buNone/>
            </a:pPr>
            <a:r>
              <a:rPr lang="en-US" sz="1100" b="1" dirty="0">
                <a:solidFill>
                  <a:srgbClr val="111111"/>
                </a:solidFill>
                <a:latin typeface="Noto Sans JP" pitchFamily="34" charset="0"/>
                <a:ea typeface="Noto Sans JP" pitchFamily="34" charset="-122"/>
                <a:cs typeface="Noto Sans JP" pitchFamily="34" charset="-120"/>
              </a:rPr>
              <a:t>✓</a:t>
            </a:r>
            <a:endParaRPr lang="en-US" sz="1100" dirty="0"/>
          </a:p>
        </p:txBody>
      </p:sp>
      <p:sp>
        <p:nvSpPr>
          <p:cNvPr id="13" name="Text 9"/>
          <p:cNvSpPr txBox="1"/>
          <p:nvPr/>
        </p:nvSpPr>
        <p:spPr>
          <a:xfrm>
            <a:off x="6812280" y="4663440"/>
            <a:ext cx="5029200" cy="329184"/>
          </a:xfrm>
          <a:prstGeom prst="rect">
            <a:avLst/>
          </a:prstGeom>
          <a:noFill/>
          <a:ln/>
        </p:spPr>
        <p:txBody>
          <a:bodyPr wrap="square" lIns="0" tIns="0" rIns="0" bIns="0" rtlCol="0" anchor="ctr"/>
          <a:lstStyle/>
          <a:p>
            <a:pPr indent="0" marL="0">
              <a:buNone/>
            </a:pPr>
            <a:r>
              <a:rPr lang="en-US" sz="1300" b="1" dirty="0">
                <a:solidFill>
                  <a:srgbClr val="111111"/>
                </a:solidFill>
                <a:latin typeface="Noto Sans JP" pitchFamily="34" charset="0"/>
                <a:ea typeface="Noto Sans JP" pitchFamily="34" charset="-122"/>
                <a:cs typeface="Noto Sans JP" pitchFamily="34" charset="-120"/>
              </a:rPr>
              <a:t>既存カメラをそのまま利用（対応可否は事前ヒアリングで確認）</a:t>
            </a:r>
            <a:endParaRPr lang="en-US" sz="1300" dirty="0"/>
          </a:p>
        </p:txBody>
      </p:sp>
      <p:sp>
        <p:nvSpPr>
          <p:cNvPr id="14" name="Shape 10"/>
          <p:cNvSpPr/>
          <p:nvPr/>
        </p:nvSpPr>
        <p:spPr>
          <a:xfrm>
            <a:off x="6400800" y="5157216"/>
            <a:ext cx="256032" cy="256032"/>
          </a:xfrm>
          <a:prstGeom prst="ellipse">
            <a:avLst/>
          </a:prstGeom>
          <a:solidFill>
            <a:srgbClr val="FFD400"/>
          </a:solidFill>
          <a:ln/>
        </p:spPr>
      </p:sp>
      <p:sp>
        <p:nvSpPr>
          <p:cNvPr id="15" name="Text 11"/>
          <p:cNvSpPr txBox="1"/>
          <p:nvPr/>
        </p:nvSpPr>
        <p:spPr>
          <a:xfrm>
            <a:off x="6400800" y="5157216"/>
            <a:ext cx="256032" cy="256032"/>
          </a:xfrm>
          <a:prstGeom prst="rect">
            <a:avLst/>
          </a:prstGeom>
          <a:noFill/>
          <a:ln/>
        </p:spPr>
        <p:txBody>
          <a:bodyPr wrap="square" lIns="0" tIns="0" rIns="0" bIns="0" rtlCol="0" anchor="ctr"/>
          <a:lstStyle/>
          <a:p>
            <a:pPr algn="ctr" indent="0" marL="0">
              <a:buNone/>
            </a:pPr>
            <a:r>
              <a:rPr lang="en-US" sz="1100" b="1" dirty="0">
                <a:solidFill>
                  <a:srgbClr val="111111"/>
                </a:solidFill>
                <a:latin typeface="Noto Sans JP" pitchFamily="34" charset="0"/>
                <a:ea typeface="Noto Sans JP" pitchFamily="34" charset="-122"/>
                <a:cs typeface="Noto Sans JP" pitchFamily="34" charset="-120"/>
              </a:rPr>
              <a:t>✓</a:t>
            </a:r>
            <a:endParaRPr lang="en-US" sz="1100" dirty="0"/>
          </a:p>
        </p:txBody>
      </p:sp>
      <p:sp>
        <p:nvSpPr>
          <p:cNvPr id="16" name="Text 12"/>
          <p:cNvSpPr txBox="1"/>
          <p:nvPr/>
        </p:nvSpPr>
        <p:spPr>
          <a:xfrm>
            <a:off x="6812280" y="5120640"/>
            <a:ext cx="5029200" cy="329184"/>
          </a:xfrm>
          <a:prstGeom prst="rect">
            <a:avLst/>
          </a:prstGeom>
          <a:noFill/>
          <a:ln/>
        </p:spPr>
        <p:txBody>
          <a:bodyPr wrap="square" lIns="0" tIns="0" rIns="0" bIns="0" rtlCol="0" anchor="ctr"/>
          <a:lstStyle/>
          <a:p>
            <a:pPr indent="0" marL="0">
              <a:buNone/>
            </a:pPr>
            <a:r>
              <a:rPr lang="en-US" sz="1300" b="1" dirty="0">
                <a:solidFill>
                  <a:srgbClr val="111111"/>
                </a:solidFill>
                <a:latin typeface="Noto Sans JP" pitchFamily="34" charset="0"/>
                <a:ea typeface="Noto Sans JP" pitchFamily="34" charset="-122"/>
                <a:cs typeface="Noto Sans JP" pitchFamily="34" charset="-120"/>
              </a:rPr>
              <a:t>映像は施設内の本体で処理</a:t>
            </a:r>
            <a:endParaRPr lang="en-US" sz="1300" dirty="0"/>
          </a:p>
        </p:txBody>
      </p:sp>
      <p:sp>
        <p:nvSpPr>
          <p:cNvPr id="17" name="Shape 13"/>
          <p:cNvSpPr/>
          <p:nvPr/>
        </p:nvSpPr>
        <p:spPr>
          <a:xfrm>
            <a:off x="6400800" y="5614416"/>
            <a:ext cx="256032" cy="256032"/>
          </a:xfrm>
          <a:prstGeom prst="ellipse">
            <a:avLst/>
          </a:prstGeom>
          <a:solidFill>
            <a:srgbClr val="FFD400"/>
          </a:solidFill>
          <a:ln/>
        </p:spPr>
      </p:sp>
      <p:sp>
        <p:nvSpPr>
          <p:cNvPr id="18" name="Text 14"/>
          <p:cNvSpPr txBox="1"/>
          <p:nvPr/>
        </p:nvSpPr>
        <p:spPr>
          <a:xfrm>
            <a:off x="6400800" y="5614416"/>
            <a:ext cx="256032" cy="256032"/>
          </a:xfrm>
          <a:prstGeom prst="rect">
            <a:avLst/>
          </a:prstGeom>
          <a:noFill/>
          <a:ln/>
        </p:spPr>
        <p:txBody>
          <a:bodyPr wrap="square" lIns="0" tIns="0" rIns="0" bIns="0" rtlCol="0" anchor="ctr"/>
          <a:lstStyle/>
          <a:p>
            <a:pPr algn="ctr" indent="0" marL="0">
              <a:buNone/>
            </a:pPr>
            <a:r>
              <a:rPr lang="en-US" sz="1100" b="1" dirty="0">
                <a:solidFill>
                  <a:srgbClr val="111111"/>
                </a:solidFill>
                <a:latin typeface="Noto Sans JP" pitchFamily="34" charset="0"/>
                <a:ea typeface="Noto Sans JP" pitchFamily="34" charset="-122"/>
                <a:cs typeface="Noto Sans JP" pitchFamily="34" charset="-120"/>
              </a:rPr>
              <a:t>✓</a:t>
            </a:r>
            <a:endParaRPr lang="en-US" sz="1100" dirty="0"/>
          </a:p>
        </p:txBody>
      </p:sp>
      <p:sp>
        <p:nvSpPr>
          <p:cNvPr id="19" name="Text 15"/>
          <p:cNvSpPr txBox="1"/>
          <p:nvPr/>
        </p:nvSpPr>
        <p:spPr>
          <a:xfrm>
            <a:off x="6812280" y="5577840"/>
            <a:ext cx="5029200" cy="329184"/>
          </a:xfrm>
          <a:prstGeom prst="rect">
            <a:avLst/>
          </a:prstGeom>
          <a:noFill/>
          <a:ln/>
        </p:spPr>
        <p:txBody>
          <a:bodyPr wrap="square" lIns="0" tIns="0" rIns="0" bIns="0" rtlCol="0" anchor="ctr"/>
          <a:lstStyle/>
          <a:p>
            <a:pPr indent="0" marL="0">
              <a:buNone/>
            </a:pPr>
            <a:r>
              <a:rPr lang="en-US" sz="1300" b="1" dirty="0">
                <a:solidFill>
                  <a:srgbClr val="111111"/>
                </a:solidFill>
                <a:latin typeface="Noto Sans JP" pitchFamily="34" charset="0"/>
                <a:ea typeface="Noto Sans JP" pitchFamily="34" charset="-122"/>
                <a:cs typeface="Noto Sans JP" pitchFamily="34" charset="-120"/>
              </a:rPr>
              <a:t>ネット回線が切れても本体はローカルで稼働</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2"/>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6</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HOW IT WORKS</a:t>
            </a:r>
            <a:endParaRPr lang="en-US" sz="1100" dirty="0"/>
          </a:p>
        </p:txBody>
      </p:sp>
      <p:sp>
        <p:nvSpPr>
          <p:cNvPr id="6" name="Text 3"/>
          <p:cNvSpPr txBox="1"/>
          <p:nvPr/>
        </p:nvSpPr>
        <p:spPr>
          <a:xfrm>
            <a:off x="548640" y="850392"/>
            <a:ext cx="100584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映像は施設内で解析し、結果だけを届けます</a:t>
            </a:r>
            <a:endParaRPr lang="en-US" sz="3000" dirty="0"/>
          </a:p>
        </p:txBody>
      </p:sp>
      <p:sp>
        <p:nvSpPr>
          <p:cNvPr id="7" name="Shape 4"/>
          <p:cNvSpPr/>
          <p:nvPr/>
        </p:nvSpPr>
        <p:spPr>
          <a:xfrm>
            <a:off x="449428" y="1965960"/>
            <a:ext cx="2514600" cy="3429000"/>
          </a:xfrm>
          <a:prstGeom prst="roundRect">
            <a:avLst>
              <a:gd name="adj" fmla="val 4364"/>
            </a:avLst>
          </a:prstGeom>
          <a:solidFill>
            <a:srgbClr val="FFFFFF"/>
          </a:solidFill>
          <a:ln/>
        </p:spPr>
      </p:sp>
      <p:sp>
        <p:nvSpPr>
          <p:cNvPr id="8" name="Text 5"/>
          <p:cNvSpPr txBox="1"/>
          <p:nvPr/>
        </p:nvSpPr>
        <p:spPr>
          <a:xfrm>
            <a:off x="586588" y="2167128"/>
            <a:ext cx="2240280" cy="411480"/>
          </a:xfrm>
          <a:prstGeom prst="rect">
            <a:avLst/>
          </a:prstGeom>
          <a:noFill/>
          <a:ln/>
        </p:spPr>
        <p:txBody>
          <a:bodyPr wrap="square" lIns="0" tIns="0" rIns="0" bIns="0" rtlCol="0" anchor="t"/>
          <a:lstStyle/>
          <a:p>
            <a:pPr algn="ctr" indent="0" marL="0">
              <a:buNone/>
            </a:pPr>
            <a:r>
              <a:rPr lang="en-US" sz="1700" b="1" dirty="0">
                <a:solidFill>
                  <a:srgbClr val="111111"/>
                </a:solidFill>
                <a:latin typeface="Noto Sans JP" pitchFamily="34" charset="0"/>
                <a:ea typeface="Noto Sans JP" pitchFamily="34" charset="-122"/>
                <a:cs typeface="Noto Sans JP" pitchFamily="34" charset="-120"/>
              </a:rPr>
              <a:t>今ある防犯カメラ</a:t>
            </a:r>
            <a:endParaRPr lang="en-US" sz="1700" dirty="0"/>
          </a:p>
        </p:txBody>
      </p:sp>
      <p:pic>
        <p:nvPicPr>
          <p:cNvPr id="9" name="Image 1" descr="/tmp/claude-0/-home-user-AIInfinity/c029ed01-a8ff-5307-a636-4c28fa3dbac4/scratchpad/lp/jpg/capture.jpg">    </p:cNvPr>
          <p:cNvPicPr>
            <a:picLocks noChangeAspect="1"/>
          </p:cNvPicPr>
          <p:nvPr/>
        </p:nvPicPr>
        <p:blipFill>
          <a:blip r:embed="rId2"/>
          <a:stretch>
            <a:fillRect/>
          </a:stretch>
        </p:blipFill>
        <p:spPr>
          <a:xfrm>
            <a:off x="632308" y="2743200"/>
            <a:ext cx="2148840" cy="1433583"/>
          </a:xfrm>
          <a:prstGeom prst="rect">
            <a:avLst/>
          </a:prstGeom>
        </p:spPr>
      </p:pic>
      <p:sp>
        <p:nvSpPr>
          <p:cNvPr id="10" name="Text 6"/>
          <p:cNvSpPr txBox="1"/>
          <p:nvPr/>
        </p:nvSpPr>
        <p:spPr>
          <a:xfrm>
            <a:off x="632308" y="4663440"/>
            <a:ext cx="2148840" cy="548640"/>
          </a:xfrm>
          <a:prstGeom prst="rect">
            <a:avLst/>
          </a:prstGeom>
          <a:noFill/>
          <a:ln/>
        </p:spPr>
        <p:txBody>
          <a:bodyPr wrap="square" lIns="0" tIns="0" rIns="0" bIns="0" rtlCol="0" anchor="ctr"/>
          <a:lstStyle/>
          <a:p>
            <a:pPr algn="ctr" indent="0" marL="0">
              <a:buNone/>
            </a:pPr>
            <a:r>
              <a:rPr lang="en-US" sz="1300" dirty="0">
                <a:solidFill>
                  <a:srgbClr val="5B5B5B"/>
                </a:solidFill>
                <a:latin typeface="Noto Sans JP" pitchFamily="34" charset="0"/>
                <a:ea typeface="Noto Sans JP" pitchFamily="34" charset="-122"/>
                <a:cs typeface="Noto Sans JP" pitchFamily="34" charset="-120"/>
              </a:rPr>
              <a:t>既存カメラの映像を取得</a:t>
            </a:r>
            <a:endParaRPr lang="en-US" sz="1300" dirty="0"/>
          </a:p>
        </p:txBody>
      </p:sp>
      <p:sp>
        <p:nvSpPr>
          <p:cNvPr id="11" name="Text 7"/>
          <p:cNvSpPr txBox="1"/>
          <p:nvPr/>
        </p:nvSpPr>
        <p:spPr>
          <a:xfrm>
            <a:off x="2964028" y="3406140"/>
            <a:ext cx="411480" cy="548640"/>
          </a:xfrm>
          <a:prstGeom prst="rect">
            <a:avLst/>
          </a:prstGeom>
          <a:noFill/>
          <a:ln/>
        </p:spPr>
        <p:txBody>
          <a:bodyPr wrap="square" lIns="0" tIns="0" rIns="0" bIns="0" rtlCol="0" anchor="ctr"/>
          <a:lstStyle/>
          <a:p>
            <a:pPr algn="ctr" indent="0" marL="0">
              <a:buNone/>
            </a:pPr>
            <a:r>
              <a:rPr lang="en-US" sz="2400" b="1" dirty="0">
                <a:solidFill>
                  <a:srgbClr val="111111"/>
                </a:solidFill>
                <a:latin typeface="Noto Sans JP" pitchFamily="34" charset="0"/>
                <a:ea typeface="Noto Sans JP" pitchFamily="34" charset="-122"/>
                <a:cs typeface="Noto Sans JP" pitchFamily="34" charset="-120"/>
              </a:rPr>
              <a:t>→</a:t>
            </a:r>
            <a:endParaRPr lang="en-US" sz="2400" dirty="0"/>
          </a:p>
        </p:txBody>
      </p:sp>
      <p:sp>
        <p:nvSpPr>
          <p:cNvPr id="12" name="Shape 8"/>
          <p:cNvSpPr/>
          <p:nvPr/>
        </p:nvSpPr>
        <p:spPr>
          <a:xfrm>
            <a:off x="3375508" y="1965960"/>
            <a:ext cx="2514600" cy="3429000"/>
          </a:xfrm>
          <a:prstGeom prst="roundRect">
            <a:avLst>
              <a:gd name="adj" fmla="val 4364"/>
            </a:avLst>
          </a:prstGeom>
          <a:solidFill>
            <a:srgbClr val="FFFFFF"/>
          </a:solidFill>
          <a:ln w="50800">
            <a:solidFill>
              <a:srgbClr val="FFD400"/>
            </a:solidFill>
            <a:prstDash val="solid"/>
          </a:ln>
        </p:spPr>
      </p:sp>
      <p:sp>
        <p:nvSpPr>
          <p:cNvPr id="13" name="Text 9"/>
          <p:cNvSpPr txBox="1"/>
          <p:nvPr/>
        </p:nvSpPr>
        <p:spPr>
          <a:xfrm>
            <a:off x="3512668" y="2167128"/>
            <a:ext cx="2240280" cy="411480"/>
          </a:xfrm>
          <a:prstGeom prst="rect">
            <a:avLst/>
          </a:prstGeom>
          <a:noFill/>
          <a:ln/>
        </p:spPr>
        <p:txBody>
          <a:bodyPr wrap="square" lIns="0" tIns="0" rIns="0" bIns="0" rtlCol="0" anchor="t"/>
          <a:lstStyle/>
          <a:p>
            <a:pPr algn="ctr" indent="0" marL="0">
              <a:buNone/>
            </a:pPr>
            <a:r>
              <a:rPr lang="en-US" sz="1700" b="1" dirty="0">
                <a:solidFill>
                  <a:srgbClr val="111111"/>
                </a:solidFill>
                <a:latin typeface="Noto Sans JP" pitchFamily="34" charset="0"/>
                <a:ea typeface="Noto Sans JP" pitchFamily="34" charset="-122"/>
                <a:cs typeface="Noto Sans JP" pitchFamily="34" charset="-120"/>
              </a:rPr>
              <a:t>HACHINOS本体</a:t>
            </a:r>
            <a:endParaRPr lang="en-US" sz="1700" dirty="0"/>
          </a:p>
        </p:txBody>
      </p:sp>
      <p:pic>
        <p:nvPicPr>
          <p:cNvPr id="14" name="Image 2" descr="/tmp/claude-0/-home-user-AIInfinity/c029ed01-a8ff-5307-a636-4c28fa3dbac4/scratchpad/lp/jpg/hachinos-product-v2.jpg">    </p:cNvPr>
          <p:cNvPicPr>
            <a:picLocks noChangeAspect="1"/>
          </p:cNvPicPr>
          <p:nvPr/>
        </p:nvPicPr>
        <p:blipFill>
          <a:blip r:embed="rId3"/>
          <a:stretch>
            <a:fillRect/>
          </a:stretch>
        </p:blipFill>
        <p:spPr>
          <a:xfrm>
            <a:off x="3558388" y="2743200"/>
            <a:ext cx="2148840" cy="1719072"/>
          </a:xfrm>
          <a:prstGeom prst="rect">
            <a:avLst/>
          </a:prstGeom>
        </p:spPr>
      </p:pic>
      <p:sp>
        <p:nvSpPr>
          <p:cNvPr id="15" name="Text 10"/>
          <p:cNvSpPr txBox="1"/>
          <p:nvPr/>
        </p:nvSpPr>
        <p:spPr>
          <a:xfrm>
            <a:off x="3558388" y="4663440"/>
            <a:ext cx="2148840" cy="548640"/>
          </a:xfrm>
          <a:prstGeom prst="rect">
            <a:avLst/>
          </a:prstGeom>
          <a:noFill/>
          <a:ln/>
        </p:spPr>
        <p:txBody>
          <a:bodyPr wrap="square" lIns="0" tIns="0" rIns="0" bIns="0" rtlCol="0" anchor="ctr"/>
          <a:lstStyle/>
          <a:p>
            <a:pPr algn="ctr" indent="0" marL="0">
              <a:buNone/>
            </a:pPr>
            <a:r>
              <a:rPr lang="en-US" sz="1300" dirty="0">
                <a:solidFill>
                  <a:srgbClr val="5B5B5B"/>
                </a:solidFill>
                <a:latin typeface="Noto Sans JP" pitchFamily="34" charset="0"/>
                <a:ea typeface="Noto Sans JP" pitchFamily="34" charset="-122"/>
                <a:cs typeface="Noto Sans JP" pitchFamily="34" charset="-120"/>
              </a:rPr>
              <a:t>施設内で映像をAI解析</a:t>
            </a:r>
            <a:endParaRPr lang="en-US" sz="1300" dirty="0"/>
          </a:p>
        </p:txBody>
      </p:sp>
      <p:sp>
        <p:nvSpPr>
          <p:cNvPr id="16" name="Text 11"/>
          <p:cNvSpPr txBox="1"/>
          <p:nvPr/>
        </p:nvSpPr>
        <p:spPr>
          <a:xfrm>
            <a:off x="5890108" y="3406140"/>
            <a:ext cx="411480" cy="548640"/>
          </a:xfrm>
          <a:prstGeom prst="rect">
            <a:avLst/>
          </a:prstGeom>
          <a:noFill/>
          <a:ln/>
        </p:spPr>
        <p:txBody>
          <a:bodyPr wrap="square" lIns="0" tIns="0" rIns="0" bIns="0" rtlCol="0" anchor="ctr"/>
          <a:lstStyle/>
          <a:p>
            <a:pPr algn="ctr" indent="0" marL="0">
              <a:buNone/>
            </a:pPr>
            <a:r>
              <a:rPr lang="en-US" sz="2400" b="1" dirty="0">
                <a:solidFill>
                  <a:srgbClr val="111111"/>
                </a:solidFill>
                <a:latin typeface="Noto Sans JP" pitchFamily="34" charset="0"/>
                <a:ea typeface="Noto Sans JP" pitchFamily="34" charset="-122"/>
                <a:cs typeface="Noto Sans JP" pitchFamily="34" charset="-120"/>
              </a:rPr>
              <a:t>→</a:t>
            </a:r>
            <a:endParaRPr lang="en-US" sz="2400" dirty="0"/>
          </a:p>
        </p:txBody>
      </p:sp>
      <p:sp>
        <p:nvSpPr>
          <p:cNvPr id="17" name="Shape 12"/>
          <p:cNvSpPr/>
          <p:nvPr/>
        </p:nvSpPr>
        <p:spPr>
          <a:xfrm>
            <a:off x="6301588" y="1965960"/>
            <a:ext cx="2514600" cy="3429000"/>
          </a:xfrm>
          <a:prstGeom prst="roundRect">
            <a:avLst>
              <a:gd name="adj" fmla="val 4364"/>
            </a:avLst>
          </a:prstGeom>
          <a:solidFill>
            <a:srgbClr val="FFFFFF"/>
          </a:solidFill>
          <a:ln/>
        </p:spPr>
      </p:sp>
      <p:sp>
        <p:nvSpPr>
          <p:cNvPr id="18" name="Text 13"/>
          <p:cNvSpPr txBox="1"/>
          <p:nvPr/>
        </p:nvSpPr>
        <p:spPr>
          <a:xfrm>
            <a:off x="6438748" y="2167128"/>
            <a:ext cx="2240280" cy="411480"/>
          </a:xfrm>
          <a:prstGeom prst="rect">
            <a:avLst/>
          </a:prstGeom>
          <a:noFill/>
          <a:ln/>
        </p:spPr>
        <p:txBody>
          <a:bodyPr wrap="square" lIns="0" tIns="0" rIns="0" bIns="0" rtlCol="0" anchor="t"/>
          <a:lstStyle/>
          <a:p>
            <a:pPr algn="ctr" indent="0" marL="0">
              <a:buNone/>
            </a:pPr>
            <a:r>
              <a:rPr lang="en-US" sz="1700" b="1" dirty="0">
                <a:solidFill>
                  <a:srgbClr val="111111"/>
                </a:solidFill>
                <a:latin typeface="Noto Sans JP" pitchFamily="34" charset="0"/>
                <a:ea typeface="Noto Sans JP" pitchFamily="34" charset="-122"/>
                <a:cs typeface="Noto Sans JP" pitchFamily="34" charset="-120"/>
              </a:rPr>
              <a:t>ダッシュボード</a:t>
            </a:r>
            <a:endParaRPr lang="en-US" sz="1700" dirty="0"/>
          </a:p>
        </p:txBody>
      </p:sp>
      <p:pic>
        <p:nvPicPr>
          <p:cNvPr id="19" name="Image 3" descr="/tmp/claude-0/-home-user-AIInfinity/c029ed01-a8ff-5307-a636-4c28fa3dbac4/scratchpad/lp/jpg/visual.jpg">    </p:cNvPr>
          <p:cNvPicPr>
            <a:picLocks noChangeAspect="1"/>
          </p:cNvPicPr>
          <p:nvPr/>
        </p:nvPicPr>
        <p:blipFill>
          <a:blip r:embed="rId4"/>
          <a:stretch>
            <a:fillRect/>
          </a:stretch>
        </p:blipFill>
        <p:spPr>
          <a:xfrm>
            <a:off x="6484468" y="2743200"/>
            <a:ext cx="2148840" cy="1433583"/>
          </a:xfrm>
          <a:prstGeom prst="rect">
            <a:avLst/>
          </a:prstGeom>
        </p:spPr>
      </p:pic>
      <p:sp>
        <p:nvSpPr>
          <p:cNvPr id="20" name="Text 14"/>
          <p:cNvSpPr txBox="1"/>
          <p:nvPr/>
        </p:nvSpPr>
        <p:spPr>
          <a:xfrm>
            <a:off x="6484468" y="4663440"/>
            <a:ext cx="2148840" cy="548640"/>
          </a:xfrm>
          <a:prstGeom prst="rect">
            <a:avLst/>
          </a:prstGeom>
          <a:noFill/>
          <a:ln/>
        </p:spPr>
        <p:txBody>
          <a:bodyPr wrap="square" lIns="0" tIns="0" rIns="0" bIns="0" rtlCol="0" anchor="ctr"/>
          <a:lstStyle/>
          <a:p>
            <a:pPr algn="ctr" indent="0" marL="0">
              <a:buNone/>
            </a:pPr>
            <a:r>
              <a:rPr lang="en-US" sz="1300" dirty="0">
                <a:solidFill>
                  <a:srgbClr val="5B5B5B"/>
                </a:solidFill>
                <a:latin typeface="Noto Sans JP" pitchFamily="34" charset="0"/>
                <a:ea typeface="Noto Sans JP" pitchFamily="34" charset="-122"/>
                <a:cs typeface="Noto Sans JP" pitchFamily="34" charset="-120"/>
              </a:rPr>
              <a:t>来店数・動線・傾向を可視化</a:t>
            </a:r>
            <a:endParaRPr lang="en-US" sz="1300" dirty="0"/>
          </a:p>
        </p:txBody>
      </p:sp>
      <p:sp>
        <p:nvSpPr>
          <p:cNvPr id="21" name="Text 15"/>
          <p:cNvSpPr txBox="1"/>
          <p:nvPr/>
        </p:nvSpPr>
        <p:spPr>
          <a:xfrm>
            <a:off x="8816188" y="3406140"/>
            <a:ext cx="411480" cy="548640"/>
          </a:xfrm>
          <a:prstGeom prst="rect">
            <a:avLst/>
          </a:prstGeom>
          <a:noFill/>
          <a:ln/>
        </p:spPr>
        <p:txBody>
          <a:bodyPr wrap="square" lIns="0" tIns="0" rIns="0" bIns="0" rtlCol="0" anchor="ctr"/>
          <a:lstStyle/>
          <a:p>
            <a:pPr algn="ctr" indent="0" marL="0">
              <a:buNone/>
            </a:pPr>
            <a:r>
              <a:rPr lang="en-US" sz="2400" b="1" dirty="0">
                <a:solidFill>
                  <a:srgbClr val="111111"/>
                </a:solidFill>
                <a:latin typeface="Noto Sans JP" pitchFamily="34" charset="0"/>
                <a:ea typeface="Noto Sans JP" pitchFamily="34" charset="-122"/>
                <a:cs typeface="Noto Sans JP" pitchFamily="34" charset="-120"/>
              </a:rPr>
              <a:t>→</a:t>
            </a:r>
            <a:endParaRPr lang="en-US" sz="2400" dirty="0"/>
          </a:p>
        </p:txBody>
      </p:sp>
      <p:sp>
        <p:nvSpPr>
          <p:cNvPr id="22" name="Shape 16"/>
          <p:cNvSpPr/>
          <p:nvPr/>
        </p:nvSpPr>
        <p:spPr>
          <a:xfrm>
            <a:off x="9227668" y="1965960"/>
            <a:ext cx="2514600" cy="3429000"/>
          </a:xfrm>
          <a:prstGeom prst="roundRect">
            <a:avLst>
              <a:gd name="adj" fmla="val 4364"/>
            </a:avLst>
          </a:prstGeom>
          <a:solidFill>
            <a:srgbClr val="FFFFFF"/>
          </a:solidFill>
          <a:ln/>
        </p:spPr>
      </p:sp>
      <p:sp>
        <p:nvSpPr>
          <p:cNvPr id="23" name="Text 17"/>
          <p:cNvSpPr txBox="1"/>
          <p:nvPr/>
        </p:nvSpPr>
        <p:spPr>
          <a:xfrm>
            <a:off x="9364828" y="2167128"/>
            <a:ext cx="2240280" cy="411480"/>
          </a:xfrm>
          <a:prstGeom prst="rect">
            <a:avLst/>
          </a:prstGeom>
          <a:noFill/>
          <a:ln/>
        </p:spPr>
        <p:txBody>
          <a:bodyPr wrap="square" lIns="0" tIns="0" rIns="0" bIns="0" rtlCol="0" anchor="t"/>
          <a:lstStyle/>
          <a:p>
            <a:pPr algn="ctr" indent="0" marL="0">
              <a:buNone/>
            </a:pPr>
            <a:r>
              <a:rPr lang="en-US" sz="1700" b="1" dirty="0">
                <a:solidFill>
                  <a:srgbClr val="111111"/>
                </a:solidFill>
                <a:latin typeface="Noto Sans JP" pitchFamily="34" charset="0"/>
                <a:ea typeface="Noto Sans JP" pitchFamily="34" charset="-122"/>
                <a:cs typeface="Noto Sans JP" pitchFamily="34" charset="-120"/>
              </a:rPr>
              <a:t>スマホへ現場通知</a:t>
            </a:r>
            <a:endParaRPr lang="en-US" sz="1700" dirty="0"/>
          </a:p>
        </p:txBody>
      </p:sp>
      <p:pic>
        <p:nvPicPr>
          <p:cNvPr id="24" name="Image 4" descr="/tmp/claude-0/-home-user-AIInfinity/c029ed01-a8ff-5307-a636-4c28fa3dbac4/scratchpad/lp/jpg/notify.jpg">    </p:cNvPr>
          <p:cNvPicPr>
            <a:picLocks noChangeAspect="1"/>
          </p:cNvPicPr>
          <p:nvPr/>
        </p:nvPicPr>
        <p:blipFill>
          <a:blip r:embed="rId5"/>
          <a:stretch>
            <a:fillRect/>
          </a:stretch>
        </p:blipFill>
        <p:spPr>
          <a:xfrm>
            <a:off x="9410548" y="2743200"/>
            <a:ext cx="2148840" cy="1433583"/>
          </a:xfrm>
          <a:prstGeom prst="rect">
            <a:avLst/>
          </a:prstGeom>
        </p:spPr>
      </p:pic>
      <p:sp>
        <p:nvSpPr>
          <p:cNvPr id="25" name="Text 18"/>
          <p:cNvSpPr txBox="1"/>
          <p:nvPr/>
        </p:nvSpPr>
        <p:spPr>
          <a:xfrm>
            <a:off x="9410548" y="4663440"/>
            <a:ext cx="2148840" cy="548640"/>
          </a:xfrm>
          <a:prstGeom prst="rect">
            <a:avLst/>
          </a:prstGeom>
          <a:noFill/>
          <a:ln/>
        </p:spPr>
        <p:txBody>
          <a:bodyPr wrap="square" lIns="0" tIns="0" rIns="0" bIns="0" rtlCol="0" anchor="ctr"/>
          <a:lstStyle/>
          <a:p>
            <a:pPr algn="ctr" indent="0" marL="0">
              <a:buNone/>
            </a:pPr>
            <a:r>
              <a:rPr lang="en-US" sz="1300" dirty="0">
                <a:solidFill>
                  <a:srgbClr val="5B5B5B"/>
                </a:solidFill>
                <a:latin typeface="Noto Sans JP" pitchFamily="34" charset="0"/>
                <a:ea typeface="Noto Sans JP" pitchFamily="34" charset="-122"/>
                <a:cs typeface="Noto Sans JP" pitchFamily="34" charset="-120"/>
              </a:rPr>
              <a:t>次の行動を匿名テキストでお知らせ</a:t>
            </a:r>
            <a:endParaRPr lang="en-US" sz="1300" dirty="0"/>
          </a:p>
        </p:txBody>
      </p:sp>
      <p:sp>
        <p:nvSpPr>
          <p:cNvPr id="26" name="Text 19"/>
          <p:cNvSpPr txBox="1"/>
          <p:nvPr/>
        </p:nvSpPr>
        <p:spPr>
          <a:xfrm>
            <a:off x="548640" y="5806440"/>
            <a:ext cx="11094415" cy="320040"/>
          </a:xfrm>
          <a:prstGeom prst="rect">
            <a:avLst/>
          </a:prstGeom>
          <a:noFill/>
          <a:ln/>
        </p:spPr>
        <p:txBody>
          <a:bodyPr wrap="square" lIns="0" tIns="0" rIns="0" bIns="0" rtlCol="0" anchor="t"/>
          <a:lstStyle/>
          <a:p>
            <a:pPr algn="ctr" indent="0" marL="0">
              <a:buNone/>
            </a:pPr>
            <a:r>
              <a:rPr lang="en-US" sz="1200" dirty="0">
                <a:solidFill>
                  <a:srgbClr val="5B5B5B"/>
                </a:solidFill>
                <a:latin typeface="Noto Sans JP" pitchFamily="34" charset="0"/>
                <a:ea typeface="Noto Sans JP" pitchFamily="34" charset="-122"/>
                <a:cs typeface="Noto Sans JP" pitchFamily="34" charset="-120"/>
              </a:rPr>
              <a:t>映像は施設内の本体で処理。外部への通知は映像を含まない匿名テキストです。画像・画面はイメージです。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7</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BASIC APPS</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基本アプリ（5群）</a:t>
            </a:r>
            <a:endParaRPr lang="en-US" sz="3000" dirty="0"/>
          </a:p>
        </p:txBody>
      </p:sp>
      <p:sp>
        <p:nvSpPr>
          <p:cNvPr id="7" name="Shape 4"/>
          <p:cNvSpPr/>
          <p:nvPr/>
        </p:nvSpPr>
        <p:spPr>
          <a:xfrm>
            <a:off x="518008" y="1828800"/>
            <a:ext cx="3566160" cy="1965960"/>
          </a:xfrm>
          <a:prstGeom prst="roundRect">
            <a:avLst>
              <a:gd name="adj" fmla="val 5581"/>
            </a:avLst>
          </a:prstGeom>
          <a:solidFill>
            <a:srgbClr val="F5F5F2"/>
          </a:solidFill>
          <a:ln/>
        </p:spPr>
      </p:sp>
      <p:sp>
        <p:nvSpPr>
          <p:cNvPr id="8" name="Shape 5"/>
          <p:cNvSpPr/>
          <p:nvPr/>
        </p:nvSpPr>
        <p:spPr>
          <a:xfrm>
            <a:off x="700888" y="2103120"/>
            <a:ext cx="1188720" cy="1188720"/>
          </a:xfrm>
          <a:prstGeom prst="roundRect">
            <a:avLst>
              <a:gd name="adj" fmla="val 7692"/>
            </a:avLst>
          </a:prstGeom>
          <a:solidFill>
            <a:srgbClr val="FFFFFF"/>
          </a:solidFill>
          <a:ln/>
        </p:spPr>
      </p:sp>
      <p:pic>
        <p:nvPicPr>
          <p:cNvPr id="9" name="Image 1" descr="/tmp/claude-0/-home-user-AIInfinity/c029ed01-a8ff-5307-a636-4c28fa3dbac4/scratchpad/lp/jpg/b-attr-v2.jpg">    </p:cNvPr>
          <p:cNvPicPr>
            <a:picLocks noChangeAspect="1"/>
          </p:cNvPicPr>
          <p:nvPr/>
        </p:nvPicPr>
        <p:blipFill>
          <a:blip r:embed="rId2"/>
          <a:stretch>
            <a:fillRect/>
          </a:stretch>
        </p:blipFill>
        <p:spPr>
          <a:xfrm>
            <a:off x="746608" y="2148840"/>
            <a:ext cx="1097280" cy="1097280"/>
          </a:xfrm>
          <a:prstGeom prst="rect">
            <a:avLst/>
          </a:prstGeom>
        </p:spPr>
      </p:pic>
      <p:sp>
        <p:nvSpPr>
          <p:cNvPr id="10" name="Text 6"/>
          <p:cNvSpPr txBox="1"/>
          <p:nvPr/>
        </p:nvSpPr>
        <p:spPr>
          <a:xfrm>
            <a:off x="2072488" y="2084832"/>
            <a:ext cx="1874520" cy="64008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属性分析／</a:t>
            </a:r>
            <a:endParaRPr lang="en-US" sz="1500" dirty="0"/>
          </a:p>
          <a:p>
            <a:pPr indent="0" marL="0">
              <a:buNone/>
            </a:pPr>
            <a:r>
              <a:rPr lang="en-US" sz="1500" b="1" dirty="0">
                <a:solidFill>
                  <a:srgbClr val="111111"/>
                </a:solidFill>
                <a:latin typeface="Noto Sans JP" pitchFamily="34" charset="0"/>
                <a:ea typeface="Noto Sans JP" pitchFamily="34" charset="-122"/>
                <a:cs typeface="Noto Sans JP" pitchFamily="34" charset="-120"/>
              </a:rPr>
              <a:t>リピート検知</a:t>
            </a:r>
            <a:endParaRPr lang="en-US" sz="1500" dirty="0"/>
          </a:p>
        </p:txBody>
      </p:sp>
      <p:sp>
        <p:nvSpPr>
          <p:cNvPr id="11" name="Text 7"/>
          <p:cNvSpPr txBox="1"/>
          <p:nvPr/>
        </p:nvSpPr>
        <p:spPr>
          <a:xfrm>
            <a:off x="2072488" y="2743200"/>
            <a:ext cx="1874520" cy="960120"/>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性別・推定年齢を分析。常連のお客様や、登録済みの出入り禁止対象者の来店を検知します。</a:t>
            </a:r>
            <a:endParaRPr lang="en-US" sz="1150" dirty="0"/>
          </a:p>
        </p:txBody>
      </p:sp>
      <p:sp>
        <p:nvSpPr>
          <p:cNvPr id="12" name="Shape 8"/>
          <p:cNvSpPr/>
          <p:nvPr/>
        </p:nvSpPr>
        <p:spPr>
          <a:xfrm>
            <a:off x="4312768" y="1828800"/>
            <a:ext cx="3566160" cy="1965960"/>
          </a:xfrm>
          <a:prstGeom prst="roundRect">
            <a:avLst>
              <a:gd name="adj" fmla="val 5581"/>
            </a:avLst>
          </a:prstGeom>
          <a:solidFill>
            <a:srgbClr val="F5F5F2"/>
          </a:solidFill>
          <a:ln/>
        </p:spPr>
      </p:sp>
      <p:sp>
        <p:nvSpPr>
          <p:cNvPr id="13" name="Shape 9"/>
          <p:cNvSpPr/>
          <p:nvPr/>
        </p:nvSpPr>
        <p:spPr>
          <a:xfrm>
            <a:off x="4495648" y="2103120"/>
            <a:ext cx="1188720" cy="1188720"/>
          </a:xfrm>
          <a:prstGeom prst="roundRect">
            <a:avLst>
              <a:gd name="adj" fmla="val 7692"/>
            </a:avLst>
          </a:prstGeom>
          <a:solidFill>
            <a:srgbClr val="FFFFFF"/>
          </a:solidFill>
          <a:ln/>
        </p:spPr>
      </p:sp>
      <p:pic>
        <p:nvPicPr>
          <p:cNvPr id="14" name="Image 2" descr="/tmp/claude-0/-home-user-AIInfinity/c029ed01-a8ff-5307-a636-4c28fa3dbac4/scratchpad/lp/jpg/b-flow-v2.jpg">    </p:cNvPr>
          <p:cNvPicPr>
            <a:picLocks noChangeAspect="1"/>
          </p:cNvPicPr>
          <p:nvPr/>
        </p:nvPicPr>
        <p:blipFill>
          <a:blip r:embed="rId3"/>
          <a:stretch>
            <a:fillRect/>
          </a:stretch>
        </p:blipFill>
        <p:spPr>
          <a:xfrm>
            <a:off x="4541368" y="2148840"/>
            <a:ext cx="1097280" cy="1097280"/>
          </a:xfrm>
          <a:prstGeom prst="rect">
            <a:avLst/>
          </a:prstGeom>
        </p:spPr>
      </p:pic>
      <p:sp>
        <p:nvSpPr>
          <p:cNvPr id="15" name="Text 10"/>
          <p:cNvSpPr txBox="1"/>
          <p:nvPr/>
        </p:nvSpPr>
        <p:spPr>
          <a:xfrm>
            <a:off x="5867248" y="2084832"/>
            <a:ext cx="1874520" cy="64008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動線／滞留分析</a:t>
            </a:r>
            <a:endParaRPr lang="en-US" sz="1500" dirty="0"/>
          </a:p>
        </p:txBody>
      </p:sp>
      <p:sp>
        <p:nvSpPr>
          <p:cNvPr id="16" name="Text 11"/>
          <p:cNvSpPr txBox="1"/>
          <p:nvPr/>
        </p:nvSpPr>
        <p:spPr>
          <a:xfrm>
            <a:off x="5867248" y="2743200"/>
            <a:ext cx="1874520" cy="960120"/>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店内の移動経路を動線図で、立ち止まりの多い場所をヒートマップで可視化します。</a:t>
            </a:r>
            <a:endParaRPr lang="en-US" sz="1150" dirty="0"/>
          </a:p>
        </p:txBody>
      </p:sp>
      <p:sp>
        <p:nvSpPr>
          <p:cNvPr id="17" name="Shape 12"/>
          <p:cNvSpPr/>
          <p:nvPr/>
        </p:nvSpPr>
        <p:spPr>
          <a:xfrm>
            <a:off x="8107528" y="1828800"/>
            <a:ext cx="3566160" cy="1965960"/>
          </a:xfrm>
          <a:prstGeom prst="roundRect">
            <a:avLst>
              <a:gd name="adj" fmla="val 5581"/>
            </a:avLst>
          </a:prstGeom>
          <a:solidFill>
            <a:srgbClr val="F5F5F2"/>
          </a:solidFill>
          <a:ln/>
        </p:spPr>
      </p:sp>
      <p:sp>
        <p:nvSpPr>
          <p:cNvPr id="18" name="Shape 13"/>
          <p:cNvSpPr/>
          <p:nvPr/>
        </p:nvSpPr>
        <p:spPr>
          <a:xfrm>
            <a:off x="8290408" y="2103120"/>
            <a:ext cx="1188720" cy="1188720"/>
          </a:xfrm>
          <a:prstGeom prst="roundRect">
            <a:avLst>
              <a:gd name="adj" fmla="val 7692"/>
            </a:avLst>
          </a:prstGeom>
          <a:solidFill>
            <a:srgbClr val="FFFFFF"/>
          </a:solidFill>
          <a:ln/>
        </p:spPr>
      </p:sp>
      <p:pic>
        <p:nvPicPr>
          <p:cNvPr id="19" name="Image 3" descr="/tmp/claude-0/-home-user-AIInfinity/c029ed01-a8ff-5307-a636-4c28fa3dbac4/scratchpad/lp/jpg/b-count-v2.jpg">    </p:cNvPr>
          <p:cNvPicPr>
            <a:picLocks noChangeAspect="1"/>
          </p:cNvPicPr>
          <p:nvPr/>
        </p:nvPicPr>
        <p:blipFill>
          <a:blip r:embed="rId4"/>
          <a:stretch>
            <a:fillRect/>
          </a:stretch>
        </p:blipFill>
        <p:spPr>
          <a:xfrm>
            <a:off x="8336128" y="2148840"/>
            <a:ext cx="1097280" cy="1097280"/>
          </a:xfrm>
          <a:prstGeom prst="rect">
            <a:avLst/>
          </a:prstGeom>
        </p:spPr>
      </p:pic>
      <p:sp>
        <p:nvSpPr>
          <p:cNvPr id="20" name="Text 14"/>
          <p:cNvSpPr txBox="1"/>
          <p:nvPr/>
        </p:nvSpPr>
        <p:spPr>
          <a:xfrm>
            <a:off x="9662008" y="2084832"/>
            <a:ext cx="1874520" cy="64008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通行量／</a:t>
            </a:r>
            <a:endParaRPr lang="en-US" sz="1500" dirty="0"/>
          </a:p>
          <a:p>
            <a:pPr indent="0" marL="0">
              <a:buNone/>
            </a:pPr>
            <a:r>
              <a:rPr lang="en-US" sz="1500" b="1" dirty="0">
                <a:solidFill>
                  <a:srgbClr val="111111"/>
                </a:solidFill>
                <a:latin typeface="Noto Sans JP" pitchFamily="34" charset="0"/>
                <a:ea typeface="Noto Sans JP" pitchFamily="34" charset="-122"/>
                <a:cs typeface="Noto Sans JP" pitchFamily="34" charset="-120"/>
              </a:rPr>
              <a:t>人数カウント</a:t>
            </a:r>
            <a:endParaRPr lang="en-US" sz="1500" dirty="0"/>
          </a:p>
        </p:txBody>
      </p:sp>
      <p:sp>
        <p:nvSpPr>
          <p:cNvPr id="21" name="Text 15"/>
          <p:cNvSpPr txBox="1"/>
          <p:nvPr/>
        </p:nvSpPr>
        <p:spPr>
          <a:xfrm>
            <a:off x="9662008" y="2743200"/>
            <a:ext cx="1874520" cy="960120"/>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入店数・通行量・エリアごとの人数を時間帯別に集計します。</a:t>
            </a:r>
            <a:endParaRPr lang="en-US" sz="1150" dirty="0"/>
          </a:p>
        </p:txBody>
      </p:sp>
      <p:sp>
        <p:nvSpPr>
          <p:cNvPr id="22" name="Shape 16"/>
          <p:cNvSpPr/>
          <p:nvPr/>
        </p:nvSpPr>
        <p:spPr>
          <a:xfrm>
            <a:off x="2415388" y="4069080"/>
            <a:ext cx="3566160" cy="1965960"/>
          </a:xfrm>
          <a:prstGeom prst="roundRect">
            <a:avLst>
              <a:gd name="adj" fmla="val 5581"/>
            </a:avLst>
          </a:prstGeom>
          <a:solidFill>
            <a:srgbClr val="F5F5F2"/>
          </a:solidFill>
          <a:ln/>
        </p:spPr>
      </p:sp>
      <p:sp>
        <p:nvSpPr>
          <p:cNvPr id="23" name="Shape 17"/>
          <p:cNvSpPr/>
          <p:nvPr/>
        </p:nvSpPr>
        <p:spPr>
          <a:xfrm>
            <a:off x="2598268" y="4343400"/>
            <a:ext cx="1188720" cy="1188720"/>
          </a:xfrm>
          <a:prstGeom prst="roundRect">
            <a:avLst>
              <a:gd name="adj" fmla="val 7692"/>
            </a:avLst>
          </a:prstGeom>
          <a:solidFill>
            <a:srgbClr val="FFFFFF"/>
          </a:solidFill>
          <a:ln/>
        </p:spPr>
      </p:sp>
      <p:pic>
        <p:nvPicPr>
          <p:cNvPr id="24" name="Image 4" descr="/tmp/claude-0/-home-user-AIInfinity/c029ed01-a8ff-5307-a636-4c28fa3dbac4/scratchpad/lp/jpg/b-intrusion-v2.jpg">    </p:cNvPr>
          <p:cNvPicPr>
            <a:picLocks noChangeAspect="1"/>
          </p:cNvPicPr>
          <p:nvPr/>
        </p:nvPicPr>
        <p:blipFill>
          <a:blip r:embed="rId5"/>
          <a:stretch>
            <a:fillRect/>
          </a:stretch>
        </p:blipFill>
        <p:spPr>
          <a:xfrm>
            <a:off x="2643988" y="4389120"/>
            <a:ext cx="1097280" cy="1097280"/>
          </a:xfrm>
          <a:prstGeom prst="rect">
            <a:avLst/>
          </a:prstGeom>
        </p:spPr>
      </p:pic>
      <p:sp>
        <p:nvSpPr>
          <p:cNvPr id="25" name="Text 18"/>
          <p:cNvSpPr txBox="1"/>
          <p:nvPr/>
        </p:nvSpPr>
        <p:spPr>
          <a:xfrm>
            <a:off x="3969868" y="4325112"/>
            <a:ext cx="1874520" cy="64008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侵入／ラインクロス／</a:t>
            </a:r>
            <a:endParaRPr lang="en-US" sz="1500" dirty="0"/>
          </a:p>
          <a:p>
            <a:pPr indent="0" marL="0">
              <a:buNone/>
            </a:pPr>
            <a:r>
              <a:rPr lang="en-US" sz="1500" b="1" dirty="0">
                <a:solidFill>
                  <a:srgbClr val="111111"/>
                </a:solidFill>
                <a:latin typeface="Noto Sans JP" pitchFamily="34" charset="0"/>
                <a:ea typeface="Noto Sans JP" pitchFamily="34" charset="-122"/>
                <a:cs typeface="Noto Sans JP" pitchFamily="34" charset="-120"/>
              </a:rPr>
              <a:t>エリア検知</a:t>
            </a:r>
            <a:endParaRPr lang="en-US" sz="1500" dirty="0"/>
          </a:p>
        </p:txBody>
      </p:sp>
      <p:sp>
        <p:nvSpPr>
          <p:cNvPr id="26" name="Text 19"/>
          <p:cNvSpPr txBox="1"/>
          <p:nvPr/>
        </p:nvSpPr>
        <p:spPr>
          <a:xfrm>
            <a:off x="3969868" y="4983480"/>
            <a:ext cx="1874520" cy="960120"/>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立入禁止エリアへの侵入や、指定ラインの通過を検知して通知します。</a:t>
            </a:r>
            <a:endParaRPr lang="en-US" sz="1150" dirty="0"/>
          </a:p>
        </p:txBody>
      </p:sp>
      <p:sp>
        <p:nvSpPr>
          <p:cNvPr id="27" name="Shape 20"/>
          <p:cNvSpPr/>
          <p:nvPr/>
        </p:nvSpPr>
        <p:spPr>
          <a:xfrm>
            <a:off x="6210148" y="4069080"/>
            <a:ext cx="3566160" cy="1965960"/>
          </a:xfrm>
          <a:prstGeom prst="roundRect">
            <a:avLst>
              <a:gd name="adj" fmla="val 5581"/>
            </a:avLst>
          </a:prstGeom>
          <a:solidFill>
            <a:srgbClr val="F5F5F2"/>
          </a:solidFill>
          <a:ln/>
        </p:spPr>
      </p:sp>
      <p:sp>
        <p:nvSpPr>
          <p:cNvPr id="28" name="Shape 21"/>
          <p:cNvSpPr/>
          <p:nvPr/>
        </p:nvSpPr>
        <p:spPr>
          <a:xfrm>
            <a:off x="6393028" y="4343400"/>
            <a:ext cx="1188720" cy="1188720"/>
          </a:xfrm>
          <a:prstGeom prst="roundRect">
            <a:avLst>
              <a:gd name="adj" fmla="val 7692"/>
            </a:avLst>
          </a:prstGeom>
          <a:solidFill>
            <a:srgbClr val="FFFFFF"/>
          </a:solidFill>
          <a:ln/>
        </p:spPr>
      </p:sp>
      <p:pic>
        <p:nvPicPr>
          <p:cNvPr id="29" name="Image 5" descr="/tmp/claude-0/-home-user-AIInfinity/c029ed01-a8ff-5307-a636-4c28fa3dbac4/scratchpad/lp/jpg/b-safety-v2.jpg">    </p:cNvPr>
          <p:cNvPicPr>
            <a:picLocks noChangeAspect="1"/>
          </p:cNvPicPr>
          <p:nvPr/>
        </p:nvPicPr>
        <p:blipFill>
          <a:blip r:embed="rId6"/>
          <a:stretch>
            <a:fillRect/>
          </a:stretch>
        </p:blipFill>
        <p:spPr>
          <a:xfrm>
            <a:off x="6438748" y="4389120"/>
            <a:ext cx="1097280" cy="1097280"/>
          </a:xfrm>
          <a:prstGeom prst="rect">
            <a:avLst/>
          </a:prstGeom>
        </p:spPr>
      </p:pic>
      <p:sp>
        <p:nvSpPr>
          <p:cNvPr id="30" name="Text 22"/>
          <p:cNvSpPr txBox="1"/>
          <p:nvPr/>
        </p:nvSpPr>
        <p:spPr>
          <a:xfrm>
            <a:off x="7764628" y="4325112"/>
            <a:ext cx="1874520" cy="64008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転倒／タバコ／</a:t>
            </a:r>
            <a:endParaRPr lang="en-US" sz="1500" dirty="0"/>
          </a:p>
          <a:p>
            <a:pPr indent="0" marL="0">
              <a:buNone/>
            </a:pPr>
            <a:r>
              <a:rPr lang="en-US" sz="1500" b="1" dirty="0">
                <a:solidFill>
                  <a:srgbClr val="111111"/>
                </a:solidFill>
                <a:latin typeface="Noto Sans JP" pitchFamily="34" charset="0"/>
                <a:ea typeface="Noto Sans JP" pitchFamily="34" charset="-122"/>
                <a:cs typeface="Noto Sans JP" pitchFamily="34" charset="-120"/>
              </a:rPr>
              <a:t>火災検知</a:t>
            </a:r>
            <a:endParaRPr lang="en-US" sz="1500" dirty="0"/>
          </a:p>
        </p:txBody>
      </p:sp>
      <p:sp>
        <p:nvSpPr>
          <p:cNvPr id="31" name="Text 23"/>
          <p:cNvSpPr txBox="1"/>
          <p:nvPr/>
        </p:nvSpPr>
        <p:spPr>
          <a:xfrm>
            <a:off x="7764628" y="4983480"/>
            <a:ext cx="1874520" cy="960120"/>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転倒・喫煙・火災の兆候を検知し、早期対応につなげます。</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8</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ADD-ON APPS</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追加アプリ（10機能）</a:t>
            </a:r>
            <a:endParaRPr lang="en-US" sz="3000" dirty="0"/>
          </a:p>
        </p:txBody>
      </p:sp>
      <p:sp>
        <p:nvSpPr>
          <p:cNvPr id="7" name="Text 4"/>
          <p:cNvSpPr txBox="1"/>
          <p:nvPr/>
        </p:nvSpPr>
        <p:spPr>
          <a:xfrm>
            <a:off x="548640" y="1508760"/>
            <a:ext cx="7315200" cy="320040"/>
          </a:xfrm>
          <a:prstGeom prst="rect">
            <a:avLst/>
          </a:prstGeom>
          <a:noFill/>
          <a:ln/>
        </p:spPr>
        <p:txBody>
          <a:bodyPr wrap="square" lIns="0" tIns="0" rIns="0" bIns="0" rtlCol="0" anchor="t"/>
          <a:lstStyle/>
          <a:p>
            <a:pPr indent="0" marL="0">
              <a:buNone/>
            </a:pPr>
            <a:r>
              <a:rPr lang="en-US" sz="1400" dirty="0">
                <a:solidFill>
                  <a:srgbClr val="5B5B5B"/>
                </a:solidFill>
                <a:latin typeface="Noto Sans JP" pitchFamily="34" charset="0"/>
                <a:ea typeface="Noto Sans JP" pitchFamily="34" charset="-122"/>
                <a:cs typeface="Noto Sans JP" pitchFamily="34" charset="-120"/>
              </a:rPr>
              <a:t>業種や課題に合わせて、必要なアプリだけを追加できます。</a:t>
            </a:r>
            <a:endParaRPr lang="en-US" sz="1400" dirty="0"/>
          </a:p>
        </p:txBody>
      </p:sp>
      <p:sp>
        <p:nvSpPr>
          <p:cNvPr id="8" name="Shape 5"/>
          <p:cNvSpPr/>
          <p:nvPr/>
        </p:nvSpPr>
        <p:spPr>
          <a:xfrm>
            <a:off x="586588" y="2011680"/>
            <a:ext cx="2057400" cy="1691640"/>
          </a:xfrm>
          <a:prstGeom prst="roundRect">
            <a:avLst>
              <a:gd name="adj" fmla="val 6486"/>
            </a:avLst>
          </a:prstGeom>
          <a:solidFill>
            <a:srgbClr val="FFFFFF"/>
          </a:solidFill>
          <a:ln w="25400">
            <a:solidFill>
              <a:srgbClr val="FFD400"/>
            </a:solidFill>
            <a:prstDash val="solid"/>
          </a:ln>
        </p:spPr>
      </p:sp>
      <p:pic>
        <p:nvPicPr>
          <p:cNvPr id="9" name="Image 1" descr="/tmp/claude-0/-home-user-AIInfinity/c029ed01-a8ff-5307-a636-4c28fa3dbac4/scratchpad/lp/jpg/a-theft-v3.jpg">    </p:cNvPr>
          <p:cNvPicPr>
            <a:picLocks noChangeAspect="1"/>
          </p:cNvPicPr>
          <p:nvPr/>
        </p:nvPicPr>
        <p:blipFill>
          <a:blip r:embed="rId2"/>
          <a:stretch>
            <a:fillRect/>
          </a:stretch>
        </p:blipFill>
        <p:spPr>
          <a:xfrm>
            <a:off x="1135228" y="2148840"/>
            <a:ext cx="960120" cy="960120"/>
          </a:xfrm>
          <a:prstGeom prst="rect">
            <a:avLst/>
          </a:prstGeom>
        </p:spPr>
      </p:pic>
      <p:sp>
        <p:nvSpPr>
          <p:cNvPr id="10" name="Text 6"/>
          <p:cNvSpPr txBox="1"/>
          <p:nvPr/>
        </p:nvSpPr>
        <p:spPr>
          <a:xfrm>
            <a:off x="678028" y="315468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万引き・盗難検知</a:t>
            </a:r>
            <a:endParaRPr lang="en-US" sz="1200" dirty="0"/>
          </a:p>
        </p:txBody>
      </p:sp>
      <p:sp>
        <p:nvSpPr>
          <p:cNvPr id="11" name="Shape 7"/>
          <p:cNvSpPr/>
          <p:nvPr/>
        </p:nvSpPr>
        <p:spPr>
          <a:xfrm>
            <a:off x="2826868" y="2011680"/>
            <a:ext cx="2057400" cy="1691640"/>
          </a:xfrm>
          <a:prstGeom prst="roundRect">
            <a:avLst>
              <a:gd name="adj" fmla="val 6486"/>
            </a:avLst>
          </a:prstGeom>
          <a:solidFill>
            <a:srgbClr val="FFFFFF"/>
          </a:solidFill>
          <a:ln w="25400">
            <a:solidFill>
              <a:srgbClr val="FFD400"/>
            </a:solidFill>
            <a:prstDash val="solid"/>
          </a:ln>
        </p:spPr>
      </p:sp>
      <p:pic>
        <p:nvPicPr>
          <p:cNvPr id="12" name="Image 2" descr="/tmp/claude-0/-home-user-AIInfinity/c029ed01-a8ff-5307-a636-4c28fa3dbac4/scratchpad/lp/jpg/a-crowd-v3.jpg">    </p:cNvPr>
          <p:cNvPicPr>
            <a:picLocks noChangeAspect="1"/>
          </p:cNvPicPr>
          <p:nvPr/>
        </p:nvPicPr>
        <p:blipFill>
          <a:blip r:embed="rId3"/>
          <a:stretch>
            <a:fillRect/>
          </a:stretch>
        </p:blipFill>
        <p:spPr>
          <a:xfrm>
            <a:off x="3375508" y="2148840"/>
            <a:ext cx="960120" cy="960120"/>
          </a:xfrm>
          <a:prstGeom prst="rect">
            <a:avLst/>
          </a:prstGeom>
        </p:spPr>
      </p:pic>
      <p:sp>
        <p:nvSpPr>
          <p:cNvPr id="13" name="Text 8"/>
          <p:cNvSpPr txBox="1"/>
          <p:nvPr/>
        </p:nvSpPr>
        <p:spPr>
          <a:xfrm>
            <a:off x="2918308" y="315468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混雑検知</a:t>
            </a:r>
            <a:endParaRPr lang="en-US" sz="1200" dirty="0"/>
          </a:p>
        </p:txBody>
      </p:sp>
      <p:sp>
        <p:nvSpPr>
          <p:cNvPr id="14" name="Shape 9"/>
          <p:cNvSpPr/>
          <p:nvPr/>
        </p:nvSpPr>
        <p:spPr>
          <a:xfrm>
            <a:off x="5067148" y="2011680"/>
            <a:ext cx="2057400" cy="1691640"/>
          </a:xfrm>
          <a:prstGeom prst="roundRect">
            <a:avLst>
              <a:gd name="adj" fmla="val 6486"/>
            </a:avLst>
          </a:prstGeom>
          <a:solidFill>
            <a:srgbClr val="FFFFFF"/>
          </a:solidFill>
          <a:ln w="25400">
            <a:solidFill>
              <a:srgbClr val="FFD400"/>
            </a:solidFill>
            <a:prstDash val="solid"/>
          </a:ln>
        </p:spPr>
      </p:sp>
      <p:pic>
        <p:nvPicPr>
          <p:cNvPr id="15" name="Image 3" descr="/tmp/claude-0/-home-user-AIInfinity/c029ed01-a8ff-5307-a636-4c28fa3dbac4/scratchpad/lp/jpg/a-layout-v3.jpg">    </p:cNvPr>
          <p:cNvPicPr>
            <a:picLocks noChangeAspect="1"/>
          </p:cNvPicPr>
          <p:nvPr/>
        </p:nvPicPr>
        <p:blipFill>
          <a:blip r:embed="rId4"/>
          <a:stretch>
            <a:fillRect/>
          </a:stretch>
        </p:blipFill>
        <p:spPr>
          <a:xfrm>
            <a:off x="5615788" y="2148840"/>
            <a:ext cx="960120" cy="960120"/>
          </a:xfrm>
          <a:prstGeom prst="rect">
            <a:avLst/>
          </a:prstGeom>
        </p:spPr>
      </p:pic>
      <p:sp>
        <p:nvSpPr>
          <p:cNvPr id="16" name="Text 10"/>
          <p:cNvSpPr txBox="1"/>
          <p:nvPr/>
        </p:nvSpPr>
        <p:spPr>
          <a:xfrm>
            <a:off x="5158588" y="315468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売場最適化</a:t>
            </a:r>
            <a:endParaRPr lang="en-US" sz="1200" dirty="0"/>
          </a:p>
        </p:txBody>
      </p:sp>
      <p:sp>
        <p:nvSpPr>
          <p:cNvPr id="17" name="Shape 11"/>
          <p:cNvSpPr/>
          <p:nvPr/>
        </p:nvSpPr>
        <p:spPr>
          <a:xfrm>
            <a:off x="7307428" y="2011680"/>
            <a:ext cx="2057400" cy="1691640"/>
          </a:xfrm>
          <a:prstGeom prst="roundRect">
            <a:avLst>
              <a:gd name="adj" fmla="val 6486"/>
            </a:avLst>
          </a:prstGeom>
          <a:solidFill>
            <a:srgbClr val="FFFFFF"/>
          </a:solidFill>
          <a:ln w="25400">
            <a:solidFill>
              <a:srgbClr val="FFD400"/>
            </a:solidFill>
            <a:prstDash val="solid"/>
          </a:ln>
        </p:spPr>
      </p:sp>
      <p:pic>
        <p:nvPicPr>
          <p:cNvPr id="18" name="Image 4" descr="/tmp/claude-0/-home-user-AIInfinity/c029ed01-a8ff-5307-a636-4c28fa3dbac4/scratchpad/lp/jpg/a-signage-v3.jpg">    </p:cNvPr>
          <p:cNvPicPr>
            <a:picLocks noChangeAspect="1"/>
          </p:cNvPicPr>
          <p:nvPr/>
        </p:nvPicPr>
        <p:blipFill>
          <a:blip r:embed="rId5"/>
          <a:stretch>
            <a:fillRect/>
          </a:stretch>
        </p:blipFill>
        <p:spPr>
          <a:xfrm>
            <a:off x="7856068" y="2148840"/>
            <a:ext cx="960120" cy="960120"/>
          </a:xfrm>
          <a:prstGeom prst="rect">
            <a:avLst/>
          </a:prstGeom>
        </p:spPr>
      </p:pic>
      <p:sp>
        <p:nvSpPr>
          <p:cNvPr id="19" name="Text 12"/>
          <p:cNvSpPr txBox="1"/>
          <p:nvPr/>
        </p:nvSpPr>
        <p:spPr>
          <a:xfrm>
            <a:off x="7398868" y="315468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サイネージ効果測定</a:t>
            </a:r>
            <a:endParaRPr lang="en-US" sz="1200" dirty="0"/>
          </a:p>
        </p:txBody>
      </p:sp>
      <p:sp>
        <p:nvSpPr>
          <p:cNvPr id="20" name="Shape 13"/>
          <p:cNvSpPr/>
          <p:nvPr/>
        </p:nvSpPr>
        <p:spPr>
          <a:xfrm>
            <a:off x="9547708" y="2011680"/>
            <a:ext cx="2057400" cy="1691640"/>
          </a:xfrm>
          <a:prstGeom prst="roundRect">
            <a:avLst>
              <a:gd name="adj" fmla="val 6486"/>
            </a:avLst>
          </a:prstGeom>
          <a:solidFill>
            <a:srgbClr val="FFFFFF"/>
          </a:solidFill>
          <a:ln w="25400">
            <a:solidFill>
              <a:srgbClr val="FFD400"/>
            </a:solidFill>
            <a:prstDash val="solid"/>
          </a:ln>
        </p:spPr>
      </p:sp>
      <p:pic>
        <p:nvPicPr>
          <p:cNvPr id="21" name="Image 5" descr="/tmp/claude-0/-home-user-AIInfinity/c029ed01-a8ff-5307-a636-4c28fa3dbac4/scratchpad/lp/jpg/a-stock-v3.jpg">    </p:cNvPr>
          <p:cNvPicPr>
            <a:picLocks noChangeAspect="1"/>
          </p:cNvPicPr>
          <p:nvPr/>
        </p:nvPicPr>
        <p:blipFill>
          <a:blip r:embed="rId6"/>
          <a:stretch>
            <a:fillRect/>
          </a:stretch>
        </p:blipFill>
        <p:spPr>
          <a:xfrm>
            <a:off x="10096348" y="2148840"/>
            <a:ext cx="960120" cy="960120"/>
          </a:xfrm>
          <a:prstGeom prst="rect">
            <a:avLst/>
          </a:prstGeom>
        </p:spPr>
      </p:pic>
      <p:sp>
        <p:nvSpPr>
          <p:cNvPr id="22" name="Text 14"/>
          <p:cNvSpPr txBox="1"/>
          <p:nvPr/>
        </p:nvSpPr>
        <p:spPr>
          <a:xfrm>
            <a:off x="9639148" y="315468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在庫管理／自動発注</a:t>
            </a:r>
            <a:endParaRPr lang="en-US" sz="1200" dirty="0"/>
          </a:p>
        </p:txBody>
      </p:sp>
      <p:sp>
        <p:nvSpPr>
          <p:cNvPr id="23" name="Shape 15"/>
          <p:cNvSpPr/>
          <p:nvPr/>
        </p:nvSpPr>
        <p:spPr>
          <a:xfrm>
            <a:off x="586588" y="3886200"/>
            <a:ext cx="2057400" cy="1691640"/>
          </a:xfrm>
          <a:prstGeom prst="roundRect">
            <a:avLst>
              <a:gd name="adj" fmla="val 6486"/>
            </a:avLst>
          </a:prstGeom>
          <a:solidFill>
            <a:srgbClr val="FFFFFF"/>
          </a:solidFill>
          <a:ln w="25400">
            <a:solidFill>
              <a:srgbClr val="FFD400"/>
            </a:solidFill>
            <a:prstDash val="solid"/>
          </a:ln>
        </p:spPr>
      </p:sp>
      <p:pic>
        <p:nvPicPr>
          <p:cNvPr id="24" name="Image 6" descr="/tmp/claude-0/-home-user-AIInfinity/c029ed01-a8ff-5307-a636-4c28fa3dbac4/scratchpad/lp/jpg/a-menu-v3.jpg">    </p:cNvPr>
          <p:cNvPicPr>
            <a:picLocks noChangeAspect="1"/>
          </p:cNvPicPr>
          <p:nvPr/>
        </p:nvPicPr>
        <p:blipFill>
          <a:blip r:embed="rId7"/>
          <a:stretch>
            <a:fillRect/>
          </a:stretch>
        </p:blipFill>
        <p:spPr>
          <a:xfrm>
            <a:off x="1135228" y="4023360"/>
            <a:ext cx="960120" cy="960120"/>
          </a:xfrm>
          <a:prstGeom prst="rect">
            <a:avLst/>
          </a:prstGeom>
        </p:spPr>
      </p:pic>
      <p:sp>
        <p:nvSpPr>
          <p:cNvPr id="25" name="Text 16"/>
          <p:cNvSpPr txBox="1"/>
          <p:nvPr/>
        </p:nvSpPr>
        <p:spPr>
          <a:xfrm>
            <a:off x="678028" y="502920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メニュー改善</a:t>
            </a:r>
            <a:endParaRPr lang="en-US" sz="1200" dirty="0"/>
          </a:p>
        </p:txBody>
      </p:sp>
      <p:sp>
        <p:nvSpPr>
          <p:cNvPr id="26" name="Shape 17"/>
          <p:cNvSpPr/>
          <p:nvPr/>
        </p:nvSpPr>
        <p:spPr>
          <a:xfrm>
            <a:off x="2826868" y="3886200"/>
            <a:ext cx="2057400" cy="1691640"/>
          </a:xfrm>
          <a:prstGeom prst="roundRect">
            <a:avLst>
              <a:gd name="adj" fmla="val 6486"/>
            </a:avLst>
          </a:prstGeom>
          <a:solidFill>
            <a:srgbClr val="FFFFFF"/>
          </a:solidFill>
          <a:ln w="25400">
            <a:solidFill>
              <a:srgbClr val="FFD400"/>
            </a:solidFill>
            <a:prstDash val="solid"/>
          </a:ln>
        </p:spPr>
      </p:sp>
      <p:pic>
        <p:nvPicPr>
          <p:cNvPr id="27" name="Image 7" descr="/tmp/claude-0/-home-user-AIInfinity/c029ed01-a8ff-5307-a636-4c28fa3dbac4/scratchpad/lp/jpg/a-table-v3.jpg">    </p:cNvPr>
          <p:cNvPicPr>
            <a:picLocks noChangeAspect="1"/>
          </p:cNvPicPr>
          <p:nvPr/>
        </p:nvPicPr>
        <p:blipFill>
          <a:blip r:embed="rId8"/>
          <a:stretch>
            <a:fillRect/>
          </a:stretch>
        </p:blipFill>
        <p:spPr>
          <a:xfrm>
            <a:off x="3375508" y="4023360"/>
            <a:ext cx="960120" cy="960120"/>
          </a:xfrm>
          <a:prstGeom prst="rect">
            <a:avLst/>
          </a:prstGeom>
        </p:spPr>
      </p:pic>
      <p:sp>
        <p:nvSpPr>
          <p:cNvPr id="28" name="Text 18"/>
          <p:cNvSpPr txBox="1"/>
          <p:nvPr/>
        </p:nvSpPr>
        <p:spPr>
          <a:xfrm>
            <a:off x="2918308" y="502920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テーブル滞在・売上分析</a:t>
            </a:r>
            <a:endParaRPr lang="en-US" sz="1200" dirty="0"/>
          </a:p>
        </p:txBody>
      </p:sp>
      <p:sp>
        <p:nvSpPr>
          <p:cNvPr id="29" name="Shape 19"/>
          <p:cNvSpPr/>
          <p:nvPr/>
        </p:nvSpPr>
        <p:spPr>
          <a:xfrm>
            <a:off x="5067148" y="3886200"/>
            <a:ext cx="2057400" cy="1691640"/>
          </a:xfrm>
          <a:prstGeom prst="roundRect">
            <a:avLst>
              <a:gd name="adj" fmla="val 6486"/>
            </a:avLst>
          </a:prstGeom>
          <a:solidFill>
            <a:srgbClr val="FFFFFF"/>
          </a:solidFill>
          <a:ln w="25400">
            <a:solidFill>
              <a:srgbClr val="FFD400"/>
            </a:solidFill>
            <a:prstDash val="solid"/>
          </a:ln>
        </p:spPr>
      </p:sp>
      <p:pic>
        <p:nvPicPr>
          <p:cNvPr id="30" name="Image 8" descr="/tmp/claude-0/-home-user-AIInfinity/c029ed01-a8ff-5307-a636-4c28fa3dbac4/scratchpad/lp/jpg/a-gear-v3.jpg">    </p:cNvPr>
          <p:cNvPicPr>
            <a:picLocks noChangeAspect="1"/>
          </p:cNvPicPr>
          <p:nvPr/>
        </p:nvPicPr>
        <p:blipFill>
          <a:blip r:embed="rId9"/>
          <a:stretch>
            <a:fillRect/>
          </a:stretch>
        </p:blipFill>
        <p:spPr>
          <a:xfrm>
            <a:off x="5615788" y="4023360"/>
            <a:ext cx="960120" cy="960120"/>
          </a:xfrm>
          <a:prstGeom prst="rect">
            <a:avLst/>
          </a:prstGeom>
        </p:spPr>
      </p:pic>
      <p:sp>
        <p:nvSpPr>
          <p:cNvPr id="31" name="Text 20"/>
          <p:cNvSpPr txBox="1"/>
          <p:nvPr/>
        </p:nvSpPr>
        <p:spPr>
          <a:xfrm>
            <a:off x="5158588" y="502920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作業員装備確認／省人化</a:t>
            </a:r>
            <a:endParaRPr lang="en-US" sz="1200" dirty="0"/>
          </a:p>
        </p:txBody>
      </p:sp>
      <p:sp>
        <p:nvSpPr>
          <p:cNvPr id="32" name="Shape 21"/>
          <p:cNvSpPr/>
          <p:nvPr/>
        </p:nvSpPr>
        <p:spPr>
          <a:xfrm>
            <a:off x="7307428" y="3886200"/>
            <a:ext cx="2057400" cy="1691640"/>
          </a:xfrm>
          <a:prstGeom prst="roundRect">
            <a:avLst>
              <a:gd name="adj" fmla="val 6486"/>
            </a:avLst>
          </a:prstGeom>
          <a:solidFill>
            <a:srgbClr val="FFFFFF"/>
          </a:solidFill>
          <a:ln w="25400">
            <a:solidFill>
              <a:srgbClr val="FFD400"/>
            </a:solidFill>
            <a:prstDash val="solid"/>
          </a:ln>
        </p:spPr>
      </p:sp>
      <p:pic>
        <p:nvPicPr>
          <p:cNvPr id="33" name="Image 9" descr="/tmp/claude-0/-home-user-AIInfinity/c029ed01-a8ff-5307-a636-4c28fa3dbac4/scratchpad/lp/jpg/a-cargo-v3.jpg">    </p:cNvPr>
          <p:cNvPicPr>
            <a:picLocks noChangeAspect="1"/>
          </p:cNvPicPr>
          <p:nvPr/>
        </p:nvPicPr>
        <p:blipFill>
          <a:blip r:embed="rId10"/>
          <a:stretch>
            <a:fillRect/>
          </a:stretch>
        </p:blipFill>
        <p:spPr>
          <a:xfrm>
            <a:off x="7856068" y="4023360"/>
            <a:ext cx="960120" cy="960120"/>
          </a:xfrm>
          <a:prstGeom prst="rect">
            <a:avLst/>
          </a:prstGeom>
        </p:spPr>
      </p:pic>
      <p:sp>
        <p:nvSpPr>
          <p:cNvPr id="34" name="Text 22"/>
          <p:cNvSpPr txBox="1"/>
          <p:nvPr/>
        </p:nvSpPr>
        <p:spPr>
          <a:xfrm>
            <a:off x="7398868" y="502920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荷役時間の計測</a:t>
            </a:r>
            <a:endParaRPr lang="en-US" sz="1200" dirty="0"/>
          </a:p>
        </p:txBody>
      </p:sp>
      <p:sp>
        <p:nvSpPr>
          <p:cNvPr id="35" name="Shape 23"/>
          <p:cNvSpPr/>
          <p:nvPr/>
        </p:nvSpPr>
        <p:spPr>
          <a:xfrm>
            <a:off x="9547708" y="3886200"/>
            <a:ext cx="2057400" cy="1691640"/>
          </a:xfrm>
          <a:prstGeom prst="roundRect">
            <a:avLst>
              <a:gd name="adj" fmla="val 6486"/>
            </a:avLst>
          </a:prstGeom>
          <a:solidFill>
            <a:srgbClr val="FFFFFF"/>
          </a:solidFill>
          <a:ln w="25400">
            <a:solidFill>
              <a:srgbClr val="FFD400"/>
            </a:solidFill>
            <a:prstDash val="solid"/>
          </a:ln>
        </p:spPr>
      </p:sp>
      <p:pic>
        <p:nvPicPr>
          <p:cNvPr id="36" name="Image 10" descr="/tmp/claude-0/-home-user-AIInfinity/c029ed01-a8ff-5307-a636-4c28fa3dbac4/scratchpad/lp/jpg/a-inspect-v3.jpg">    </p:cNvPr>
          <p:cNvPicPr>
            <a:picLocks noChangeAspect="1"/>
          </p:cNvPicPr>
          <p:nvPr/>
        </p:nvPicPr>
        <p:blipFill>
          <a:blip r:embed="rId11"/>
          <a:stretch>
            <a:fillRect/>
          </a:stretch>
        </p:blipFill>
        <p:spPr>
          <a:xfrm>
            <a:off x="10096348" y="4023360"/>
            <a:ext cx="960120" cy="960120"/>
          </a:xfrm>
          <a:prstGeom prst="rect">
            <a:avLst/>
          </a:prstGeom>
        </p:spPr>
      </p:pic>
      <p:sp>
        <p:nvSpPr>
          <p:cNvPr id="37" name="Text 24"/>
          <p:cNvSpPr txBox="1"/>
          <p:nvPr/>
        </p:nvSpPr>
        <p:spPr>
          <a:xfrm>
            <a:off x="9639148" y="5029200"/>
            <a:ext cx="187452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自動検品／仕分け</a:t>
            </a:r>
            <a:endParaRPr lang="en-US" sz="1200" dirty="0"/>
          </a:p>
        </p:txBody>
      </p:sp>
      <p:sp>
        <p:nvSpPr>
          <p:cNvPr id="38" name="Text 25"/>
          <p:cNvSpPr txBox="1"/>
          <p:nvPr/>
        </p:nvSpPr>
        <p:spPr>
          <a:xfrm>
            <a:off x="586588" y="5760720"/>
            <a:ext cx="2926080" cy="365760"/>
          </a:xfrm>
          <a:prstGeom prst="rect">
            <a:avLst/>
          </a:prstGeom>
          <a:noFill/>
          <a:ln/>
        </p:spPr>
        <p:txBody>
          <a:bodyPr wrap="square" lIns="0" tIns="0" rIns="0" bIns="0" rtlCol="0" anchor="ctr"/>
          <a:lstStyle/>
          <a:p>
            <a:pPr indent="0" marL="0">
              <a:buNone/>
            </a:pPr>
            <a:r>
              <a:rPr lang="en-US" sz="1300" b="1" dirty="0">
                <a:solidFill>
                  <a:srgbClr val="111111"/>
                </a:solidFill>
                <a:latin typeface="Noto Sans JP" pitchFamily="34" charset="0"/>
                <a:ea typeface="Noto Sans JP" pitchFamily="34" charset="-122"/>
                <a:cs typeface="Noto Sans JP" pitchFamily="34" charset="-120"/>
              </a:rPr>
              <a:t>さらに、分析を活かす仕組み</a:t>
            </a:r>
            <a:endParaRPr lang="en-US" sz="1300" dirty="0"/>
          </a:p>
        </p:txBody>
      </p:sp>
      <p:sp>
        <p:nvSpPr>
          <p:cNvPr id="39" name="Shape 26"/>
          <p:cNvSpPr/>
          <p:nvPr/>
        </p:nvSpPr>
        <p:spPr>
          <a:xfrm>
            <a:off x="3512668" y="5760720"/>
            <a:ext cx="1325880" cy="365760"/>
          </a:xfrm>
          <a:prstGeom prst="roundRect">
            <a:avLst>
              <a:gd name="adj" fmla="val 50000"/>
            </a:avLst>
          </a:prstGeom>
          <a:solidFill>
            <a:srgbClr val="FFF8D6"/>
          </a:solidFill>
          <a:ln w="12700">
            <a:solidFill>
              <a:srgbClr val="FFD400"/>
            </a:solidFill>
            <a:prstDash val="solid"/>
          </a:ln>
        </p:spPr>
      </p:sp>
      <p:sp>
        <p:nvSpPr>
          <p:cNvPr id="40" name="Text 27"/>
          <p:cNvSpPr txBox="1"/>
          <p:nvPr/>
        </p:nvSpPr>
        <p:spPr>
          <a:xfrm>
            <a:off x="3512668" y="5760720"/>
            <a:ext cx="132588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AIチャット</a:t>
            </a:r>
            <a:endParaRPr lang="en-US" sz="1150" dirty="0"/>
          </a:p>
        </p:txBody>
      </p:sp>
      <p:sp>
        <p:nvSpPr>
          <p:cNvPr id="41" name="Shape 28"/>
          <p:cNvSpPr/>
          <p:nvPr/>
        </p:nvSpPr>
        <p:spPr>
          <a:xfrm>
            <a:off x="4948276" y="5760720"/>
            <a:ext cx="2057400" cy="365760"/>
          </a:xfrm>
          <a:prstGeom prst="roundRect">
            <a:avLst>
              <a:gd name="adj" fmla="val 50000"/>
            </a:avLst>
          </a:prstGeom>
          <a:solidFill>
            <a:srgbClr val="FFF8D6"/>
          </a:solidFill>
          <a:ln w="12700">
            <a:solidFill>
              <a:srgbClr val="FFD400"/>
            </a:solidFill>
            <a:prstDash val="solid"/>
          </a:ln>
        </p:spPr>
      </p:sp>
      <p:sp>
        <p:nvSpPr>
          <p:cNvPr id="42" name="Text 29"/>
          <p:cNvSpPr txBox="1"/>
          <p:nvPr/>
        </p:nvSpPr>
        <p:spPr>
          <a:xfrm>
            <a:off x="4948276" y="5760720"/>
            <a:ext cx="205740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POS・天候などと連携</a:t>
            </a:r>
            <a:endParaRPr lang="en-US" sz="1150" dirty="0"/>
          </a:p>
        </p:txBody>
      </p:sp>
      <p:sp>
        <p:nvSpPr>
          <p:cNvPr id="43" name="Shape 30"/>
          <p:cNvSpPr/>
          <p:nvPr/>
        </p:nvSpPr>
        <p:spPr>
          <a:xfrm>
            <a:off x="7115404" y="5760720"/>
            <a:ext cx="1463040" cy="365760"/>
          </a:xfrm>
          <a:prstGeom prst="roundRect">
            <a:avLst>
              <a:gd name="adj" fmla="val 50000"/>
            </a:avLst>
          </a:prstGeom>
          <a:solidFill>
            <a:srgbClr val="FFF8D6"/>
          </a:solidFill>
          <a:ln w="12700">
            <a:solidFill>
              <a:srgbClr val="FFD400"/>
            </a:solidFill>
            <a:prstDash val="solid"/>
          </a:ln>
        </p:spPr>
      </p:sp>
      <p:sp>
        <p:nvSpPr>
          <p:cNvPr id="44" name="Text 31"/>
          <p:cNvSpPr txBox="1"/>
          <p:nvPr/>
        </p:nvSpPr>
        <p:spPr>
          <a:xfrm>
            <a:off x="7115404" y="5760720"/>
            <a:ext cx="146304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ダッシュボード</a:t>
            </a:r>
            <a:endParaRPr lang="en-US" sz="1150" dirty="0"/>
          </a:p>
        </p:txBody>
      </p:sp>
      <p:sp>
        <p:nvSpPr>
          <p:cNvPr id="45" name="Shape 32"/>
          <p:cNvSpPr/>
          <p:nvPr/>
        </p:nvSpPr>
        <p:spPr>
          <a:xfrm>
            <a:off x="8688172" y="5760720"/>
            <a:ext cx="3108960" cy="365760"/>
          </a:xfrm>
          <a:prstGeom prst="roundRect">
            <a:avLst>
              <a:gd name="adj" fmla="val 50000"/>
            </a:avLst>
          </a:prstGeom>
          <a:solidFill>
            <a:srgbClr val="FFF8D6"/>
          </a:solidFill>
          <a:ln w="12700">
            <a:solidFill>
              <a:srgbClr val="FFD400"/>
            </a:solidFill>
            <a:prstDash val="solid"/>
          </a:ln>
        </p:spPr>
      </p:sp>
      <p:sp>
        <p:nvSpPr>
          <p:cNvPr id="46" name="Text 33"/>
          <p:cNvSpPr txBox="1"/>
          <p:nvPr/>
        </p:nvSpPr>
        <p:spPr>
          <a:xfrm>
            <a:off x="8688172" y="5760720"/>
            <a:ext cx="31089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匿名テキスト通知・施設内映像処理</a:t>
            </a:r>
            <a:endParaRPr lang="en-US" sz="1150" dirty="0"/>
          </a:p>
        </p:txBody>
      </p:sp>
      <p:sp>
        <p:nvSpPr>
          <p:cNvPr id="47" name="Text 34"/>
          <p:cNvSpPr txBox="1"/>
          <p:nvPr/>
        </p:nvSpPr>
        <p:spPr>
          <a:xfrm>
            <a:off x="548640" y="6263640"/>
            <a:ext cx="9144000" cy="274320"/>
          </a:xfrm>
          <a:prstGeom prst="rect">
            <a:avLst/>
          </a:prstGeom>
          <a:noFill/>
          <a:ln/>
        </p:spPr>
        <p:txBody>
          <a:bodyPr wrap="square" lIns="0" tIns="0" rIns="0" bIns="0" rtlCol="0" anchor="t"/>
          <a:lstStyle/>
          <a:p>
            <a:pPr indent="0" marL="0">
              <a:buNone/>
            </a:pPr>
            <a:r>
              <a:rPr lang="en-US" sz="1000" dirty="0">
                <a:solidFill>
                  <a:srgbClr val="5B5B5B"/>
                </a:solidFill>
                <a:latin typeface="Noto Sans JP" pitchFamily="34" charset="0"/>
                <a:ea typeface="Noto Sans JP" pitchFamily="34" charset="-122"/>
                <a:cs typeface="Noto Sans JP" pitchFamily="34" charset="-120"/>
              </a:rPr>
              <a:t>※一部に開発予定・提供予定の機能を含みます。提供時期や対応範囲はお問い合わせください。</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2"/>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9</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USE CASE</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業種別の活用例</a:t>
            </a:r>
            <a:endParaRPr lang="en-US" sz="3000" dirty="0"/>
          </a:p>
        </p:txBody>
      </p:sp>
      <p:sp>
        <p:nvSpPr>
          <p:cNvPr id="7" name="Text 4"/>
          <p:cNvSpPr txBox="1"/>
          <p:nvPr/>
        </p:nvSpPr>
        <p:spPr>
          <a:xfrm>
            <a:off x="548640" y="1508760"/>
            <a:ext cx="10058400" cy="320040"/>
          </a:xfrm>
          <a:prstGeom prst="rect">
            <a:avLst/>
          </a:prstGeom>
          <a:noFill/>
          <a:ln/>
        </p:spPr>
        <p:txBody>
          <a:bodyPr wrap="square" lIns="0" tIns="0" rIns="0" bIns="0" rtlCol="0" anchor="t"/>
          <a:lstStyle/>
          <a:p>
            <a:pPr indent="0" marL="0">
              <a:buNone/>
            </a:pPr>
            <a:r>
              <a:rPr lang="en-US" sz="1300" dirty="0">
                <a:solidFill>
                  <a:srgbClr val="5B5B5B"/>
                </a:solidFill>
                <a:latin typeface="Noto Sans JP" pitchFamily="34" charset="0"/>
                <a:ea typeface="Noto Sans JP" pitchFamily="34" charset="-122"/>
                <a:cs typeface="Noto Sans JP" pitchFamily="34" charset="-120"/>
              </a:rPr>
              <a:t>既存の映像を、現場の判断と行動へ。サービス資料に基づく、想定されるユースケースです（導入実績ではありません）。</a:t>
            </a:r>
            <a:endParaRPr lang="en-US" sz="1300" dirty="0"/>
          </a:p>
        </p:txBody>
      </p:sp>
      <p:sp>
        <p:nvSpPr>
          <p:cNvPr id="8" name="Shape 5"/>
          <p:cNvSpPr/>
          <p:nvPr/>
        </p:nvSpPr>
        <p:spPr>
          <a:xfrm>
            <a:off x="472288" y="2103120"/>
            <a:ext cx="2103120" cy="4114800"/>
          </a:xfrm>
          <a:prstGeom prst="roundRect">
            <a:avLst>
              <a:gd name="adj" fmla="val 5217"/>
            </a:avLst>
          </a:prstGeom>
          <a:solidFill>
            <a:srgbClr val="FFFFFF"/>
          </a:solidFill>
          <a:ln/>
        </p:spPr>
      </p:sp>
      <p:pic>
        <p:nvPicPr>
          <p:cNvPr id="9" name="Image 1" descr="/tmp/claude-0/-home-user-AIInfinity/c029ed01-a8ff-5307-a636-4c28fa3dbac4/scratchpad/lp/jpg/case-retail-v2.jpg">    </p:cNvPr>
          <p:cNvPicPr>
            <a:picLocks noChangeAspect="1"/>
          </p:cNvPicPr>
          <p:nvPr/>
        </p:nvPicPr>
        <p:blipFill>
          <a:blip r:embed="rId2"/>
          <a:stretch>
            <a:fillRect/>
          </a:stretch>
        </p:blipFill>
        <p:spPr>
          <a:xfrm>
            <a:off x="472288" y="2103120"/>
            <a:ext cx="2103120" cy="1331275"/>
          </a:xfrm>
          <a:prstGeom prst="rect">
            <a:avLst/>
          </a:prstGeom>
        </p:spPr>
      </p:pic>
      <p:sp>
        <p:nvSpPr>
          <p:cNvPr id="10" name="Text 6"/>
          <p:cNvSpPr txBox="1"/>
          <p:nvPr/>
        </p:nvSpPr>
        <p:spPr>
          <a:xfrm>
            <a:off x="655168" y="3566160"/>
            <a:ext cx="1371600" cy="274320"/>
          </a:xfrm>
          <a:prstGeom prst="rect">
            <a:avLst/>
          </a:prstGeom>
          <a:noFill/>
          <a:ln/>
        </p:spPr>
        <p:txBody>
          <a:bodyPr wrap="square" lIns="0" tIns="0" rIns="0" bIns="0" rtlCol="0" anchor="t"/>
          <a:lstStyle/>
          <a:p>
            <a:pPr indent="0" marL="0">
              <a:buNone/>
            </a:pPr>
            <a:r>
              <a:rPr lang="en-US" sz="1000" b="1" spc="200" kern="0" dirty="0">
                <a:solidFill>
                  <a:srgbClr val="5B5B5B"/>
                </a:solidFill>
                <a:latin typeface="Noto Sans JP" pitchFamily="34" charset="0"/>
                <a:ea typeface="Noto Sans JP" pitchFamily="34" charset="-122"/>
                <a:cs typeface="Noto Sans JP" pitchFamily="34" charset="-120"/>
              </a:rPr>
              <a:t>CASE 01</a:t>
            </a:r>
            <a:endParaRPr lang="en-US" sz="1000" dirty="0"/>
          </a:p>
        </p:txBody>
      </p:sp>
      <p:sp>
        <p:nvSpPr>
          <p:cNvPr id="11" name="Text 7"/>
          <p:cNvSpPr txBox="1"/>
          <p:nvPr/>
        </p:nvSpPr>
        <p:spPr>
          <a:xfrm>
            <a:off x="655168" y="3840480"/>
            <a:ext cx="1737360" cy="411480"/>
          </a:xfrm>
          <a:prstGeom prst="rect">
            <a:avLst/>
          </a:prstGeom>
          <a:noFill/>
          <a:ln/>
        </p:spPr>
        <p:txBody>
          <a:bodyPr wrap="square" lIns="0" tIns="0" rIns="0" bIns="0" rtlCol="0" anchor="t"/>
          <a:lstStyle/>
          <a:p>
            <a:pPr indent="0" marL="0">
              <a:buNone/>
            </a:pPr>
            <a:r>
              <a:rPr lang="en-US" sz="1600" b="1" dirty="0">
                <a:solidFill>
                  <a:srgbClr val="111111"/>
                </a:solidFill>
                <a:latin typeface="Noto Sans JP" pitchFamily="34" charset="0"/>
                <a:ea typeface="Noto Sans JP" pitchFamily="34" charset="-122"/>
                <a:cs typeface="Noto Sans JP" pitchFamily="34" charset="-120"/>
              </a:rPr>
              <a:t>スーパー・小売</a:t>
            </a:r>
            <a:endParaRPr lang="en-US" sz="1600" dirty="0"/>
          </a:p>
        </p:txBody>
      </p:sp>
      <p:sp>
        <p:nvSpPr>
          <p:cNvPr id="12" name="Shape 8"/>
          <p:cNvSpPr/>
          <p:nvPr/>
        </p:nvSpPr>
        <p:spPr>
          <a:xfrm>
            <a:off x="609448" y="4434840"/>
            <a:ext cx="1828800" cy="411480"/>
          </a:xfrm>
          <a:prstGeom prst="roundRect">
            <a:avLst>
              <a:gd name="adj" fmla="val 17778"/>
            </a:avLst>
          </a:prstGeom>
          <a:solidFill>
            <a:srgbClr val="FFF8D6"/>
          </a:solidFill>
          <a:ln/>
        </p:spPr>
      </p:sp>
      <p:sp>
        <p:nvSpPr>
          <p:cNvPr id="13" name="Text 9"/>
          <p:cNvSpPr txBox="1"/>
          <p:nvPr/>
        </p:nvSpPr>
        <p:spPr>
          <a:xfrm>
            <a:off x="673456" y="4434840"/>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レジ配置の最適化</a:t>
            </a:r>
            <a:endParaRPr lang="en-US" sz="1000" dirty="0"/>
          </a:p>
        </p:txBody>
      </p:sp>
      <p:sp>
        <p:nvSpPr>
          <p:cNvPr id="14" name="Shape 10"/>
          <p:cNvSpPr/>
          <p:nvPr/>
        </p:nvSpPr>
        <p:spPr>
          <a:xfrm>
            <a:off x="609448" y="4965192"/>
            <a:ext cx="1828800" cy="411480"/>
          </a:xfrm>
          <a:prstGeom prst="roundRect">
            <a:avLst>
              <a:gd name="adj" fmla="val 17778"/>
            </a:avLst>
          </a:prstGeom>
          <a:solidFill>
            <a:srgbClr val="FFF8D6"/>
          </a:solidFill>
          <a:ln/>
        </p:spPr>
      </p:sp>
      <p:sp>
        <p:nvSpPr>
          <p:cNvPr id="15" name="Text 11"/>
          <p:cNvSpPr txBox="1"/>
          <p:nvPr/>
        </p:nvSpPr>
        <p:spPr>
          <a:xfrm>
            <a:off x="673456" y="4965192"/>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値引き・発注の判断材料</a:t>
            </a:r>
            <a:endParaRPr lang="en-US" sz="1000" dirty="0"/>
          </a:p>
        </p:txBody>
      </p:sp>
      <p:sp>
        <p:nvSpPr>
          <p:cNvPr id="16" name="Shape 12"/>
          <p:cNvSpPr/>
          <p:nvPr/>
        </p:nvSpPr>
        <p:spPr>
          <a:xfrm>
            <a:off x="609448" y="5495544"/>
            <a:ext cx="1828800" cy="411480"/>
          </a:xfrm>
          <a:prstGeom prst="roundRect">
            <a:avLst>
              <a:gd name="adj" fmla="val 17778"/>
            </a:avLst>
          </a:prstGeom>
          <a:solidFill>
            <a:srgbClr val="FFF8D6"/>
          </a:solidFill>
          <a:ln/>
        </p:spPr>
      </p:sp>
      <p:sp>
        <p:nvSpPr>
          <p:cNvPr id="17" name="Text 13"/>
          <p:cNvSpPr txBox="1"/>
          <p:nvPr/>
        </p:nvSpPr>
        <p:spPr>
          <a:xfrm>
            <a:off x="673456" y="5495544"/>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万引きなどのロス防止</a:t>
            </a:r>
            <a:endParaRPr lang="en-US" sz="1000" dirty="0"/>
          </a:p>
        </p:txBody>
      </p:sp>
      <p:sp>
        <p:nvSpPr>
          <p:cNvPr id="18" name="Shape 14"/>
          <p:cNvSpPr/>
          <p:nvPr/>
        </p:nvSpPr>
        <p:spPr>
          <a:xfrm>
            <a:off x="2758288" y="2103120"/>
            <a:ext cx="2103120" cy="4114800"/>
          </a:xfrm>
          <a:prstGeom prst="roundRect">
            <a:avLst>
              <a:gd name="adj" fmla="val 5217"/>
            </a:avLst>
          </a:prstGeom>
          <a:solidFill>
            <a:srgbClr val="FFFFFF"/>
          </a:solidFill>
          <a:ln/>
        </p:spPr>
      </p:sp>
      <p:pic>
        <p:nvPicPr>
          <p:cNvPr id="19" name="Image 2" descr="/tmp/claude-0/-home-user-AIInfinity/c029ed01-a8ff-5307-a636-4c28fa3dbac4/scratchpad/lp/jpg/case-restaurant-v2.jpg">    </p:cNvPr>
          <p:cNvPicPr>
            <a:picLocks noChangeAspect="1"/>
          </p:cNvPicPr>
          <p:nvPr/>
        </p:nvPicPr>
        <p:blipFill>
          <a:blip r:embed="rId3"/>
          <a:stretch>
            <a:fillRect/>
          </a:stretch>
        </p:blipFill>
        <p:spPr>
          <a:xfrm>
            <a:off x="2758288" y="2103120"/>
            <a:ext cx="2103120" cy="1331275"/>
          </a:xfrm>
          <a:prstGeom prst="rect">
            <a:avLst/>
          </a:prstGeom>
        </p:spPr>
      </p:pic>
      <p:sp>
        <p:nvSpPr>
          <p:cNvPr id="20" name="Text 15"/>
          <p:cNvSpPr txBox="1"/>
          <p:nvPr/>
        </p:nvSpPr>
        <p:spPr>
          <a:xfrm>
            <a:off x="2941168" y="3566160"/>
            <a:ext cx="1371600" cy="274320"/>
          </a:xfrm>
          <a:prstGeom prst="rect">
            <a:avLst/>
          </a:prstGeom>
          <a:noFill/>
          <a:ln/>
        </p:spPr>
        <p:txBody>
          <a:bodyPr wrap="square" lIns="0" tIns="0" rIns="0" bIns="0" rtlCol="0" anchor="t"/>
          <a:lstStyle/>
          <a:p>
            <a:pPr indent="0" marL="0">
              <a:buNone/>
            </a:pPr>
            <a:r>
              <a:rPr lang="en-US" sz="1000" b="1" spc="200" kern="0" dirty="0">
                <a:solidFill>
                  <a:srgbClr val="5B5B5B"/>
                </a:solidFill>
                <a:latin typeface="Noto Sans JP" pitchFamily="34" charset="0"/>
                <a:ea typeface="Noto Sans JP" pitchFamily="34" charset="-122"/>
                <a:cs typeface="Noto Sans JP" pitchFamily="34" charset="-120"/>
              </a:rPr>
              <a:t>CASE 02</a:t>
            </a:r>
            <a:endParaRPr lang="en-US" sz="1000" dirty="0"/>
          </a:p>
        </p:txBody>
      </p:sp>
      <p:sp>
        <p:nvSpPr>
          <p:cNvPr id="21" name="Text 16"/>
          <p:cNvSpPr txBox="1"/>
          <p:nvPr/>
        </p:nvSpPr>
        <p:spPr>
          <a:xfrm>
            <a:off x="2941168" y="3840480"/>
            <a:ext cx="1737360" cy="411480"/>
          </a:xfrm>
          <a:prstGeom prst="rect">
            <a:avLst/>
          </a:prstGeom>
          <a:noFill/>
          <a:ln/>
        </p:spPr>
        <p:txBody>
          <a:bodyPr wrap="square" lIns="0" tIns="0" rIns="0" bIns="0" rtlCol="0" anchor="t"/>
          <a:lstStyle/>
          <a:p>
            <a:pPr indent="0" marL="0">
              <a:buNone/>
            </a:pPr>
            <a:r>
              <a:rPr lang="en-US" sz="1600" b="1" dirty="0">
                <a:solidFill>
                  <a:srgbClr val="111111"/>
                </a:solidFill>
                <a:latin typeface="Noto Sans JP" pitchFamily="34" charset="0"/>
                <a:ea typeface="Noto Sans JP" pitchFamily="34" charset="-122"/>
                <a:cs typeface="Noto Sans JP" pitchFamily="34" charset="-120"/>
              </a:rPr>
              <a:t>飲食店</a:t>
            </a:r>
            <a:endParaRPr lang="en-US" sz="1600" dirty="0"/>
          </a:p>
        </p:txBody>
      </p:sp>
      <p:sp>
        <p:nvSpPr>
          <p:cNvPr id="22" name="Shape 17"/>
          <p:cNvSpPr/>
          <p:nvPr/>
        </p:nvSpPr>
        <p:spPr>
          <a:xfrm>
            <a:off x="2895448" y="4434840"/>
            <a:ext cx="1828800" cy="411480"/>
          </a:xfrm>
          <a:prstGeom prst="roundRect">
            <a:avLst>
              <a:gd name="adj" fmla="val 17778"/>
            </a:avLst>
          </a:prstGeom>
          <a:solidFill>
            <a:srgbClr val="FFF8D6"/>
          </a:solidFill>
          <a:ln/>
        </p:spPr>
      </p:sp>
      <p:sp>
        <p:nvSpPr>
          <p:cNvPr id="23" name="Text 18"/>
          <p:cNvSpPr txBox="1"/>
          <p:nvPr/>
        </p:nvSpPr>
        <p:spPr>
          <a:xfrm>
            <a:off x="2959456" y="4434840"/>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片付け・案内の迅速化</a:t>
            </a:r>
            <a:endParaRPr lang="en-US" sz="1000" dirty="0"/>
          </a:p>
        </p:txBody>
      </p:sp>
      <p:sp>
        <p:nvSpPr>
          <p:cNvPr id="24" name="Shape 19"/>
          <p:cNvSpPr/>
          <p:nvPr/>
        </p:nvSpPr>
        <p:spPr>
          <a:xfrm>
            <a:off x="2895448" y="4965192"/>
            <a:ext cx="1828800" cy="411480"/>
          </a:xfrm>
          <a:prstGeom prst="roundRect">
            <a:avLst>
              <a:gd name="adj" fmla="val 17778"/>
            </a:avLst>
          </a:prstGeom>
          <a:solidFill>
            <a:srgbClr val="FFF8D6"/>
          </a:solidFill>
          <a:ln/>
        </p:spPr>
      </p:sp>
      <p:sp>
        <p:nvSpPr>
          <p:cNvPr id="25" name="Text 20"/>
          <p:cNvSpPr txBox="1"/>
          <p:nvPr/>
        </p:nvSpPr>
        <p:spPr>
          <a:xfrm>
            <a:off x="2959456" y="4965192"/>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追加注文のきっかけづくり</a:t>
            </a:r>
            <a:endParaRPr lang="en-US" sz="1000" dirty="0"/>
          </a:p>
        </p:txBody>
      </p:sp>
      <p:sp>
        <p:nvSpPr>
          <p:cNvPr id="26" name="Shape 21"/>
          <p:cNvSpPr/>
          <p:nvPr/>
        </p:nvSpPr>
        <p:spPr>
          <a:xfrm>
            <a:off x="2895448" y="5495544"/>
            <a:ext cx="1828800" cy="411480"/>
          </a:xfrm>
          <a:prstGeom prst="roundRect">
            <a:avLst>
              <a:gd name="adj" fmla="val 17778"/>
            </a:avLst>
          </a:prstGeom>
          <a:solidFill>
            <a:srgbClr val="FFF8D6"/>
          </a:solidFill>
          <a:ln/>
        </p:spPr>
      </p:sp>
      <p:sp>
        <p:nvSpPr>
          <p:cNvPr id="27" name="Text 22"/>
          <p:cNvSpPr txBox="1"/>
          <p:nvPr/>
        </p:nvSpPr>
        <p:spPr>
          <a:xfrm>
            <a:off x="2959456" y="5495544"/>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仕込み・人員配置の計画</a:t>
            </a:r>
            <a:endParaRPr lang="en-US" sz="1000" dirty="0"/>
          </a:p>
        </p:txBody>
      </p:sp>
      <p:sp>
        <p:nvSpPr>
          <p:cNvPr id="28" name="Shape 23"/>
          <p:cNvSpPr/>
          <p:nvPr/>
        </p:nvSpPr>
        <p:spPr>
          <a:xfrm>
            <a:off x="5044288" y="2103120"/>
            <a:ext cx="2103120" cy="4114800"/>
          </a:xfrm>
          <a:prstGeom prst="roundRect">
            <a:avLst>
              <a:gd name="adj" fmla="val 5217"/>
            </a:avLst>
          </a:prstGeom>
          <a:solidFill>
            <a:srgbClr val="FFFFFF"/>
          </a:solidFill>
          <a:ln/>
        </p:spPr>
      </p:sp>
      <p:pic>
        <p:nvPicPr>
          <p:cNvPr id="29" name="Image 3" descr="/tmp/claude-0/-home-user-AIInfinity/c029ed01-a8ff-5307-a636-4c28fa3dbac4/scratchpad/lp/jpg/case-department-v2.jpg">    </p:cNvPr>
          <p:cNvPicPr>
            <a:picLocks noChangeAspect="1"/>
          </p:cNvPicPr>
          <p:nvPr/>
        </p:nvPicPr>
        <p:blipFill>
          <a:blip r:embed="rId4"/>
          <a:stretch>
            <a:fillRect/>
          </a:stretch>
        </p:blipFill>
        <p:spPr>
          <a:xfrm>
            <a:off x="5044288" y="2103120"/>
            <a:ext cx="2103120" cy="1331275"/>
          </a:xfrm>
          <a:prstGeom prst="rect">
            <a:avLst/>
          </a:prstGeom>
        </p:spPr>
      </p:pic>
      <p:sp>
        <p:nvSpPr>
          <p:cNvPr id="30" name="Text 24"/>
          <p:cNvSpPr txBox="1"/>
          <p:nvPr/>
        </p:nvSpPr>
        <p:spPr>
          <a:xfrm>
            <a:off x="5227168" y="3566160"/>
            <a:ext cx="1371600" cy="274320"/>
          </a:xfrm>
          <a:prstGeom prst="rect">
            <a:avLst/>
          </a:prstGeom>
          <a:noFill/>
          <a:ln/>
        </p:spPr>
        <p:txBody>
          <a:bodyPr wrap="square" lIns="0" tIns="0" rIns="0" bIns="0" rtlCol="0" anchor="t"/>
          <a:lstStyle/>
          <a:p>
            <a:pPr indent="0" marL="0">
              <a:buNone/>
            </a:pPr>
            <a:r>
              <a:rPr lang="en-US" sz="1000" b="1" spc="200" kern="0" dirty="0">
                <a:solidFill>
                  <a:srgbClr val="5B5B5B"/>
                </a:solidFill>
                <a:latin typeface="Noto Sans JP" pitchFamily="34" charset="0"/>
                <a:ea typeface="Noto Sans JP" pitchFamily="34" charset="-122"/>
                <a:cs typeface="Noto Sans JP" pitchFamily="34" charset="-120"/>
              </a:rPr>
              <a:t>CASE 03</a:t>
            </a:r>
            <a:endParaRPr lang="en-US" sz="1000" dirty="0"/>
          </a:p>
        </p:txBody>
      </p:sp>
      <p:sp>
        <p:nvSpPr>
          <p:cNvPr id="31" name="Text 25"/>
          <p:cNvSpPr txBox="1"/>
          <p:nvPr/>
        </p:nvSpPr>
        <p:spPr>
          <a:xfrm>
            <a:off x="5227168" y="3840480"/>
            <a:ext cx="1737360" cy="411480"/>
          </a:xfrm>
          <a:prstGeom prst="rect">
            <a:avLst/>
          </a:prstGeom>
          <a:noFill/>
          <a:ln/>
        </p:spPr>
        <p:txBody>
          <a:bodyPr wrap="square" lIns="0" tIns="0" rIns="0" bIns="0" rtlCol="0" anchor="t"/>
          <a:lstStyle/>
          <a:p>
            <a:pPr indent="0" marL="0">
              <a:buNone/>
            </a:pPr>
            <a:r>
              <a:rPr lang="en-US" sz="1600" b="1" dirty="0">
                <a:solidFill>
                  <a:srgbClr val="111111"/>
                </a:solidFill>
                <a:latin typeface="Noto Sans JP" pitchFamily="34" charset="0"/>
                <a:ea typeface="Noto Sans JP" pitchFamily="34" charset="-122"/>
                <a:cs typeface="Noto Sans JP" pitchFamily="34" charset="-120"/>
              </a:rPr>
              <a:t>百貨店・商業施設</a:t>
            </a:r>
            <a:endParaRPr lang="en-US" sz="1600" dirty="0"/>
          </a:p>
        </p:txBody>
      </p:sp>
      <p:sp>
        <p:nvSpPr>
          <p:cNvPr id="32" name="Shape 26"/>
          <p:cNvSpPr/>
          <p:nvPr/>
        </p:nvSpPr>
        <p:spPr>
          <a:xfrm>
            <a:off x="5181448" y="4434840"/>
            <a:ext cx="1828800" cy="411480"/>
          </a:xfrm>
          <a:prstGeom prst="roundRect">
            <a:avLst>
              <a:gd name="adj" fmla="val 17778"/>
            </a:avLst>
          </a:prstGeom>
          <a:solidFill>
            <a:srgbClr val="FFF8D6"/>
          </a:solidFill>
          <a:ln/>
        </p:spPr>
      </p:sp>
      <p:sp>
        <p:nvSpPr>
          <p:cNvPr id="33" name="Text 27"/>
          <p:cNvSpPr txBox="1"/>
          <p:nvPr/>
        </p:nvSpPr>
        <p:spPr>
          <a:xfrm>
            <a:off x="5245456" y="4434840"/>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回遊・立ち寄りの分析</a:t>
            </a:r>
            <a:endParaRPr lang="en-US" sz="1000" dirty="0"/>
          </a:p>
        </p:txBody>
      </p:sp>
      <p:sp>
        <p:nvSpPr>
          <p:cNvPr id="34" name="Shape 28"/>
          <p:cNvSpPr/>
          <p:nvPr/>
        </p:nvSpPr>
        <p:spPr>
          <a:xfrm>
            <a:off x="5181448" y="4965192"/>
            <a:ext cx="1828800" cy="411480"/>
          </a:xfrm>
          <a:prstGeom prst="roundRect">
            <a:avLst>
              <a:gd name="adj" fmla="val 17778"/>
            </a:avLst>
          </a:prstGeom>
          <a:solidFill>
            <a:srgbClr val="FFF8D6"/>
          </a:solidFill>
          <a:ln/>
        </p:spPr>
      </p:sp>
      <p:sp>
        <p:nvSpPr>
          <p:cNvPr id="35" name="Text 29"/>
          <p:cNvSpPr txBox="1"/>
          <p:nvPr/>
        </p:nvSpPr>
        <p:spPr>
          <a:xfrm>
            <a:off x="5245456" y="4965192"/>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VIP来店の把握</a:t>
            </a:r>
            <a:endParaRPr lang="en-US" sz="1000" dirty="0"/>
          </a:p>
        </p:txBody>
      </p:sp>
      <p:sp>
        <p:nvSpPr>
          <p:cNvPr id="36" name="Shape 30"/>
          <p:cNvSpPr/>
          <p:nvPr/>
        </p:nvSpPr>
        <p:spPr>
          <a:xfrm>
            <a:off x="5181448" y="5495544"/>
            <a:ext cx="1828800" cy="411480"/>
          </a:xfrm>
          <a:prstGeom prst="roundRect">
            <a:avLst>
              <a:gd name="adj" fmla="val 17778"/>
            </a:avLst>
          </a:prstGeom>
          <a:solidFill>
            <a:srgbClr val="FFF8D6"/>
          </a:solidFill>
          <a:ln/>
        </p:spPr>
      </p:sp>
      <p:sp>
        <p:nvSpPr>
          <p:cNvPr id="37" name="Text 31"/>
          <p:cNvSpPr txBox="1"/>
          <p:nvPr/>
        </p:nvSpPr>
        <p:spPr>
          <a:xfrm>
            <a:off x="5245456" y="5495544"/>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催事の効果測定</a:t>
            </a:r>
            <a:endParaRPr lang="en-US" sz="1000" dirty="0"/>
          </a:p>
        </p:txBody>
      </p:sp>
      <p:sp>
        <p:nvSpPr>
          <p:cNvPr id="38" name="Shape 32"/>
          <p:cNvSpPr/>
          <p:nvPr/>
        </p:nvSpPr>
        <p:spPr>
          <a:xfrm>
            <a:off x="7330288" y="2103120"/>
            <a:ext cx="2103120" cy="4114800"/>
          </a:xfrm>
          <a:prstGeom prst="roundRect">
            <a:avLst>
              <a:gd name="adj" fmla="val 5217"/>
            </a:avLst>
          </a:prstGeom>
          <a:solidFill>
            <a:srgbClr val="FFFFFF"/>
          </a:solidFill>
          <a:ln/>
        </p:spPr>
      </p:sp>
      <p:pic>
        <p:nvPicPr>
          <p:cNvPr id="39" name="Image 4" descr="/tmp/claude-0/-home-user-AIInfinity/c029ed01-a8ff-5307-a636-4c28fa3dbac4/scratchpad/lp/jpg/case-care-v2.jpg">    </p:cNvPr>
          <p:cNvPicPr>
            <a:picLocks noChangeAspect="1"/>
          </p:cNvPicPr>
          <p:nvPr/>
        </p:nvPicPr>
        <p:blipFill>
          <a:blip r:embed="rId5"/>
          <a:stretch>
            <a:fillRect/>
          </a:stretch>
        </p:blipFill>
        <p:spPr>
          <a:xfrm>
            <a:off x="7330288" y="2103120"/>
            <a:ext cx="2103120" cy="1331275"/>
          </a:xfrm>
          <a:prstGeom prst="rect">
            <a:avLst/>
          </a:prstGeom>
        </p:spPr>
      </p:pic>
      <p:sp>
        <p:nvSpPr>
          <p:cNvPr id="40" name="Text 33"/>
          <p:cNvSpPr txBox="1"/>
          <p:nvPr/>
        </p:nvSpPr>
        <p:spPr>
          <a:xfrm>
            <a:off x="7513168" y="3566160"/>
            <a:ext cx="1371600" cy="274320"/>
          </a:xfrm>
          <a:prstGeom prst="rect">
            <a:avLst/>
          </a:prstGeom>
          <a:noFill/>
          <a:ln/>
        </p:spPr>
        <p:txBody>
          <a:bodyPr wrap="square" lIns="0" tIns="0" rIns="0" bIns="0" rtlCol="0" anchor="t"/>
          <a:lstStyle/>
          <a:p>
            <a:pPr indent="0" marL="0">
              <a:buNone/>
            </a:pPr>
            <a:r>
              <a:rPr lang="en-US" sz="1000" b="1" spc="200" kern="0" dirty="0">
                <a:solidFill>
                  <a:srgbClr val="5B5B5B"/>
                </a:solidFill>
                <a:latin typeface="Noto Sans JP" pitchFamily="34" charset="0"/>
                <a:ea typeface="Noto Sans JP" pitchFamily="34" charset="-122"/>
                <a:cs typeface="Noto Sans JP" pitchFamily="34" charset="-120"/>
              </a:rPr>
              <a:t>CASE 04</a:t>
            </a:r>
            <a:endParaRPr lang="en-US" sz="1000" dirty="0"/>
          </a:p>
        </p:txBody>
      </p:sp>
      <p:sp>
        <p:nvSpPr>
          <p:cNvPr id="41" name="Text 34"/>
          <p:cNvSpPr txBox="1"/>
          <p:nvPr/>
        </p:nvSpPr>
        <p:spPr>
          <a:xfrm>
            <a:off x="7513168" y="3840480"/>
            <a:ext cx="1737360" cy="411480"/>
          </a:xfrm>
          <a:prstGeom prst="rect">
            <a:avLst/>
          </a:prstGeom>
          <a:noFill/>
          <a:ln/>
        </p:spPr>
        <p:txBody>
          <a:bodyPr wrap="square" lIns="0" tIns="0" rIns="0" bIns="0" rtlCol="0" anchor="t"/>
          <a:lstStyle/>
          <a:p>
            <a:pPr indent="0" marL="0">
              <a:buNone/>
            </a:pPr>
            <a:r>
              <a:rPr lang="en-US" sz="1600" b="1" dirty="0">
                <a:solidFill>
                  <a:srgbClr val="111111"/>
                </a:solidFill>
                <a:latin typeface="Noto Sans JP" pitchFamily="34" charset="0"/>
                <a:ea typeface="Noto Sans JP" pitchFamily="34" charset="-122"/>
                <a:cs typeface="Noto Sans JP" pitchFamily="34" charset="-120"/>
              </a:rPr>
              <a:t>病院・介護施設</a:t>
            </a:r>
            <a:endParaRPr lang="en-US" sz="1600" dirty="0"/>
          </a:p>
        </p:txBody>
      </p:sp>
      <p:sp>
        <p:nvSpPr>
          <p:cNvPr id="42" name="Shape 35"/>
          <p:cNvSpPr/>
          <p:nvPr/>
        </p:nvSpPr>
        <p:spPr>
          <a:xfrm>
            <a:off x="7467448" y="4434840"/>
            <a:ext cx="1828800" cy="411480"/>
          </a:xfrm>
          <a:prstGeom prst="roundRect">
            <a:avLst>
              <a:gd name="adj" fmla="val 17778"/>
            </a:avLst>
          </a:prstGeom>
          <a:solidFill>
            <a:srgbClr val="FFF8D6"/>
          </a:solidFill>
          <a:ln/>
        </p:spPr>
      </p:sp>
      <p:sp>
        <p:nvSpPr>
          <p:cNvPr id="43" name="Text 36"/>
          <p:cNvSpPr txBox="1"/>
          <p:nvPr/>
        </p:nvSpPr>
        <p:spPr>
          <a:xfrm>
            <a:off x="7531456" y="4434840"/>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転倒の早期発見</a:t>
            </a:r>
            <a:endParaRPr lang="en-US" sz="1000" dirty="0"/>
          </a:p>
        </p:txBody>
      </p:sp>
      <p:sp>
        <p:nvSpPr>
          <p:cNvPr id="44" name="Shape 37"/>
          <p:cNvSpPr/>
          <p:nvPr/>
        </p:nvSpPr>
        <p:spPr>
          <a:xfrm>
            <a:off x="7467448" y="4965192"/>
            <a:ext cx="1828800" cy="411480"/>
          </a:xfrm>
          <a:prstGeom prst="roundRect">
            <a:avLst>
              <a:gd name="adj" fmla="val 17778"/>
            </a:avLst>
          </a:prstGeom>
          <a:solidFill>
            <a:srgbClr val="FFF8D6"/>
          </a:solidFill>
          <a:ln/>
        </p:spPr>
      </p:sp>
      <p:sp>
        <p:nvSpPr>
          <p:cNvPr id="45" name="Text 38"/>
          <p:cNvSpPr txBox="1"/>
          <p:nvPr/>
        </p:nvSpPr>
        <p:spPr>
          <a:xfrm>
            <a:off x="7531456" y="4965192"/>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侵入・徘徊の検知</a:t>
            </a:r>
            <a:endParaRPr lang="en-US" sz="1000" dirty="0"/>
          </a:p>
        </p:txBody>
      </p:sp>
      <p:sp>
        <p:nvSpPr>
          <p:cNvPr id="46" name="Shape 39"/>
          <p:cNvSpPr/>
          <p:nvPr/>
        </p:nvSpPr>
        <p:spPr>
          <a:xfrm>
            <a:off x="7467448" y="5495544"/>
            <a:ext cx="1828800" cy="411480"/>
          </a:xfrm>
          <a:prstGeom prst="roundRect">
            <a:avLst>
              <a:gd name="adj" fmla="val 17778"/>
            </a:avLst>
          </a:prstGeom>
          <a:solidFill>
            <a:srgbClr val="FFF8D6"/>
          </a:solidFill>
          <a:ln/>
        </p:spPr>
      </p:sp>
      <p:sp>
        <p:nvSpPr>
          <p:cNvPr id="47" name="Text 40"/>
          <p:cNvSpPr txBox="1"/>
          <p:nvPr/>
        </p:nvSpPr>
        <p:spPr>
          <a:xfrm>
            <a:off x="7531456" y="5495544"/>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夜間の見守り負担軽減</a:t>
            </a:r>
            <a:endParaRPr lang="en-US" sz="1000" dirty="0"/>
          </a:p>
        </p:txBody>
      </p:sp>
      <p:sp>
        <p:nvSpPr>
          <p:cNvPr id="48" name="Shape 41"/>
          <p:cNvSpPr/>
          <p:nvPr/>
        </p:nvSpPr>
        <p:spPr>
          <a:xfrm>
            <a:off x="9616288" y="2103120"/>
            <a:ext cx="2103120" cy="4114800"/>
          </a:xfrm>
          <a:prstGeom prst="roundRect">
            <a:avLst>
              <a:gd name="adj" fmla="val 5217"/>
            </a:avLst>
          </a:prstGeom>
          <a:solidFill>
            <a:srgbClr val="FFFFFF"/>
          </a:solidFill>
          <a:ln/>
        </p:spPr>
      </p:sp>
      <p:pic>
        <p:nvPicPr>
          <p:cNvPr id="49" name="Image 5" descr="/tmp/claude-0/-home-user-AIInfinity/c029ed01-a8ff-5307-a636-4c28fa3dbac4/scratchpad/lp/jpg/case-finance-v2.jpg">    </p:cNvPr>
          <p:cNvPicPr>
            <a:picLocks noChangeAspect="1"/>
          </p:cNvPicPr>
          <p:nvPr/>
        </p:nvPicPr>
        <p:blipFill>
          <a:blip r:embed="rId6"/>
          <a:stretch>
            <a:fillRect/>
          </a:stretch>
        </p:blipFill>
        <p:spPr>
          <a:xfrm>
            <a:off x="9616288" y="2103120"/>
            <a:ext cx="2103120" cy="1331275"/>
          </a:xfrm>
          <a:prstGeom prst="rect">
            <a:avLst/>
          </a:prstGeom>
        </p:spPr>
      </p:pic>
      <p:sp>
        <p:nvSpPr>
          <p:cNvPr id="50" name="Text 42"/>
          <p:cNvSpPr txBox="1"/>
          <p:nvPr/>
        </p:nvSpPr>
        <p:spPr>
          <a:xfrm>
            <a:off x="9799168" y="3566160"/>
            <a:ext cx="1371600" cy="274320"/>
          </a:xfrm>
          <a:prstGeom prst="rect">
            <a:avLst/>
          </a:prstGeom>
          <a:noFill/>
          <a:ln/>
        </p:spPr>
        <p:txBody>
          <a:bodyPr wrap="square" lIns="0" tIns="0" rIns="0" bIns="0" rtlCol="0" anchor="t"/>
          <a:lstStyle/>
          <a:p>
            <a:pPr indent="0" marL="0">
              <a:buNone/>
            </a:pPr>
            <a:r>
              <a:rPr lang="en-US" sz="1000" b="1" spc="200" kern="0" dirty="0">
                <a:solidFill>
                  <a:srgbClr val="5B5B5B"/>
                </a:solidFill>
                <a:latin typeface="Noto Sans JP" pitchFamily="34" charset="0"/>
                <a:ea typeface="Noto Sans JP" pitchFamily="34" charset="-122"/>
                <a:cs typeface="Noto Sans JP" pitchFamily="34" charset="-120"/>
              </a:rPr>
              <a:t>CASE 05</a:t>
            </a:r>
            <a:endParaRPr lang="en-US" sz="1000" dirty="0"/>
          </a:p>
        </p:txBody>
      </p:sp>
      <p:sp>
        <p:nvSpPr>
          <p:cNvPr id="51" name="Text 43"/>
          <p:cNvSpPr txBox="1"/>
          <p:nvPr/>
        </p:nvSpPr>
        <p:spPr>
          <a:xfrm>
            <a:off x="9799168" y="3840480"/>
            <a:ext cx="1737360" cy="411480"/>
          </a:xfrm>
          <a:prstGeom prst="rect">
            <a:avLst/>
          </a:prstGeom>
          <a:noFill/>
          <a:ln/>
        </p:spPr>
        <p:txBody>
          <a:bodyPr wrap="square" lIns="0" tIns="0" rIns="0" bIns="0" rtlCol="0" anchor="t"/>
          <a:lstStyle/>
          <a:p>
            <a:pPr indent="0" marL="0">
              <a:buNone/>
            </a:pPr>
            <a:r>
              <a:rPr lang="en-US" sz="1600" b="1" dirty="0">
                <a:solidFill>
                  <a:srgbClr val="111111"/>
                </a:solidFill>
                <a:latin typeface="Noto Sans JP" pitchFamily="34" charset="0"/>
                <a:ea typeface="Noto Sans JP" pitchFamily="34" charset="-122"/>
                <a:cs typeface="Noto Sans JP" pitchFamily="34" charset="-120"/>
              </a:rPr>
              <a:t>金融機関</a:t>
            </a:r>
            <a:endParaRPr lang="en-US" sz="1600" dirty="0"/>
          </a:p>
        </p:txBody>
      </p:sp>
      <p:sp>
        <p:nvSpPr>
          <p:cNvPr id="52" name="Shape 44"/>
          <p:cNvSpPr/>
          <p:nvPr/>
        </p:nvSpPr>
        <p:spPr>
          <a:xfrm>
            <a:off x="9753448" y="4434840"/>
            <a:ext cx="1828800" cy="411480"/>
          </a:xfrm>
          <a:prstGeom prst="roundRect">
            <a:avLst>
              <a:gd name="adj" fmla="val 17778"/>
            </a:avLst>
          </a:prstGeom>
          <a:solidFill>
            <a:srgbClr val="FFF8D6"/>
          </a:solidFill>
          <a:ln/>
        </p:spPr>
      </p:sp>
      <p:sp>
        <p:nvSpPr>
          <p:cNvPr id="53" name="Text 45"/>
          <p:cNvSpPr txBox="1"/>
          <p:nvPr/>
        </p:nvSpPr>
        <p:spPr>
          <a:xfrm>
            <a:off x="9817456" y="4434840"/>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ATM前の通話・滞留検知</a:t>
            </a:r>
            <a:endParaRPr lang="en-US" sz="1000" dirty="0"/>
          </a:p>
        </p:txBody>
      </p:sp>
      <p:sp>
        <p:nvSpPr>
          <p:cNvPr id="54" name="Shape 46"/>
          <p:cNvSpPr/>
          <p:nvPr/>
        </p:nvSpPr>
        <p:spPr>
          <a:xfrm>
            <a:off x="9753448" y="4965192"/>
            <a:ext cx="1828800" cy="411480"/>
          </a:xfrm>
          <a:prstGeom prst="roundRect">
            <a:avLst>
              <a:gd name="adj" fmla="val 17778"/>
            </a:avLst>
          </a:prstGeom>
          <a:solidFill>
            <a:srgbClr val="FFF8D6"/>
          </a:solidFill>
          <a:ln/>
        </p:spPr>
      </p:sp>
      <p:sp>
        <p:nvSpPr>
          <p:cNvPr id="55" name="Text 47"/>
          <p:cNvSpPr txBox="1"/>
          <p:nvPr/>
        </p:nvSpPr>
        <p:spPr>
          <a:xfrm>
            <a:off x="9817456" y="4965192"/>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不審行動の把握</a:t>
            </a:r>
            <a:endParaRPr lang="en-US" sz="1000" dirty="0"/>
          </a:p>
        </p:txBody>
      </p:sp>
      <p:sp>
        <p:nvSpPr>
          <p:cNvPr id="56" name="Shape 48"/>
          <p:cNvSpPr/>
          <p:nvPr/>
        </p:nvSpPr>
        <p:spPr>
          <a:xfrm>
            <a:off x="9753448" y="5495544"/>
            <a:ext cx="1828800" cy="411480"/>
          </a:xfrm>
          <a:prstGeom prst="roundRect">
            <a:avLst>
              <a:gd name="adj" fmla="val 17778"/>
            </a:avLst>
          </a:prstGeom>
          <a:solidFill>
            <a:srgbClr val="FFF8D6"/>
          </a:solidFill>
          <a:ln/>
        </p:spPr>
      </p:sp>
      <p:sp>
        <p:nvSpPr>
          <p:cNvPr id="57" name="Text 49"/>
          <p:cNvSpPr txBox="1"/>
          <p:nvPr/>
        </p:nvSpPr>
        <p:spPr>
          <a:xfrm>
            <a:off x="9817456" y="5495544"/>
            <a:ext cx="1737360" cy="411480"/>
          </a:xfrm>
          <a:prstGeom prst="rect">
            <a:avLst/>
          </a:prstGeom>
          <a:noFill/>
          <a:ln/>
        </p:spPr>
        <p:txBody>
          <a:bodyPr wrap="square" lIns="0" tIns="0" rIns="0" bIns="0" rtlCol="0" anchor="ctr"/>
          <a:lstStyle/>
          <a:p>
            <a:pPr indent="0" marL="0">
              <a:buNone/>
            </a:pPr>
            <a:r>
              <a:rPr lang="en-US" sz="1000" b="1" dirty="0">
                <a:solidFill>
                  <a:srgbClr val="111111"/>
                </a:solidFill>
                <a:latin typeface="Noto Sans JP" pitchFamily="34" charset="0"/>
                <a:ea typeface="Noto Sans JP" pitchFamily="34" charset="-122"/>
                <a:cs typeface="Noto Sans JP" pitchFamily="34" charset="-120"/>
              </a:rPr>
              <a:t>転倒時のフォロー</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10</a:t>
            </a:r>
            <a:endParaRPr lang="en-US" sz="1000" dirty="0"/>
          </a:p>
        </p:txBody>
      </p:sp>
      <p:pic>
        <p:nvPicPr>
          <p:cNvPr id="4" name="Image 1" descr="/tmp/claude-0/-home-user-AIInfinity/c029ed01-a8ff-5307-a636-4c28fa3dbac4/scratchpad/lp/jpg/case-retail-v2.jpg">    </p:cNvPr>
          <p:cNvPicPr>
            <a:picLocks noChangeAspect="1"/>
          </p:cNvPicPr>
          <p:nvPr/>
        </p:nvPicPr>
        <p:blipFill>
          <a:blip r:embed="rId2"/>
          <a:srcRect l="0" r="0" t="0" b="0"/>
          <a:stretch/>
        </p:blipFill>
        <p:spPr>
          <a:xfrm>
            <a:off x="0" y="0"/>
            <a:ext cx="4754880" cy="6858000"/>
          </a:xfrm>
          <a:prstGeom prst="rect">
            <a:avLst/>
          </a:prstGeom>
        </p:spPr>
      </p:pic>
      <p:sp>
        <p:nvSpPr>
          <p:cNvPr id="5" name="Shape 1"/>
          <p:cNvSpPr/>
          <p:nvPr/>
        </p:nvSpPr>
        <p:spPr>
          <a:xfrm>
            <a:off x="411480" y="411480"/>
            <a:ext cx="1371600" cy="384048"/>
          </a:xfrm>
          <a:prstGeom prst="roundRect">
            <a:avLst>
              <a:gd name="adj" fmla="val 50000"/>
            </a:avLst>
          </a:prstGeom>
          <a:solidFill>
            <a:srgbClr val="FFD400"/>
          </a:solidFill>
          <a:ln/>
        </p:spPr>
      </p:sp>
      <p:sp>
        <p:nvSpPr>
          <p:cNvPr id="6" name="Text 2"/>
          <p:cNvSpPr txBox="1"/>
          <p:nvPr/>
        </p:nvSpPr>
        <p:spPr>
          <a:xfrm>
            <a:off x="411480" y="411480"/>
            <a:ext cx="1371600" cy="384048"/>
          </a:xfrm>
          <a:prstGeom prst="rect">
            <a:avLst/>
          </a:prstGeom>
          <a:noFill/>
          <a:ln/>
        </p:spPr>
        <p:txBody>
          <a:bodyPr wrap="square" lIns="0" tIns="0" rIns="0" bIns="0" rtlCol="0" anchor="ctr"/>
          <a:lstStyle/>
          <a:p>
            <a:pPr algn="ctr" indent="0" marL="0">
              <a:buNone/>
            </a:pPr>
            <a:r>
              <a:rPr lang="en-US" sz="1300" b="1" spc="200" kern="0" dirty="0">
                <a:solidFill>
                  <a:srgbClr val="111111"/>
                </a:solidFill>
                <a:latin typeface="Noto Sans JP" pitchFamily="34" charset="0"/>
                <a:ea typeface="Noto Sans JP" pitchFamily="34" charset="-122"/>
                <a:cs typeface="Noto Sans JP" pitchFamily="34" charset="-120"/>
              </a:rPr>
              <a:t>CASE 01</a:t>
            </a:r>
            <a:endParaRPr lang="en-US" sz="1300" dirty="0"/>
          </a:p>
        </p:txBody>
      </p:sp>
      <p:sp>
        <p:nvSpPr>
          <p:cNvPr id="7" name="Text 3"/>
          <p:cNvSpPr txBox="1"/>
          <p:nvPr/>
        </p:nvSpPr>
        <p:spPr>
          <a:xfrm>
            <a:off x="5303520" y="685800"/>
            <a:ext cx="4693615" cy="640080"/>
          </a:xfrm>
          <a:prstGeom prst="rect">
            <a:avLst/>
          </a:prstGeom>
          <a:noFill/>
          <a:ln/>
        </p:spPr>
        <p:txBody>
          <a:bodyPr wrap="square" lIns="0" tIns="0" rIns="0" bIns="0" rtlCol="0" anchor="t"/>
          <a:lstStyle/>
          <a:p>
            <a:pPr indent="0" marL="0">
              <a:buNone/>
            </a:pPr>
            <a:r>
              <a:rPr lang="en-US" sz="3200" b="1" dirty="0">
                <a:solidFill>
                  <a:srgbClr val="111111"/>
                </a:solidFill>
                <a:latin typeface="Noto Sans JP" pitchFamily="34" charset="0"/>
                <a:ea typeface="Noto Sans JP" pitchFamily="34" charset="-122"/>
                <a:cs typeface="Noto Sans JP" pitchFamily="34" charset="-120"/>
              </a:rPr>
              <a:t>スーパー・小売</a:t>
            </a:r>
            <a:endParaRPr lang="en-US" sz="3200" dirty="0"/>
          </a:p>
        </p:txBody>
      </p:sp>
      <p:sp>
        <p:nvSpPr>
          <p:cNvPr id="8" name="Text 4"/>
          <p:cNvSpPr txBox="1"/>
          <p:nvPr/>
        </p:nvSpPr>
        <p:spPr>
          <a:xfrm>
            <a:off x="5303520" y="1463040"/>
            <a:ext cx="6339535" cy="868680"/>
          </a:xfrm>
          <a:prstGeom prst="rect">
            <a:avLst/>
          </a:prstGeom>
          <a:noFill/>
          <a:ln/>
        </p:spPr>
        <p:txBody>
          <a:bodyPr wrap="square" lIns="0" tIns="0" rIns="0" bIns="0" rtlCol="0" anchor="t"/>
          <a:lstStyle/>
          <a:p>
            <a:pPr indent="0" marL="0">
              <a:lnSpc>
                <a:spcPct val="145000"/>
              </a:lnSpc>
              <a:buNone/>
            </a:pPr>
            <a:r>
              <a:rPr lang="en-US" sz="1300" dirty="0">
                <a:solidFill>
                  <a:srgbClr val="5B5B5B"/>
                </a:solidFill>
                <a:latin typeface="Noto Sans JP" pitchFamily="34" charset="0"/>
                <a:ea typeface="Noto Sans JP" pitchFamily="34" charset="-122"/>
                <a:cs typeface="Noto Sans JP" pitchFamily="34" charset="-120"/>
              </a:rPr>
              <a:t>時間帯ごとの来店数とレジ待ち人数から、レジの開放数や配置を最適化。売場の滞在傾向をもとに、値引きや発注のタイミングを判断しやすくします。</a:t>
            </a:r>
            <a:endParaRPr lang="en-US" sz="1300" dirty="0"/>
          </a:p>
        </p:txBody>
      </p:sp>
      <p:sp>
        <p:nvSpPr>
          <p:cNvPr id="9" name="Shape 5"/>
          <p:cNvSpPr/>
          <p:nvPr/>
        </p:nvSpPr>
        <p:spPr>
          <a:xfrm>
            <a:off x="5303520" y="2560320"/>
            <a:ext cx="6339535" cy="1170432"/>
          </a:xfrm>
          <a:prstGeom prst="roundRect">
            <a:avLst>
              <a:gd name="adj" fmla="val 7813"/>
            </a:avLst>
          </a:prstGeom>
          <a:solidFill>
            <a:srgbClr val="F5F5F2"/>
          </a:solidFill>
          <a:ln/>
        </p:spPr>
      </p:sp>
      <p:sp>
        <p:nvSpPr>
          <p:cNvPr id="10" name="Shape 6"/>
          <p:cNvSpPr/>
          <p:nvPr/>
        </p:nvSpPr>
        <p:spPr>
          <a:xfrm>
            <a:off x="5486400" y="2761488"/>
            <a:ext cx="566928" cy="490960"/>
          </a:xfrm>
          <a:prstGeom prst="hexagon">
            <a:avLst/>
          </a:prstGeom>
          <a:solidFill>
            <a:srgbClr val="FFD400"/>
          </a:solidFill>
          <a:ln w="12700">
            <a:solidFill>
              <a:srgbClr val="FFD400"/>
            </a:solidFill>
            <a:prstDash val="solid"/>
          </a:ln>
        </p:spPr>
      </p:sp>
      <p:sp>
        <p:nvSpPr>
          <p:cNvPr id="11" name="Text 7"/>
          <p:cNvSpPr txBox="1"/>
          <p:nvPr/>
        </p:nvSpPr>
        <p:spPr>
          <a:xfrm>
            <a:off x="5486400" y="276148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01</a:t>
            </a:r>
            <a:endParaRPr lang="en-US" sz="1400" dirty="0"/>
          </a:p>
        </p:txBody>
      </p:sp>
      <p:sp>
        <p:nvSpPr>
          <p:cNvPr id="12" name="Text 8"/>
          <p:cNvSpPr txBox="1"/>
          <p:nvPr/>
        </p:nvSpPr>
        <p:spPr>
          <a:xfrm>
            <a:off x="6263640" y="268833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混雑の先読みでレジ応援を配置</a:t>
            </a:r>
            <a:endParaRPr lang="en-US" sz="1500" dirty="0"/>
          </a:p>
        </p:txBody>
      </p:sp>
      <p:sp>
        <p:nvSpPr>
          <p:cNvPr id="13" name="Text 9"/>
          <p:cNvSpPr txBox="1"/>
          <p:nvPr/>
        </p:nvSpPr>
        <p:spPr>
          <a:xfrm>
            <a:off x="6263640" y="306324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店前通行量や天候データをもとに、数十分後のレジ混雑を予測。品出し中のスタッフへ応援配置を通知し、長蛇の列による購入断念を減らす判断を支援します。</a:t>
            </a:r>
            <a:endParaRPr lang="en-US" sz="1100" dirty="0"/>
          </a:p>
        </p:txBody>
      </p:sp>
      <p:sp>
        <p:nvSpPr>
          <p:cNvPr id="14" name="Shape 10"/>
          <p:cNvSpPr/>
          <p:nvPr/>
        </p:nvSpPr>
        <p:spPr>
          <a:xfrm>
            <a:off x="5303520" y="3886200"/>
            <a:ext cx="6339535" cy="1170432"/>
          </a:xfrm>
          <a:prstGeom prst="roundRect">
            <a:avLst>
              <a:gd name="adj" fmla="val 7813"/>
            </a:avLst>
          </a:prstGeom>
          <a:solidFill>
            <a:srgbClr val="F5F5F2"/>
          </a:solidFill>
          <a:ln/>
        </p:spPr>
      </p:sp>
      <p:sp>
        <p:nvSpPr>
          <p:cNvPr id="15" name="Shape 11"/>
          <p:cNvSpPr/>
          <p:nvPr/>
        </p:nvSpPr>
        <p:spPr>
          <a:xfrm>
            <a:off x="5486400" y="4087368"/>
            <a:ext cx="566928" cy="490960"/>
          </a:xfrm>
          <a:prstGeom prst="hexagon">
            <a:avLst/>
          </a:prstGeom>
          <a:solidFill>
            <a:srgbClr val="FFD400"/>
          </a:solidFill>
          <a:ln w="12700">
            <a:solidFill>
              <a:srgbClr val="FFD400"/>
            </a:solidFill>
            <a:prstDash val="solid"/>
          </a:ln>
        </p:spPr>
      </p:sp>
      <p:sp>
        <p:nvSpPr>
          <p:cNvPr id="16" name="Text 12"/>
          <p:cNvSpPr txBox="1"/>
          <p:nvPr/>
        </p:nvSpPr>
        <p:spPr>
          <a:xfrm>
            <a:off x="5486400" y="408736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02</a:t>
            </a:r>
            <a:endParaRPr lang="en-US" sz="1400" dirty="0"/>
          </a:p>
        </p:txBody>
      </p:sp>
      <p:sp>
        <p:nvSpPr>
          <p:cNvPr id="17" name="Text 13"/>
          <p:cNvSpPr txBox="1"/>
          <p:nvPr/>
        </p:nvSpPr>
        <p:spPr>
          <a:xfrm>
            <a:off x="6263640" y="401421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値引き・発注をデータで判断</a:t>
            </a:r>
            <a:endParaRPr lang="en-US" sz="1500" dirty="0"/>
          </a:p>
        </p:txBody>
      </p:sp>
      <p:sp>
        <p:nvSpPr>
          <p:cNvPr id="18" name="Text 14"/>
          <p:cNvSpPr txBox="1"/>
          <p:nvPr/>
        </p:nvSpPr>
        <p:spPr>
          <a:xfrm>
            <a:off x="6263640" y="438912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惣菜・生鮮売場の通行量や滞留行動を計測。売れ行きと合わせて、売り切りに向けた値引きのタイミングや発注量の見直しに活用します。</a:t>
            </a:r>
            <a:endParaRPr lang="en-US" sz="1100" dirty="0"/>
          </a:p>
        </p:txBody>
      </p:sp>
      <p:sp>
        <p:nvSpPr>
          <p:cNvPr id="19" name="Shape 15"/>
          <p:cNvSpPr/>
          <p:nvPr/>
        </p:nvSpPr>
        <p:spPr>
          <a:xfrm>
            <a:off x="5303520" y="5212080"/>
            <a:ext cx="6339535" cy="1170432"/>
          </a:xfrm>
          <a:prstGeom prst="roundRect">
            <a:avLst>
              <a:gd name="adj" fmla="val 7813"/>
            </a:avLst>
          </a:prstGeom>
          <a:solidFill>
            <a:srgbClr val="F5F5F2"/>
          </a:solidFill>
          <a:ln/>
        </p:spPr>
      </p:sp>
      <p:sp>
        <p:nvSpPr>
          <p:cNvPr id="20" name="Shape 16"/>
          <p:cNvSpPr/>
          <p:nvPr/>
        </p:nvSpPr>
        <p:spPr>
          <a:xfrm>
            <a:off x="5486400" y="5413248"/>
            <a:ext cx="566928" cy="490960"/>
          </a:xfrm>
          <a:prstGeom prst="hexagon">
            <a:avLst/>
          </a:prstGeom>
          <a:solidFill>
            <a:srgbClr val="FFD400"/>
          </a:solidFill>
          <a:ln w="12700">
            <a:solidFill>
              <a:srgbClr val="FFD400"/>
            </a:solidFill>
            <a:prstDash val="solid"/>
          </a:ln>
        </p:spPr>
      </p:sp>
      <p:sp>
        <p:nvSpPr>
          <p:cNvPr id="21" name="Text 17"/>
          <p:cNvSpPr txBox="1"/>
          <p:nvPr/>
        </p:nvSpPr>
        <p:spPr>
          <a:xfrm>
            <a:off x="5486400" y="541324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03</a:t>
            </a:r>
            <a:endParaRPr lang="en-US" sz="1400" dirty="0"/>
          </a:p>
        </p:txBody>
      </p:sp>
      <p:sp>
        <p:nvSpPr>
          <p:cNvPr id="22" name="Text 18"/>
          <p:cNvSpPr txBox="1"/>
          <p:nvPr/>
        </p:nvSpPr>
        <p:spPr>
          <a:xfrm>
            <a:off x="6263640" y="534009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セルフレジ・高額商品のロス防止</a:t>
            </a:r>
            <a:endParaRPr lang="en-US" sz="1500" dirty="0"/>
          </a:p>
        </p:txBody>
      </p:sp>
      <p:sp>
        <p:nvSpPr>
          <p:cNvPr id="23" name="Text 19"/>
          <p:cNvSpPr txBox="1"/>
          <p:nvPr/>
        </p:nvSpPr>
        <p:spPr>
          <a:xfrm>
            <a:off x="6263640" y="571500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セルフレジの長時間停滞や、酒類・米・医薬品などの売場での不審な滞留を検知。スタッフのお声がけにつなげ、未精算や棚卸ロスの防止を支援します。</a:t>
            </a:r>
            <a:endParaRPr lang="en-US" sz="1100" dirty="0"/>
          </a:p>
        </p:txBody>
      </p:sp>
      <p:sp>
        <p:nvSpPr>
          <p:cNvPr id="24" name="Text 20"/>
          <p:cNvSpPr txBox="1"/>
          <p:nvPr/>
        </p:nvSpPr>
        <p:spPr>
          <a:xfrm>
            <a:off x="5303520" y="6473952"/>
            <a:ext cx="5943600" cy="228600"/>
          </a:xfrm>
          <a:prstGeom prst="rect">
            <a:avLst/>
          </a:prstGeom>
          <a:noFill/>
          <a:ln/>
        </p:spPr>
        <p:txBody>
          <a:bodyPr wrap="square" lIns="0" tIns="0" rIns="0" bIns="0" rtlCol="0" anchor="t"/>
          <a:lstStyle/>
          <a:p>
            <a:pPr indent="0" marL="0">
              <a:buNone/>
            </a:pPr>
            <a:r>
              <a:rPr lang="en-US" sz="900" dirty="0">
                <a:solidFill>
                  <a:srgbClr val="5B5B5B"/>
                </a:solidFill>
                <a:latin typeface="Noto Sans JP" pitchFamily="34" charset="0"/>
                <a:ea typeface="Noto Sans JP" pitchFamily="34" charset="-122"/>
                <a:cs typeface="Noto Sans JP" pitchFamily="34" charset="-120"/>
              </a:rPr>
              <a:t>※サービス資料に基づく想定ユースケースです（導入実績ではありません）。</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11</a:t>
            </a:r>
            <a:endParaRPr lang="en-US" sz="1000" dirty="0"/>
          </a:p>
        </p:txBody>
      </p:sp>
      <p:pic>
        <p:nvPicPr>
          <p:cNvPr id="4" name="Image 1" descr="/tmp/claude-0/-home-user-AIInfinity/c029ed01-a8ff-5307-a636-4c28fa3dbac4/scratchpad/lp/jpg/case-restaurant-v2.jpg">    </p:cNvPr>
          <p:cNvPicPr>
            <a:picLocks noChangeAspect="1"/>
          </p:cNvPicPr>
          <p:nvPr/>
        </p:nvPicPr>
        <p:blipFill>
          <a:blip r:embed="rId2"/>
          <a:srcRect l="0" r="0" t="0" b="0"/>
          <a:stretch/>
        </p:blipFill>
        <p:spPr>
          <a:xfrm>
            <a:off x="0" y="0"/>
            <a:ext cx="4754880" cy="6858000"/>
          </a:xfrm>
          <a:prstGeom prst="rect">
            <a:avLst/>
          </a:prstGeom>
        </p:spPr>
      </p:pic>
      <p:sp>
        <p:nvSpPr>
          <p:cNvPr id="5" name="Shape 1"/>
          <p:cNvSpPr/>
          <p:nvPr/>
        </p:nvSpPr>
        <p:spPr>
          <a:xfrm>
            <a:off x="411480" y="411480"/>
            <a:ext cx="1371600" cy="384048"/>
          </a:xfrm>
          <a:prstGeom prst="roundRect">
            <a:avLst>
              <a:gd name="adj" fmla="val 50000"/>
            </a:avLst>
          </a:prstGeom>
          <a:solidFill>
            <a:srgbClr val="FFD400"/>
          </a:solidFill>
          <a:ln/>
        </p:spPr>
      </p:sp>
      <p:sp>
        <p:nvSpPr>
          <p:cNvPr id="6" name="Text 2"/>
          <p:cNvSpPr txBox="1"/>
          <p:nvPr/>
        </p:nvSpPr>
        <p:spPr>
          <a:xfrm>
            <a:off x="411480" y="411480"/>
            <a:ext cx="1371600" cy="384048"/>
          </a:xfrm>
          <a:prstGeom prst="rect">
            <a:avLst/>
          </a:prstGeom>
          <a:noFill/>
          <a:ln/>
        </p:spPr>
        <p:txBody>
          <a:bodyPr wrap="square" lIns="0" tIns="0" rIns="0" bIns="0" rtlCol="0" anchor="ctr"/>
          <a:lstStyle/>
          <a:p>
            <a:pPr algn="ctr" indent="0" marL="0">
              <a:buNone/>
            </a:pPr>
            <a:r>
              <a:rPr lang="en-US" sz="1300" b="1" spc="200" kern="0" dirty="0">
                <a:solidFill>
                  <a:srgbClr val="111111"/>
                </a:solidFill>
                <a:latin typeface="Noto Sans JP" pitchFamily="34" charset="0"/>
                <a:ea typeface="Noto Sans JP" pitchFamily="34" charset="-122"/>
                <a:cs typeface="Noto Sans JP" pitchFamily="34" charset="-120"/>
              </a:rPr>
              <a:t>CASE 02</a:t>
            </a:r>
            <a:endParaRPr lang="en-US" sz="1300" dirty="0"/>
          </a:p>
        </p:txBody>
      </p:sp>
      <p:sp>
        <p:nvSpPr>
          <p:cNvPr id="7" name="Text 3"/>
          <p:cNvSpPr txBox="1"/>
          <p:nvPr/>
        </p:nvSpPr>
        <p:spPr>
          <a:xfrm>
            <a:off x="5303520" y="685800"/>
            <a:ext cx="4693615" cy="640080"/>
          </a:xfrm>
          <a:prstGeom prst="rect">
            <a:avLst/>
          </a:prstGeom>
          <a:noFill/>
          <a:ln/>
        </p:spPr>
        <p:txBody>
          <a:bodyPr wrap="square" lIns="0" tIns="0" rIns="0" bIns="0" rtlCol="0" anchor="t"/>
          <a:lstStyle/>
          <a:p>
            <a:pPr indent="0" marL="0">
              <a:buNone/>
            </a:pPr>
            <a:r>
              <a:rPr lang="en-US" sz="3200" b="1" dirty="0">
                <a:solidFill>
                  <a:srgbClr val="111111"/>
                </a:solidFill>
                <a:latin typeface="Noto Sans JP" pitchFamily="34" charset="0"/>
                <a:ea typeface="Noto Sans JP" pitchFamily="34" charset="-122"/>
                <a:cs typeface="Noto Sans JP" pitchFamily="34" charset="-120"/>
              </a:rPr>
              <a:t>飲食店</a:t>
            </a:r>
            <a:endParaRPr lang="en-US" sz="3200" dirty="0"/>
          </a:p>
        </p:txBody>
      </p:sp>
      <p:sp>
        <p:nvSpPr>
          <p:cNvPr id="8" name="Text 4"/>
          <p:cNvSpPr txBox="1"/>
          <p:nvPr/>
        </p:nvSpPr>
        <p:spPr>
          <a:xfrm>
            <a:off x="5303520" y="1463040"/>
            <a:ext cx="6339535" cy="868680"/>
          </a:xfrm>
          <a:prstGeom prst="rect">
            <a:avLst/>
          </a:prstGeom>
          <a:noFill/>
          <a:ln/>
        </p:spPr>
        <p:txBody>
          <a:bodyPr wrap="square" lIns="0" tIns="0" rIns="0" bIns="0" rtlCol="0" anchor="t"/>
          <a:lstStyle/>
          <a:p>
            <a:pPr indent="0" marL="0">
              <a:lnSpc>
                <a:spcPct val="145000"/>
              </a:lnSpc>
              <a:buNone/>
            </a:pPr>
            <a:r>
              <a:rPr lang="en-US" sz="1300" dirty="0">
                <a:solidFill>
                  <a:srgbClr val="5B5B5B"/>
                </a:solidFill>
                <a:latin typeface="Noto Sans JP" pitchFamily="34" charset="0"/>
                <a:ea typeface="Noto Sans JP" pitchFamily="34" charset="-122"/>
                <a:cs typeface="Noto Sans JP" pitchFamily="34" charset="-120"/>
              </a:rPr>
              <a:t>客席ごとの滞在時間や空席を把握し、片付けのタイミングや追加注文のお声がけを支援。混雑時間帯の傾向から、仕込み量やスタッフ配置の計画にも活かせます。</a:t>
            </a:r>
            <a:endParaRPr lang="en-US" sz="1300" dirty="0"/>
          </a:p>
        </p:txBody>
      </p:sp>
      <p:sp>
        <p:nvSpPr>
          <p:cNvPr id="9" name="Shape 5"/>
          <p:cNvSpPr/>
          <p:nvPr/>
        </p:nvSpPr>
        <p:spPr>
          <a:xfrm>
            <a:off x="5303520" y="2560320"/>
            <a:ext cx="6339535" cy="1170432"/>
          </a:xfrm>
          <a:prstGeom prst="roundRect">
            <a:avLst>
              <a:gd name="adj" fmla="val 7813"/>
            </a:avLst>
          </a:prstGeom>
          <a:solidFill>
            <a:srgbClr val="F5F5F2"/>
          </a:solidFill>
          <a:ln/>
        </p:spPr>
      </p:sp>
      <p:sp>
        <p:nvSpPr>
          <p:cNvPr id="10" name="Shape 6"/>
          <p:cNvSpPr/>
          <p:nvPr/>
        </p:nvSpPr>
        <p:spPr>
          <a:xfrm>
            <a:off x="5486400" y="2761488"/>
            <a:ext cx="566928" cy="490960"/>
          </a:xfrm>
          <a:prstGeom prst="hexagon">
            <a:avLst/>
          </a:prstGeom>
          <a:solidFill>
            <a:srgbClr val="FFD400"/>
          </a:solidFill>
          <a:ln w="12700">
            <a:solidFill>
              <a:srgbClr val="FFD400"/>
            </a:solidFill>
            <a:prstDash val="solid"/>
          </a:ln>
        </p:spPr>
      </p:sp>
      <p:sp>
        <p:nvSpPr>
          <p:cNvPr id="11" name="Text 7"/>
          <p:cNvSpPr txBox="1"/>
          <p:nvPr/>
        </p:nvSpPr>
        <p:spPr>
          <a:xfrm>
            <a:off x="5486400" y="276148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01</a:t>
            </a:r>
            <a:endParaRPr lang="en-US" sz="1400" dirty="0"/>
          </a:p>
        </p:txBody>
      </p:sp>
      <p:sp>
        <p:nvSpPr>
          <p:cNvPr id="12" name="Text 8"/>
          <p:cNvSpPr txBox="1"/>
          <p:nvPr/>
        </p:nvSpPr>
        <p:spPr>
          <a:xfrm>
            <a:off x="6263640" y="268833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退店後の片付けをすぐに通知</a:t>
            </a:r>
            <a:endParaRPr lang="en-US" sz="1500" dirty="0"/>
          </a:p>
        </p:txBody>
      </p:sp>
      <p:sp>
        <p:nvSpPr>
          <p:cNvPr id="13" name="Text 9"/>
          <p:cNvSpPr txBox="1"/>
          <p:nvPr/>
        </p:nvSpPr>
        <p:spPr>
          <a:xfrm>
            <a:off x="6263640" y="306324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テーブルの空席状態や退店を判定し、スタッフへ片付け（バッシング）を推奨。空席が放置される時間を減らし、次のお客様を案内する判断を支えます。</a:t>
            </a:r>
            <a:endParaRPr lang="en-US" sz="1100" dirty="0"/>
          </a:p>
        </p:txBody>
      </p:sp>
      <p:sp>
        <p:nvSpPr>
          <p:cNvPr id="14" name="Shape 10"/>
          <p:cNvSpPr/>
          <p:nvPr/>
        </p:nvSpPr>
        <p:spPr>
          <a:xfrm>
            <a:off x="5303520" y="3886200"/>
            <a:ext cx="6339535" cy="1170432"/>
          </a:xfrm>
          <a:prstGeom prst="roundRect">
            <a:avLst>
              <a:gd name="adj" fmla="val 7813"/>
            </a:avLst>
          </a:prstGeom>
          <a:solidFill>
            <a:srgbClr val="F5F5F2"/>
          </a:solidFill>
          <a:ln/>
        </p:spPr>
      </p:sp>
      <p:sp>
        <p:nvSpPr>
          <p:cNvPr id="15" name="Shape 11"/>
          <p:cNvSpPr/>
          <p:nvPr/>
        </p:nvSpPr>
        <p:spPr>
          <a:xfrm>
            <a:off x="5486400" y="4087368"/>
            <a:ext cx="566928" cy="490960"/>
          </a:xfrm>
          <a:prstGeom prst="hexagon">
            <a:avLst/>
          </a:prstGeom>
          <a:solidFill>
            <a:srgbClr val="FFD400"/>
          </a:solidFill>
          <a:ln w="12700">
            <a:solidFill>
              <a:srgbClr val="FFD400"/>
            </a:solidFill>
            <a:prstDash val="solid"/>
          </a:ln>
        </p:spPr>
      </p:sp>
      <p:sp>
        <p:nvSpPr>
          <p:cNvPr id="16" name="Text 12"/>
          <p:cNvSpPr txBox="1"/>
          <p:nvPr/>
        </p:nvSpPr>
        <p:spPr>
          <a:xfrm>
            <a:off x="5486400" y="408736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02</a:t>
            </a:r>
            <a:endParaRPr lang="en-US" sz="1400" dirty="0"/>
          </a:p>
        </p:txBody>
      </p:sp>
      <p:sp>
        <p:nvSpPr>
          <p:cNvPr id="17" name="Text 13"/>
          <p:cNvSpPr txBox="1"/>
          <p:nvPr/>
        </p:nvSpPr>
        <p:spPr>
          <a:xfrm>
            <a:off x="6263640" y="401421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滞在時間に応じた追加注文の提案</a:t>
            </a:r>
            <a:endParaRPr lang="en-US" sz="1500" dirty="0"/>
          </a:p>
        </p:txBody>
      </p:sp>
      <p:sp>
        <p:nvSpPr>
          <p:cNvPr id="18" name="Text 14"/>
          <p:cNvSpPr txBox="1"/>
          <p:nvPr/>
        </p:nvSpPr>
        <p:spPr>
          <a:xfrm>
            <a:off x="6263640" y="438912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テーブルごとの滞在時間を計測し、一定時間を過ぎたタイミングで追加オーダーのお伺いを促します。客単価向上と、スムーズな接客・退店案内に活用します。</a:t>
            </a:r>
            <a:endParaRPr lang="en-US" sz="1100" dirty="0"/>
          </a:p>
        </p:txBody>
      </p:sp>
      <p:sp>
        <p:nvSpPr>
          <p:cNvPr id="19" name="Shape 15"/>
          <p:cNvSpPr/>
          <p:nvPr/>
        </p:nvSpPr>
        <p:spPr>
          <a:xfrm>
            <a:off x="5303520" y="5212080"/>
            <a:ext cx="6339535" cy="1170432"/>
          </a:xfrm>
          <a:prstGeom prst="roundRect">
            <a:avLst>
              <a:gd name="adj" fmla="val 7813"/>
            </a:avLst>
          </a:prstGeom>
          <a:solidFill>
            <a:srgbClr val="F5F5F2"/>
          </a:solidFill>
          <a:ln/>
        </p:spPr>
      </p:sp>
      <p:sp>
        <p:nvSpPr>
          <p:cNvPr id="20" name="Shape 16"/>
          <p:cNvSpPr/>
          <p:nvPr/>
        </p:nvSpPr>
        <p:spPr>
          <a:xfrm>
            <a:off x="5486400" y="5413248"/>
            <a:ext cx="566928" cy="490960"/>
          </a:xfrm>
          <a:prstGeom prst="hexagon">
            <a:avLst/>
          </a:prstGeom>
          <a:solidFill>
            <a:srgbClr val="FFD400"/>
          </a:solidFill>
          <a:ln w="12700">
            <a:solidFill>
              <a:srgbClr val="FFD400"/>
            </a:solidFill>
            <a:prstDash val="solid"/>
          </a:ln>
        </p:spPr>
      </p:sp>
      <p:sp>
        <p:nvSpPr>
          <p:cNvPr id="21" name="Text 17"/>
          <p:cNvSpPr txBox="1"/>
          <p:nvPr/>
        </p:nvSpPr>
        <p:spPr>
          <a:xfrm>
            <a:off x="5486400" y="541324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03</a:t>
            </a:r>
            <a:endParaRPr lang="en-US" sz="1400" dirty="0"/>
          </a:p>
        </p:txBody>
      </p:sp>
      <p:sp>
        <p:nvSpPr>
          <p:cNvPr id="22" name="Text 18"/>
          <p:cNvSpPr txBox="1"/>
          <p:nvPr/>
        </p:nvSpPr>
        <p:spPr>
          <a:xfrm>
            <a:off x="6263640" y="534009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混雑前に仕込み・配置を調整</a:t>
            </a:r>
            <a:endParaRPr lang="en-US" sz="1500" dirty="0"/>
          </a:p>
        </p:txBody>
      </p:sp>
      <p:sp>
        <p:nvSpPr>
          <p:cNvPr id="23" name="Text 19"/>
          <p:cNvSpPr txBox="1"/>
          <p:nvPr/>
        </p:nvSpPr>
        <p:spPr>
          <a:xfrm>
            <a:off x="6263640" y="571500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雨上がりなどの天候変化や店前通行量の増加から、数十分後の需要を予測。仕込みの追加やスタッフ配置の変更を事前に検討できます。</a:t>
            </a:r>
            <a:endParaRPr lang="en-US" sz="1100" dirty="0"/>
          </a:p>
        </p:txBody>
      </p:sp>
      <p:sp>
        <p:nvSpPr>
          <p:cNvPr id="24" name="Text 20"/>
          <p:cNvSpPr txBox="1"/>
          <p:nvPr/>
        </p:nvSpPr>
        <p:spPr>
          <a:xfrm>
            <a:off x="5303520" y="6473952"/>
            <a:ext cx="5943600" cy="228600"/>
          </a:xfrm>
          <a:prstGeom prst="rect">
            <a:avLst/>
          </a:prstGeom>
          <a:noFill/>
          <a:ln/>
        </p:spPr>
        <p:txBody>
          <a:bodyPr wrap="square" lIns="0" tIns="0" rIns="0" bIns="0" rtlCol="0" anchor="t"/>
          <a:lstStyle/>
          <a:p>
            <a:pPr indent="0" marL="0">
              <a:buNone/>
            </a:pPr>
            <a:r>
              <a:rPr lang="en-US" sz="900" dirty="0">
                <a:solidFill>
                  <a:srgbClr val="5B5B5B"/>
                </a:solidFill>
                <a:latin typeface="Noto Sans JP" pitchFamily="34" charset="0"/>
                <a:ea typeface="Noto Sans JP" pitchFamily="34" charset="-122"/>
                <a:cs typeface="Noto Sans JP" pitchFamily="34" charset="-120"/>
              </a:rPr>
              <a:t>※サービス資料に基づく想定ユースケースです（導入実績ではありません）。</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12</a:t>
            </a:r>
            <a:endParaRPr lang="en-US" sz="1000" dirty="0"/>
          </a:p>
        </p:txBody>
      </p:sp>
      <p:pic>
        <p:nvPicPr>
          <p:cNvPr id="4" name="Image 1" descr="/tmp/claude-0/-home-user-AIInfinity/c029ed01-a8ff-5307-a636-4c28fa3dbac4/scratchpad/lp/jpg/case-department-v2.jpg">    </p:cNvPr>
          <p:cNvPicPr>
            <a:picLocks noChangeAspect="1"/>
          </p:cNvPicPr>
          <p:nvPr/>
        </p:nvPicPr>
        <p:blipFill>
          <a:blip r:embed="rId2"/>
          <a:srcRect l="0" r="0" t="0" b="0"/>
          <a:stretch/>
        </p:blipFill>
        <p:spPr>
          <a:xfrm>
            <a:off x="0" y="0"/>
            <a:ext cx="4754880" cy="6858000"/>
          </a:xfrm>
          <a:prstGeom prst="rect">
            <a:avLst/>
          </a:prstGeom>
        </p:spPr>
      </p:pic>
      <p:sp>
        <p:nvSpPr>
          <p:cNvPr id="5" name="Shape 1"/>
          <p:cNvSpPr/>
          <p:nvPr/>
        </p:nvSpPr>
        <p:spPr>
          <a:xfrm>
            <a:off x="411480" y="411480"/>
            <a:ext cx="1371600" cy="384048"/>
          </a:xfrm>
          <a:prstGeom prst="roundRect">
            <a:avLst>
              <a:gd name="adj" fmla="val 50000"/>
            </a:avLst>
          </a:prstGeom>
          <a:solidFill>
            <a:srgbClr val="FFD400"/>
          </a:solidFill>
          <a:ln/>
        </p:spPr>
      </p:sp>
      <p:sp>
        <p:nvSpPr>
          <p:cNvPr id="6" name="Text 2"/>
          <p:cNvSpPr txBox="1"/>
          <p:nvPr/>
        </p:nvSpPr>
        <p:spPr>
          <a:xfrm>
            <a:off x="411480" y="411480"/>
            <a:ext cx="1371600" cy="384048"/>
          </a:xfrm>
          <a:prstGeom prst="rect">
            <a:avLst/>
          </a:prstGeom>
          <a:noFill/>
          <a:ln/>
        </p:spPr>
        <p:txBody>
          <a:bodyPr wrap="square" lIns="0" tIns="0" rIns="0" bIns="0" rtlCol="0" anchor="ctr"/>
          <a:lstStyle/>
          <a:p>
            <a:pPr algn="ctr" indent="0" marL="0">
              <a:buNone/>
            </a:pPr>
            <a:r>
              <a:rPr lang="en-US" sz="1300" b="1" spc="200" kern="0" dirty="0">
                <a:solidFill>
                  <a:srgbClr val="111111"/>
                </a:solidFill>
                <a:latin typeface="Noto Sans JP" pitchFamily="34" charset="0"/>
                <a:ea typeface="Noto Sans JP" pitchFamily="34" charset="-122"/>
                <a:cs typeface="Noto Sans JP" pitchFamily="34" charset="-120"/>
              </a:rPr>
              <a:t>CASE 03</a:t>
            </a:r>
            <a:endParaRPr lang="en-US" sz="1300" dirty="0"/>
          </a:p>
        </p:txBody>
      </p:sp>
      <p:sp>
        <p:nvSpPr>
          <p:cNvPr id="7" name="Text 3"/>
          <p:cNvSpPr txBox="1"/>
          <p:nvPr/>
        </p:nvSpPr>
        <p:spPr>
          <a:xfrm>
            <a:off x="5303520" y="685800"/>
            <a:ext cx="4693615" cy="640080"/>
          </a:xfrm>
          <a:prstGeom prst="rect">
            <a:avLst/>
          </a:prstGeom>
          <a:noFill/>
          <a:ln/>
        </p:spPr>
        <p:txBody>
          <a:bodyPr wrap="square" lIns="0" tIns="0" rIns="0" bIns="0" rtlCol="0" anchor="t"/>
          <a:lstStyle/>
          <a:p>
            <a:pPr indent="0" marL="0">
              <a:buNone/>
            </a:pPr>
            <a:r>
              <a:rPr lang="en-US" sz="3200" b="1" dirty="0">
                <a:solidFill>
                  <a:srgbClr val="111111"/>
                </a:solidFill>
                <a:latin typeface="Noto Sans JP" pitchFamily="34" charset="0"/>
                <a:ea typeface="Noto Sans JP" pitchFamily="34" charset="-122"/>
                <a:cs typeface="Noto Sans JP" pitchFamily="34" charset="-120"/>
              </a:rPr>
              <a:t>百貨店・商業施設</a:t>
            </a:r>
            <a:endParaRPr lang="en-US" sz="3200" dirty="0"/>
          </a:p>
        </p:txBody>
      </p:sp>
      <p:sp>
        <p:nvSpPr>
          <p:cNvPr id="8" name="Text 4"/>
          <p:cNvSpPr txBox="1"/>
          <p:nvPr/>
        </p:nvSpPr>
        <p:spPr>
          <a:xfrm>
            <a:off x="5303520" y="1463040"/>
            <a:ext cx="6339535" cy="868680"/>
          </a:xfrm>
          <a:prstGeom prst="rect">
            <a:avLst/>
          </a:prstGeom>
          <a:noFill/>
          <a:ln/>
        </p:spPr>
        <p:txBody>
          <a:bodyPr wrap="square" lIns="0" tIns="0" rIns="0" bIns="0" rtlCol="0" anchor="t"/>
          <a:lstStyle/>
          <a:p>
            <a:pPr indent="0" marL="0">
              <a:lnSpc>
                <a:spcPct val="145000"/>
              </a:lnSpc>
              <a:buNone/>
            </a:pPr>
            <a:r>
              <a:rPr lang="en-US" sz="1300" dirty="0">
                <a:solidFill>
                  <a:srgbClr val="5B5B5B"/>
                </a:solidFill>
                <a:latin typeface="Noto Sans JP" pitchFamily="34" charset="0"/>
                <a:ea typeface="Noto Sans JP" pitchFamily="34" charset="-122"/>
                <a:cs typeface="Noto Sans JP" pitchFamily="34" charset="-120"/>
              </a:rPr>
              <a:t>フロア間の回遊ルートや立ち寄りの多い売場を可視化。登録済みのVIPのお客様の来店をいち早く把握し、催事の集客効果も数字で比較できます。</a:t>
            </a:r>
            <a:endParaRPr lang="en-US" sz="1300" dirty="0"/>
          </a:p>
        </p:txBody>
      </p:sp>
      <p:sp>
        <p:nvSpPr>
          <p:cNvPr id="9" name="Shape 5"/>
          <p:cNvSpPr/>
          <p:nvPr/>
        </p:nvSpPr>
        <p:spPr>
          <a:xfrm>
            <a:off x="5303520" y="2560320"/>
            <a:ext cx="6339535" cy="1170432"/>
          </a:xfrm>
          <a:prstGeom prst="roundRect">
            <a:avLst>
              <a:gd name="adj" fmla="val 7813"/>
            </a:avLst>
          </a:prstGeom>
          <a:solidFill>
            <a:srgbClr val="F5F5F2"/>
          </a:solidFill>
          <a:ln/>
        </p:spPr>
      </p:sp>
      <p:sp>
        <p:nvSpPr>
          <p:cNvPr id="10" name="Shape 6"/>
          <p:cNvSpPr/>
          <p:nvPr/>
        </p:nvSpPr>
        <p:spPr>
          <a:xfrm>
            <a:off x="5486400" y="2761488"/>
            <a:ext cx="566928" cy="490960"/>
          </a:xfrm>
          <a:prstGeom prst="hexagon">
            <a:avLst/>
          </a:prstGeom>
          <a:solidFill>
            <a:srgbClr val="FFD400"/>
          </a:solidFill>
          <a:ln w="12700">
            <a:solidFill>
              <a:srgbClr val="FFD400"/>
            </a:solidFill>
            <a:prstDash val="solid"/>
          </a:ln>
        </p:spPr>
      </p:sp>
      <p:sp>
        <p:nvSpPr>
          <p:cNvPr id="11" name="Text 7"/>
          <p:cNvSpPr txBox="1"/>
          <p:nvPr/>
        </p:nvSpPr>
        <p:spPr>
          <a:xfrm>
            <a:off x="5486400" y="276148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01</a:t>
            </a:r>
            <a:endParaRPr lang="en-US" sz="1400" dirty="0"/>
          </a:p>
        </p:txBody>
      </p:sp>
      <p:sp>
        <p:nvSpPr>
          <p:cNvPr id="12" name="Text 8"/>
          <p:cNvSpPr txBox="1"/>
          <p:nvPr/>
        </p:nvSpPr>
        <p:spPr>
          <a:xfrm>
            <a:off x="6263640" y="268833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入口からブランド売場までの回遊を把握</a:t>
            </a:r>
            <a:endParaRPr lang="en-US" sz="1500" dirty="0"/>
          </a:p>
        </p:txBody>
      </p:sp>
      <p:sp>
        <p:nvSpPr>
          <p:cNvPr id="13" name="Text 9"/>
          <p:cNvSpPr txBox="1"/>
          <p:nvPr/>
        </p:nvSpPr>
        <p:spPr>
          <a:xfrm>
            <a:off x="6263640" y="306324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動線とヒートマップにより、どの入口から入ったお客様が、どのブランドゾーンへ移動したかを可視化。売場間の流入や立ち寄りを配置改善の材料にします。</a:t>
            </a:r>
            <a:endParaRPr lang="en-US" sz="1100" dirty="0"/>
          </a:p>
        </p:txBody>
      </p:sp>
      <p:sp>
        <p:nvSpPr>
          <p:cNvPr id="14" name="Shape 10"/>
          <p:cNvSpPr/>
          <p:nvPr/>
        </p:nvSpPr>
        <p:spPr>
          <a:xfrm>
            <a:off x="5303520" y="3886200"/>
            <a:ext cx="6339535" cy="1170432"/>
          </a:xfrm>
          <a:prstGeom prst="roundRect">
            <a:avLst>
              <a:gd name="adj" fmla="val 7813"/>
            </a:avLst>
          </a:prstGeom>
          <a:solidFill>
            <a:srgbClr val="F5F5F2"/>
          </a:solidFill>
          <a:ln/>
        </p:spPr>
      </p:sp>
      <p:sp>
        <p:nvSpPr>
          <p:cNvPr id="15" name="Shape 11"/>
          <p:cNvSpPr/>
          <p:nvPr/>
        </p:nvSpPr>
        <p:spPr>
          <a:xfrm>
            <a:off x="5486400" y="4087368"/>
            <a:ext cx="566928" cy="490960"/>
          </a:xfrm>
          <a:prstGeom prst="hexagon">
            <a:avLst/>
          </a:prstGeom>
          <a:solidFill>
            <a:srgbClr val="FFD400"/>
          </a:solidFill>
          <a:ln w="12700">
            <a:solidFill>
              <a:srgbClr val="FFD400"/>
            </a:solidFill>
            <a:prstDash val="solid"/>
          </a:ln>
        </p:spPr>
      </p:sp>
      <p:sp>
        <p:nvSpPr>
          <p:cNvPr id="16" name="Text 12"/>
          <p:cNvSpPr txBox="1"/>
          <p:nvPr/>
        </p:nvSpPr>
        <p:spPr>
          <a:xfrm>
            <a:off x="5486400" y="408736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02</a:t>
            </a:r>
            <a:endParaRPr lang="en-US" sz="1400" dirty="0"/>
          </a:p>
        </p:txBody>
      </p:sp>
      <p:sp>
        <p:nvSpPr>
          <p:cNvPr id="17" name="Text 13"/>
          <p:cNvSpPr txBox="1"/>
          <p:nvPr/>
        </p:nvSpPr>
        <p:spPr>
          <a:xfrm>
            <a:off x="6263640" y="401421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常連・VIPへの接客を支援</a:t>
            </a:r>
            <a:endParaRPr lang="en-US" sz="1500" dirty="0"/>
          </a:p>
        </p:txBody>
      </p:sp>
      <p:sp>
        <p:nvSpPr>
          <p:cNvPr id="18" name="Text 14"/>
          <p:cNvSpPr txBox="1"/>
          <p:nvPr/>
        </p:nvSpPr>
        <p:spPr>
          <a:xfrm>
            <a:off x="6263640" y="438912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VIPラウンジや高額品売場で、登録済みの常連・重要顧客の来店を把握。担当者への連絡や、タイミングを逃さない丁寧な接客につなげます。</a:t>
            </a:r>
            <a:endParaRPr lang="en-US" sz="1100" dirty="0"/>
          </a:p>
        </p:txBody>
      </p:sp>
      <p:sp>
        <p:nvSpPr>
          <p:cNvPr id="19" name="Shape 15"/>
          <p:cNvSpPr/>
          <p:nvPr/>
        </p:nvSpPr>
        <p:spPr>
          <a:xfrm>
            <a:off x="5303520" y="5212080"/>
            <a:ext cx="6339535" cy="1170432"/>
          </a:xfrm>
          <a:prstGeom prst="roundRect">
            <a:avLst>
              <a:gd name="adj" fmla="val 7813"/>
            </a:avLst>
          </a:prstGeom>
          <a:solidFill>
            <a:srgbClr val="F5F5F2"/>
          </a:solidFill>
          <a:ln/>
        </p:spPr>
      </p:sp>
      <p:sp>
        <p:nvSpPr>
          <p:cNvPr id="20" name="Shape 16"/>
          <p:cNvSpPr/>
          <p:nvPr/>
        </p:nvSpPr>
        <p:spPr>
          <a:xfrm>
            <a:off x="5486400" y="5413248"/>
            <a:ext cx="566928" cy="490960"/>
          </a:xfrm>
          <a:prstGeom prst="hexagon">
            <a:avLst/>
          </a:prstGeom>
          <a:solidFill>
            <a:srgbClr val="FFD400"/>
          </a:solidFill>
          <a:ln w="12700">
            <a:solidFill>
              <a:srgbClr val="FFD400"/>
            </a:solidFill>
            <a:prstDash val="solid"/>
          </a:ln>
        </p:spPr>
      </p:sp>
      <p:sp>
        <p:nvSpPr>
          <p:cNvPr id="21" name="Text 17"/>
          <p:cNvSpPr txBox="1"/>
          <p:nvPr/>
        </p:nvSpPr>
        <p:spPr>
          <a:xfrm>
            <a:off x="5486400" y="541324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03</a:t>
            </a:r>
            <a:endParaRPr lang="en-US" sz="1400" dirty="0"/>
          </a:p>
        </p:txBody>
      </p:sp>
      <p:sp>
        <p:nvSpPr>
          <p:cNvPr id="22" name="Text 18"/>
          <p:cNvSpPr txBox="1"/>
          <p:nvPr/>
        </p:nvSpPr>
        <p:spPr>
          <a:xfrm>
            <a:off x="6263640" y="534009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催事・ポップアップの価値を可視化</a:t>
            </a:r>
            <a:endParaRPr lang="en-US" sz="1500" dirty="0"/>
          </a:p>
        </p:txBody>
      </p:sp>
      <p:sp>
        <p:nvSpPr>
          <p:cNvPr id="23" name="Text 19"/>
          <p:cNvSpPr txBox="1"/>
          <p:nvPr/>
        </p:nvSpPr>
        <p:spPr>
          <a:xfrm>
            <a:off x="6263640" y="571500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期間限定イベントの通行量・滞留時間を測定。レイアウトの改善、出店メーカーへのフィードバック、次回の出店料・賃料交渉の判断材料に活用します。</a:t>
            </a:r>
            <a:endParaRPr lang="en-US" sz="1100" dirty="0"/>
          </a:p>
        </p:txBody>
      </p:sp>
      <p:sp>
        <p:nvSpPr>
          <p:cNvPr id="24" name="Text 20"/>
          <p:cNvSpPr txBox="1"/>
          <p:nvPr/>
        </p:nvSpPr>
        <p:spPr>
          <a:xfrm>
            <a:off x="5303520" y="6473952"/>
            <a:ext cx="5943600" cy="228600"/>
          </a:xfrm>
          <a:prstGeom prst="rect">
            <a:avLst/>
          </a:prstGeom>
          <a:noFill/>
          <a:ln/>
        </p:spPr>
        <p:txBody>
          <a:bodyPr wrap="square" lIns="0" tIns="0" rIns="0" bIns="0" rtlCol="0" anchor="t"/>
          <a:lstStyle/>
          <a:p>
            <a:pPr indent="0" marL="0">
              <a:buNone/>
            </a:pPr>
            <a:r>
              <a:rPr lang="en-US" sz="900" dirty="0">
                <a:solidFill>
                  <a:srgbClr val="5B5B5B"/>
                </a:solidFill>
                <a:latin typeface="Noto Sans JP" pitchFamily="34" charset="0"/>
                <a:ea typeface="Noto Sans JP" pitchFamily="34" charset="-122"/>
                <a:cs typeface="Noto Sans JP" pitchFamily="34" charset="-120"/>
              </a:rPr>
              <a:t>※サービス資料に基づく想定ユースケースです（導入実績ではありません）。</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13</a:t>
            </a:r>
            <a:endParaRPr lang="en-US" sz="1000" dirty="0"/>
          </a:p>
        </p:txBody>
      </p:sp>
      <p:pic>
        <p:nvPicPr>
          <p:cNvPr id="4" name="Image 1" descr="/tmp/claude-0/-home-user-AIInfinity/c029ed01-a8ff-5307-a636-4c28fa3dbac4/scratchpad/lp/jpg/case-care-v2.jpg">    </p:cNvPr>
          <p:cNvPicPr>
            <a:picLocks noChangeAspect="1"/>
          </p:cNvPicPr>
          <p:nvPr/>
        </p:nvPicPr>
        <p:blipFill>
          <a:blip r:embed="rId2"/>
          <a:srcRect l="0" r="0" t="0" b="0"/>
          <a:stretch/>
        </p:blipFill>
        <p:spPr>
          <a:xfrm>
            <a:off x="0" y="0"/>
            <a:ext cx="4754880" cy="6858000"/>
          </a:xfrm>
          <a:prstGeom prst="rect">
            <a:avLst/>
          </a:prstGeom>
        </p:spPr>
      </p:pic>
      <p:sp>
        <p:nvSpPr>
          <p:cNvPr id="5" name="Shape 1"/>
          <p:cNvSpPr/>
          <p:nvPr/>
        </p:nvSpPr>
        <p:spPr>
          <a:xfrm>
            <a:off x="411480" y="411480"/>
            <a:ext cx="1371600" cy="384048"/>
          </a:xfrm>
          <a:prstGeom prst="roundRect">
            <a:avLst>
              <a:gd name="adj" fmla="val 50000"/>
            </a:avLst>
          </a:prstGeom>
          <a:solidFill>
            <a:srgbClr val="FFD400"/>
          </a:solidFill>
          <a:ln/>
        </p:spPr>
      </p:sp>
      <p:sp>
        <p:nvSpPr>
          <p:cNvPr id="6" name="Text 2"/>
          <p:cNvSpPr txBox="1"/>
          <p:nvPr/>
        </p:nvSpPr>
        <p:spPr>
          <a:xfrm>
            <a:off x="411480" y="411480"/>
            <a:ext cx="1371600" cy="384048"/>
          </a:xfrm>
          <a:prstGeom prst="rect">
            <a:avLst/>
          </a:prstGeom>
          <a:noFill/>
          <a:ln/>
        </p:spPr>
        <p:txBody>
          <a:bodyPr wrap="square" lIns="0" tIns="0" rIns="0" bIns="0" rtlCol="0" anchor="ctr"/>
          <a:lstStyle/>
          <a:p>
            <a:pPr algn="ctr" indent="0" marL="0">
              <a:buNone/>
            </a:pPr>
            <a:r>
              <a:rPr lang="en-US" sz="1300" b="1" spc="200" kern="0" dirty="0">
                <a:solidFill>
                  <a:srgbClr val="111111"/>
                </a:solidFill>
                <a:latin typeface="Noto Sans JP" pitchFamily="34" charset="0"/>
                <a:ea typeface="Noto Sans JP" pitchFamily="34" charset="-122"/>
                <a:cs typeface="Noto Sans JP" pitchFamily="34" charset="-120"/>
              </a:rPr>
              <a:t>CASE 04</a:t>
            </a:r>
            <a:endParaRPr lang="en-US" sz="1300" dirty="0"/>
          </a:p>
        </p:txBody>
      </p:sp>
      <p:sp>
        <p:nvSpPr>
          <p:cNvPr id="7" name="Text 3"/>
          <p:cNvSpPr txBox="1"/>
          <p:nvPr/>
        </p:nvSpPr>
        <p:spPr>
          <a:xfrm>
            <a:off x="5303520" y="685800"/>
            <a:ext cx="4693615" cy="640080"/>
          </a:xfrm>
          <a:prstGeom prst="rect">
            <a:avLst/>
          </a:prstGeom>
          <a:noFill/>
          <a:ln/>
        </p:spPr>
        <p:txBody>
          <a:bodyPr wrap="square" lIns="0" tIns="0" rIns="0" bIns="0" rtlCol="0" anchor="t"/>
          <a:lstStyle/>
          <a:p>
            <a:pPr indent="0" marL="0">
              <a:buNone/>
            </a:pPr>
            <a:r>
              <a:rPr lang="en-US" sz="3200" b="1" dirty="0">
                <a:solidFill>
                  <a:srgbClr val="111111"/>
                </a:solidFill>
                <a:latin typeface="Noto Sans JP" pitchFamily="34" charset="0"/>
                <a:ea typeface="Noto Sans JP" pitchFamily="34" charset="-122"/>
                <a:cs typeface="Noto Sans JP" pitchFamily="34" charset="-120"/>
              </a:rPr>
              <a:t>病院・介護施設</a:t>
            </a:r>
            <a:endParaRPr lang="en-US" sz="3200" dirty="0"/>
          </a:p>
        </p:txBody>
      </p:sp>
      <p:sp>
        <p:nvSpPr>
          <p:cNvPr id="8" name="Text 4"/>
          <p:cNvSpPr txBox="1"/>
          <p:nvPr/>
        </p:nvSpPr>
        <p:spPr>
          <a:xfrm>
            <a:off x="5303520" y="1463040"/>
            <a:ext cx="6339535" cy="868680"/>
          </a:xfrm>
          <a:prstGeom prst="rect">
            <a:avLst/>
          </a:prstGeom>
          <a:noFill/>
          <a:ln/>
        </p:spPr>
        <p:txBody>
          <a:bodyPr wrap="square" lIns="0" tIns="0" rIns="0" bIns="0" rtlCol="0" anchor="t"/>
          <a:lstStyle/>
          <a:p>
            <a:pPr indent="0" marL="0">
              <a:lnSpc>
                <a:spcPct val="145000"/>
              </a:lnSpc>
              <a:buNone/>
            </a:pPr>
            <a:r>
              <a:rPr lang="en-US" sz="1300" dirty="0">
                <a:solidFill>
                  <a:srgbClr val="5B5B5B"/>
                </a:solidFill>
                <a:latin typeface="Noto Sans JP" pitchFamily="34" charset="0"/>
                <a:ea typeface="Noto Sans JP" pitchFamily="34" charset="-122"/>
                <a:cs typeface="Noto Sans JP" pitchFamily="34" charset="-120"/>
              </a:rPr>
              <a:t>廊下や居室付近での転倒、夜間の立入禁止エリアへの侵入を検知し、スタッフへ匿名テキストで通知。限られた人数での見守りを支えます。</a:t>
            </a:r>
            <a:endParaRPr lang="en-US" sz="1300" dirty="0"/>
          </a:p>
        </p:txBody>
      </p:sp>
      <p:sp>
        <p:nvSpPr>
          <p:cNvPr id="9" name="Shape 5"/>
          <p:cNvSpPr/>
          <p:nvPr/>
        </p:nvSpPr>
        <p:spPr>
          <a:xfrm>
            <a:off x="5303520" y="2560320"/>
            <a:ext cx="6339535" cy="1170432"/>
          </a:xfrm>
          <a:prstGeom prst="roundRect">
            <a:avLst>
              <a:gd name="adj" fmla="val 7813"/>
            </a:avLst>
          </a:prstGeom>
          <a:solidFill>
            <a:srgbClr val="F5F5F2"/>
          </a:solidFill>
          <a:ln/>
        </p:spPr>
      </p:sp>
      <p:sp>
        <p:nvSpPr>
          <p:cNvPr id="10" name="Shape 6"/>
          <p:cNvSpPr/>
          <p:nvPr/>
        </p:nvSpPr>
        <p:spPr>
          <a:xfrm>
            <a:off x="5486400" y="2761488"/>
            <a:ext cx="566928" cy="490960"/>
          </a:xfrm>
          <a:prstGeom prst="hexagon">
            <a:avLst/>
          </a:prstGeom>
          <a:solidFill>
            <a:srgbClr val="FFD400"/>
          </a:solidFill>
          <a:ln w="12700">
            <a:solidFill>
              <a:srgbClr val="FFD400"/>
            </a:solidFill>
            <a:prstDash val="solid"/>
          </a:ln>
        </p:spPr>
      </p:sp>
      <p:sp>
        <p:nvSpPr>
          <p:cNvPr id="11" name="Text 7"/>
          <p:cNvSpPr txBox="1"/>
          <p:nvPr/>
        </p:nvSpPr>
        <p:spPr>
          <a:xfrm>
            <a:off x="5486400" y="276148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01</a:t>
            </a:r>
            <a:endParaRPr lang="en-US" sz="1400" dirty="0"/>
          </a:p>
        </p:txBody>
      </p:sp>
      <p:sp>
        <p:nvSpPr>
          <p:cNvPr id="12" name="Text 8"/>
          <p:cNvSpPr txBox="1"/>
          <p:nvPr/>
        </p:nvSpPr>
        <p:spPr>
          <a:xfrm>
            <a:off x="6263640" y="268833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転倒を早期発見し、救護へつなぐ</a:t>
            </a:r>
            <a:endParaRPr lang="en-US" sz="1500" dirty="0"/>
          </a:p>
        </p:txBody>
      </p:sp>
      <p:sp>
        <p:nvSpPr>
          <p:cNvPr id="13" name="Text 9"/>
          <p:cNvSpPr txBox="1"/>
          <p:nvPr/>
        </p:nvSpPr>
        <p:spPr>
          <a:xfrm>
            <a:off x="6263640" y="306324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待合室や廊下での転倒をリアルタイムに検知し、スタッフへ通知。現場確認や救護を迅速に行うための見守りを支援します。</a:t>
            </a:r>
            <a:endParaRPr lang="en-US" sz="1100" dirty="0"/>
          </a:p>
        </p:txBody>
      </p:sp>
      <p:sp>
        <p:nvSpPr>
          <p:cNvPr id="14" name="Shape 10"/>
          <p:cNvSpPr/>
          <p:nvPr/>
        </p:nvSpPr>
        <p:spPr>
          <a:xfrm>
            <a:off x="5303520" y="3886200"/>
            <a:ext cx="6339535" cy="1170432"/>
          </a:xfrm>
          <a:prstGeom prst="roundRect">
            <a:avLst>
              <a:gd name="adj" fmla="val 7813"/>
            </a:avLst>
          </a:prstGeom>
          <a:solidFill>
            <a:srgbClr val="F5F5F2"/>
          </a:solidFill>
          <a:ln/>
        </p:spPr>
      </p:sp>
      <p:sp>
        <p:nvSpPr>
          <p:cNvPr id="15" name="Shape 11"/>
          <p:cNvSpPr/>
          <p:nvPr/>
        </p:nvSpPr>
        <p:spPr>
          <a:xfrm>
            <a:off x="5486400" y="4087368"/>
            <a:ext cx="566928" cy="490960"/>
          </a:xfrm>
          <a:prstGeom prst="hexagon">
            <a:avLst/>
          </a:prstGeom>
          <a:solidFill>
            <a:srgbClr val="FFD400"/>
          </a:solidFill>
          <a:ln w="12700">
            <a:solidFill>
              <a:srgbClr val="FFD400"/>
            </a:solidFill>
            <a:prstDash val="solid"/>
          </a:ln>
        </p:spPr>
      </p:sp>
      <p:sp>
        <p:nvSpPr>
          <p:cNvPr id="16" name="Text 12"/>
          <p:cNvSpPr txBox="1"/>
          <p:nvPr/>
        </p:nvSpPr>
        <p:spPr>
          <a:xfrm>
            <a:off x="5486400" y="408736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02</a:t>
            </a:r>
            <a:endParaRPr lang="en-US" sz="1400" dirty="0"/>
          </a:p>
        </p:txBody>
      </p:sp>
      <p:sp>
        <p:nvSpPr>
          <p:cNvPr id="17" name="Text 13"/>
          <p:cNvSpPr txBox="1"/>
          <p:nvPr/>
        </p:nvSpPr>
        <p:spPr>
          <a:xfrm>
            <a:off x="6263640" y="401421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夜間の無断外出・危険エリアを監視</a:t>
            </a:r>
            <a:endParaRPr lang="en-US" sz="1500" dirty="0"/>
          </a:p>
        </p:txBody>
      </p:sp>
      <p:sp>
        <p:nvSpPr>
          <p:cNvPr id="18" name="Text 14"/>
          <p:cNvSpPr txBox="1"/>
          <p:nvPr/>
        </p:nvSpPr>
        <p:spPr>
          <a:xfrm>
            <a:off x="6263640" y="438912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薬品庫やスタッフルームなどへの侵入、夜間の無断外出につながる境界の横断を検知。ラインクロスのアラートを現場確認につなげます。</a:t>
            </a:r>
            <a:endParaRPr lang="en-US" sz="1100" dirty="0"/>
          </a:p>
        </p:txBody>
      </p:sp>
      <p:sp>
        <p:nvSpPr>
          <p:cNvPr id="19" name="Shape 15"/>
          <p:cNvSpPr/>
          <p:nvPr/>
        </p:nvSpPr>
        <p:spPr>
          <a:xfrm>
            <a:off x="5303520" y="5212080"/>
            <a:ext cx="6339535" cy="1170432"/>
          </a:xfrm>
          <a:prstGeom prst="roundRect">
            <a:avLst>
              <a:gd name="adj" fmla="val 7813"/>
            </a:avLst>
          </a:prstGeom>
          <a:solidFill>
            <a:srgbClr val="F5F5F2"/>
          </a:solidFill>
          <a:ln/>
        </p:spPr>
      </p:sp>
      <p:sp>
        <p:nvSpPr>
          <p:cNvPr id="20" name="Shape 16"/>
          <p:cNvSpPr/>
          <p:nvPr/>
        </p:nvSpPr>
        <p:spPr>
          <a:xfrm>
            <a:off x="5486400" y="5413248"/>
            <a:ext cx="566928" cy="490960"/>
          </a:xfrm>
          <a:prstGeom prst="hexagon">
            <a:avLst/>
          </a:prstGeom>
          <a:solidFill>
            <a:srgbClr val="FFD400"/>
          </a:solidFill>
          <a:ln w="12700">
            <a:solidFill>
              <a:srgbClr val="FFD400"/>
            </a:solidFill>
            <a:prstDash val="solid"/>
          </a:ln>
        </p:spPr>
      </p:sp>
      <p:sp>
        <p:nvSpPr>
          <p:cNvPr id="21" name="Text 17"/>
          <p:cNvSpPr txBox="1"/>
          <p:nvPr/>
        </p:nvSpPr>
        <p:spPr>
          <a:xfrm>
            <a:off x="5486400" y="541324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03</a:t>
            </a:r>
            <a:endParaRPr lang="en-US" sz="1400" dirty="0"/>
          </a:p>
        </p:txBody>
      </p:sp>
      <p:sp>
        <p:nvSpPr>
          <p:cNvPr id="22" name="Text 18"/>
          <p:cNvSpPr txBox="1"/>
          <p:nvPr/>
        </p:nvSpPr>
        <p:spPr>
          <a:xfrm>
            <a:off x="6263640" y="534009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プライバシーに配慮して見守る</a:t>
            </a:r>
            <a:endParaRPr lang="en-US" sz="1500" dirty="0"/>
          </a:p>
        </p:txBody>
      </p:sp>
      <p:sp>
        <p:nvSpPr>
          <p:cNvPr id="23" name="Text 19"/>
          <p:cNvSpPr txBox="1"/>
          <p:nvPr/>
        </p:nvSpPr>
        <p:spPr>
          <a:xfrm>
            <a:off x="6263640" y="571500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映像は施設内で処理し、外部への通知は匿名テキストで行います。院内の動線や状況を把握し、夜間巡回・駆けつけの判断を支えます。</a:t>
            </a:r>
            <a:endParaRPr lang="en-US" sz="1100" dirty="0"/>
          </a:p>
        </p:txBody>
      </p:sp>
      <p:sp>
        <p:nvSpPr>
          <p:cNvPr id="24" name="Text 20"/>
          <p:cNvSpPr txBox="1"/>
          <p:nvPr/>
        </p:nvSpPr>
        <p:spPr>
          <a:xfrm>
            <a:off x="5303520" y="6473952"/>
            <a:ext cx="5943600" cy="228600"/>
          </a:xfrm>
          <a:prstGeom prst="rect">
            <a:avLst/>
          </a:prstGeom>
          <a:noFill/>
          <a:ln/>
        </p:spPr>
        <p:txBody>
          <a:bodyPr wrap="square" lIns="0" tIns="0" rIns="0" bIns="0" rtlCol="0" anchor="t"/>
          <a:lstStyle/>
          <a:p>
            <a:pPr indent="0" marL="0">
              <a:buNone/>
            </a:pPr>
            <a:r>
              <a:rPr lang="en-US" sz="900" dirty="0">
                <a:solidFill>
                  <a:srgbClr val="5B5B5B"/>
                </a:solidFill>
                <a:latin typeface="Noto Sans JP" pitchFamily="34" charset="0"/>
                <a:ea typeface="Noto Sans JP" pitchFamily="34" charset="-122"/>
                <a:cs typeface="Noto Sans JP" pitchFamily="34" charset="-120"/>
              </a:rPr>
              <a:t>※サービス資料に基づく想定ユースケースです（導入実績ではありません）。</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14</a:t>
            </a:r>
            <a:endParaRPr lang="en-US" sz="1000" dirty="0"/>
          </a:p>
        </p:txBody>
      </p:sp>
      <p:pic>
        <p:nvPicPr>
          <p:cNvPr id="4" name="Image 1" descr="/tmp/claude-0/-home-user-AIInfinity/c029ed01-a8ff-5307-a636-4c28fa3dbac4/scratchpad/lp/jpg/case-finance-v2.jpg">    </p:cNvPr>
          <p:cNvPicPr>
            <a:picLocks noChangeAspect="1"/>
          </p:cNvPicPr>
          <p:nvPr/>
        </p:nvPicPr>
        <p:blipFill>
          <a:blip r:embed="rId2"/>
          <a:srcRect l="0" r="0" t="0" b="0"/>
          <a:stretch/>
        </p:blipFill>
        <p:spPr>
          <a:xfrm>
            <a:off x="0" y="0"/>
            <a:ext cx="4754880" cy="6858000"/>
          </a:xfrm>
          <a:prstGeom prst="rect">
            <a:avLst/>
          </a:prstGeom>
        </p:spPr>
      </p:pic>
      <p:sp>
        <p:nvSpPr>
          <p:cNvPr id="5" name="Shape 1"/>
          <p:cNvSpPr/>
          <p:nvPr/>
        </p:nvSpPr>
        <p:spPr>
          <a:xfrm>
            <a:off x="411480" y="411480"/>
            <a:ext cx="1371600" cy="384048"/>
          </a:xfrm>
          <a:prstGeom prst="roundRect">
            <a:avLst>
              <a:gd name="adj" fmla="val 50000"/>
            </a:avLst>
          </a:prstGeom>
          <a:solidFill>
            <a:srgbClr val="FFD400"/>
          </a:solidFill>
          <a:ln/>
        </p:spPr>
      </p:sp>
      <p:sp>
        <p:nvSpPr>
          <p:cNvPr id="6" name="Text 2"/>
          <p:cNvSpPr txBox="1"/>
          <p:nvPr/>
        </p:nvSpPr>
        <p:spPr>
          <a:xfrm>
            <a:off x="411480" y="411480"/>
            <a:ext cx="1371600" cy="384048"/>
          </a:xfrm>
          <a:prstGeom prst="rect">
            <a:avLst/>
          </a:prstGeom>
          <a:noFill/>
          <a:ln/>
        </p:spPr>
        <p:txBody>
          <a:bodyPr wrap="square" lIns="0" tIns="0" rIns="0" bIns="0" rtlCol="0" anchor="ctr"/>
          <a:lstStyle/>
          <a:p>
            <a:pPr algn="ctr" indent="0" marL="0">
              <a:buNone/>
            </a:pPr>
            <a:r>
              <a:rPr lang="en-US" sz="1300" b="1" spc="200" kern="0" dirty="0">
                <a:solidFill>
                  <a:srgbClr val="111111"/>
                </a:solidFill>
                <a:latin typeface="Noto Sans JP" pitchFamily="34" charset="0"/>
                <a:ea typeface="Noto Sans JP" pitchFamily="34" charset="-122"/>
                <a:cs typeface="Noto Sans JP" pitchFamily="34" charset="-120"/>
              </a:rPr>
              <a:t>CASE 05</a:t>
            </a:r>
            <a:endParaRPr lang="en-US" sz="1300" dirty="0"/>
          </a:p>
        </p:txBody>
      </p:sp>
      <p:sp>
        <p:nvSpPr>
          <p:cNvPr id="7" name="Text 3"/>
          <p:cNvSpPr txBox="1"/>
          <p:nvPr/>
        </p:nvSpPr>
        <p:spPr>
          <a:xfrm>
            <a:off x="5303520" y="685800"/>
            <a:ext cx="4693615" cy="640080"/>
          </a:xfrm>
          <a:prstGeom prst="rect">
            <a:avLst/>
          </a:prstGeom>
          <a:noFill/>
          <a:ln/>
        </p:spPr>
        <p:txBody>
          <a:bodyPr wrap="square" lIns="0" tIns="0" rIns="0" bIns="0" rtlCol="0" anchor="t"/>
          <a:lstStyle/>
          <a:p>
            <a:pPr indent="0" marL="0">
              <a:buNone/>
            </a:pPr>
            <a:r>
              <a:rPr lang="en-US" sz="3200" b="1" dirty="0">
                <a:solidFill>
                  <a:srgbClr val="111111"/>
                </a:solidFill>
                <a:latin typeface="Noto Sans JP" pitchFamily="34" charset="0"/>
                <a:ea typeface="Noto Sans JP" pitchFamily="34" charset="-122"/>
                <a:cs typeface="Noto Sans JP" pitchFamily="34" charset="-120"/>
              </a:rPr>
              <a:t>金融機関</a:t>
            </a:r>
            <a:endParaRPr lang="en-US" sz="3200" dirty="0"/>
          </a:p>
        </p:txBody>
      </p:sp>
      <p:sp>
        <p:nvSpPr>
          <p:cNvPr id="8" name="Text 4"/>
          <p:cNvSpPr txBox="1"/>
          <p:nvPr/>
        </p:nvSpPr>
        <p:spPr>
          <a:xfrm>
            <a:off x="5303520" y="1463040"/>
            <a:ext cx="6339535" cy="868680"/>
          </a:xfrm>
          <a:prstGeom prst="rect">
            <a:avLst/>
          </a:prstGeom>
          <a:noFill/>
          <a:ln/>
        </p:spPr>
        <p:txBody>
          <a:bodyPr wrap="square" lIns="0" tIns="0" rIns="0" bIns="0" rtlCol="0" anchor="t"/>
          <a:lstStyle/>
          <a:p>
            <a:pPr indent="0" marL="0">
              <a:lnSpc>
                <a:spcPct val="145000"/>
              </a:lnSpc>
              <a:buNone/>
            </a:pPr>
            <a:r>
              <a:rPr lang="en-US" sz="1300" dirty="0">
                <a:solidFill>
                  <a:srgbClr val="5B5B5B"/>
                </a:solidFill>
                <a:latin typeface="Noto Sans JP" pitchFamily="34" charset="0"/>
                <a:ea typeface="Noto Sans JP" pitchFamily="34" charset="-122"/>
                <a:cs typeface="Noto Sans JP" pitchFamily="34" charset="-120"/>
              </a:rPr>
              <a:t>ATM前で携帯電話で通話しながら長く滞留するお客様を検知し、特殊詐欺の被害防止のお声がけにつなげます。不審な行動や店内での転倒時のフォローにも活用できます。</a:t>
            </a:r>
            <a:endParaRPr lang="en-US" sz="1300" dirty="0"/>
          </a:p>
        </p:txBody>
      </p:sp>
      <p:sp>
        <p:nvSpPr>
          <p:cNvPr id="9" name="Shape 5"/>
          <p:cNvSpPr/>
          <p:nvPr/>
        </p:nvSpPr>
        <p:spPr>
          <a:xfrm>
            <a:off x="5303520" y="2560320"/>
            <a:ext cx="6339535" cy="1170432"/>
          </a:xfrm>
          <a:prstGeom prst="roundRect">
            <a:avLst>
              <a:gd name="adj" fmla="val 7813"/>
            </a:avLst>
          </a:prstGeom>
          <a:solidFill>
            <a:srgbClr val="F5F5F2"/>
          </a:solidFill>
          <a:ln/>
        </p:spPr>
      </p:sp>
      <p:sp>
        <p:nvSpPr>
          <p:cNvPr id="10" name="Shape 6"/>
          <p:cNvSpPr/>
          <p:nvPr/>
        </p:nvSpPr>
        <p:spPr>
          <a:xfrm>
            <a:off x="5486400" y="2761488"/>
            <a:ext cx="566928" cy="490960"/>
          </a:xfrm>
          <a:prstGeom prst="hexagon">
            <a:avLst/>
          </a:prstGeom>
          <a:solidFill>
            <a:srgbClr val="FFD400"/>
          </a:solidFill>
          <a:ln w="12700">
            <a:solidFill>
              <a:srgbClr val="FFD400"/>
            </a:solidFill>
            <a:prstDash val="solid"/>
          </a:ln>
        </p:spPr>
      </p:sp>
      <p:sp>
        <p:nvSpPr>
          <p:cNvPr id="11" name="Text 7"/>
          <p:cNvSpPr txBox="1"/>
          <p:nvPr/>
        </p:nvSpPr>
        <p:spPr>
          <a:xfrm>
            <a:off x="5486400" y="276148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01</a:t>
            </a:r>
            <a:endParaRPr lang="en-US" sz="1400" dirty="0"/>
          </a:p>
        </p:txBody>
      </p:sp>
      <p:sp>
        <p:nvSpPr>
          <p:cNvPr id="12" name="Text 8"/>
          <p:cNvSpPr txBox="1"/>
          <p:nvPr/>
        </p:nvSpPr>
        <p:spPr>
          <a:xfrm>
            <a:off x="6263640" y="268833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ATMでの通話・長時間滞留を把握</a:t>
            </a:r>
            <a:endParaRPr lang="en-US" sz="1500" dirty="0"/>
          </a:p>
        </p:txBody>
      </p:sp>
      <p:sp>
        <p:nvSpPr>
          <p:cNvPr id="13" name="Text 9"/>
          <p:cNvSpPr txBox="1"/>
          <p:nvPr/>
        </p:nvSpPr>
        <p:spPr>
          <a:xfrm>
            <a:off x="6263640" y="306324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ATM操作前・操作中のスマホ通話姿勢や、不自然な長時間滞留を検知。資料では3分以上を想定し、還付金・振り込め詐欺の兆候に早めにお声がけする用途を示しています。</a:t>
            </a:r>
            <a:endParaRPr lang="en-US" sz="1100" dirty="0"/>
          </a:p>
        </p:txBody>
      </p:sp>
      <p:sp>
        <p:nvSpPr>
          <p:cNvPr id="14" name="Shape 10"/>
          <p:cNvSpPr/>
          <p:nvPr/>
        </p:nvSpPr>
        <p:spPr>
          <a:xfrm>
            <a:off x="5303520" y="3886200"/>
            <a:ext cx="6339535" cy="1170432"/>
          </a:xfrm>
          <a:prstGeom prst="roundRect">
            <a:avLst>
              <a:gd name="adj" fmla="val 7813"/>
            </a:avLst>
          </a:prstGeom>
          <a:solidFill>
            <a:srgbClr val="F5F5F2"/>
          </a:solidFill>
          <a:ln/>
        </p:spPr>
      </p:sp>
      <p:sp>
        <p:nvSpPr>
          <p:cNvPr id="15" name="Shape 11"/>
          <p:cNvSpPr/>
          <p:nvPr/>
        </p:nvSpPr>
        <p:spPr>
          <a:xfrm>
            <a:off x="5486400" y="4087368"/>
            <a:ext cx="566928" cy="490960"/>
          </a:xfrm>
          <a:prstGeom prst="hexagon">
            <a:avLst/>
          </a:prstGeom>
          <a:solidFill>
            <a:srgbClr val="FFD400"/>
          </a:solidFill>
          <a:ln w="12700">
            <a:solidFill>
              <a:srgbClr val="FFD400"/>
            </a:solidFill>
            <a:prstDash val="solid"/>
          </a:ln>
        </p:spPr>
      </p:sp>
      <p:sp>
        <p:nvSpPr>
          <p:cNvPr id="16" name="Text 12"/>
          <p:cNvSpPr txBox="1"/>
          <p:nvPr/>
        </p:nvSpPr>
        <p:spPr>
          <a:xfrm>
            <a:off x="5486400" y="408736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02</a:t>
            </a:r>
            <a:endParaRPr lang="en-US" sz="1400" dirty="0"/>
          </a:p>
        </p:txBody>
      </p:sp>
      <p:sp>
        <p:nvSpPr>
          <p:cNvPr id="17" name="Text 13"/>
          <p:cNvSpPr txBox="1"/>
          <p:nvPr/>
        </p:nvSpPr>
        <p:spPr>
          <a:xfrm>
            <a:off x="6263640" y="401421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不自然な連続利用の確認を支援</a:t>
            </a:r>
            <a:endParaRPr lang="en-US" sz="1500" dirty="0"/>
          </a:p>
        </p:txBody>
      </p:sp>
      <p:sp>
        <p:nvSpPr>
          <p:cNvPr id="18" name="Text 14"/>
          <p:cNvSpPr txBox="1"/>
          <p:nvPr/>
        </p:nvSpPr>
        <p:spPr>
          <a:xfrm>
            <a:off x="6263640" y="438912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帽子や深いマスクなどによる顔の遮蔽、不自然な連続滞留・複数回の引き出し行動を確認する材料に。検知結果をもとに、職員が状況確認や対応を判断します。</a:t>
            </a:r>
            <a:endParaRPr lang="en-US" sz="1100" dirty="0"/>
          </a:p>
        </p:txBody>
      </p:sp>
      <p:sp>
        <p:nvSpPr>
          <p:cNvPr id="19" name="Shape 15"/>
          <p:cNvSpPr/>
          <p:nvPr/>
        </p:nvSpPr>
        <p:spPr>
          <a:xfrm>
            <a:off x="5303520" y="5212080"/>
            <a:ext cx="6339535" cy="1170432"/>
          </a:xfrm>
          <a:prstGeom prst="roundRect">
            <a:avLst>
              <a:gd name="adj" fmla="val 7813"/>
            </a:avLst>
          </a:prstGeom>
          <a:solidFill>
            <a:srgbClr val="F5F5F2"/>
          </a:solidFill>
          <a:ln/>
        </p:spPr>
      </p:sp>
      <p:sp>
        <p:nvSpPr>
          <p:cNvPr id="20" name="Shape 16"/>
          <p:cNvSpPr/>
          <p:nvPr/>
        </p:nvSpPr>
        <p:spPr>
          <a:xfrm>
            <a:off x="5486400" y="5413248"/>
            <a:ext cx="566928" cy="490960"/>
          </a:xfrm>
          <a:prstGeom prst="hexagon">
            <a:avLst/>
          </a:prstGeom>
          <a:solidFill>
            <a:srgbClr val="FFD400"/>
          </a:solidFill>
          <a:ln w="12700">
            <a:solidFill>
              <a:srgbClr val="FFD400"/>
            </a:solidFill>
            <a:prstDash val="solid"/>
          </a:ln>
        </p:spPr>
      </p:sp>
      <p:sp>
        <p:nvSpPr>
          <p:cNvPr id="21" name="Text 17"/>
          <p:cNvSpPr txBox="1"/>
          <p:nvPr/>
        </p:nvSpPr>
        <p:spPr>
          <a:xfrm>
            <a:off x="5486400" y="5413248"/>
            <a:ext cx="566928" cy="493776"/>
          </a:xfrm>
          <a:prstGeom prst="rect">
            <a:avLst/>
          </a:prstGeom>
          <a:noFill/>
          <a:ln/>
        </p:spPr>
        <p:txBody>
          <a:bodyPr wrap="square" lIns="0" tIns="0" rIns="0" bIns="0" rtlCol="0" anchor="ctr"/>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03</a:t>
            </a:r>
            <a:endParaRPr lang="en-US" sz="1400" dirty="0"/>
          </a:p>
        </p:txBody>
      </p:sp>
      <p:sp>
        <p:nvSpPr>
          <p:cNvPr id="22" name="Text 18"/>
          <p:cNvSpPr txBox="1"/>
          <p:nvPr/>
        </p:nvSpPr>
        <p:spPr>
          <a:xfrm>
            <a:off x="6263640" y="5340096"/>
            <a:ext cx="5196535" cy="365760"/>
          </a:xfrm>
          <a:prstGeom prst="rect">
            <a:avLst/>
          </a:prstGeom>
          <a:noFill/>
          <a:ln/>
        </p:spPr>
        <p:txBody>
          <a:bodyPr wrap="square" lIns="0" tIns="0" rIns="0" bIns="0" rtlCol="0" anchor="ctr"/>
          <a:lstStyle/>
          <a:p>
            <a:pPr indent="0" marL="0">
              <a:buNone/>
            </a:pPr>
            <a:r>
              <a:rPr lang="en-US" sz="1500" b="1" dirty="0">
                <a:solidFill>
                  <a:srgbClr val="111111"/>
                </a:solidFill>
                <a:latin typeface="Noto Sans JP" pitchFamily="34" charset="0"/>
                <a:ea typeface="Noto Sans JP" pitchFamily="34" charset="-122"/>
                <a:cs typeface="Noto Sans JP" pitchFamily="34" charset="-120"/>
              </a:rPr>
              <a:t>転倒・操作困難をすぐにフォロー</a:t>
            </a:r>
            <a:endParaRPr lang="en-US" sz="1500" dirty="0"/>
          </a:p>
        </p:txBody>
      </p:sp>
      <p:sp>
        <p:nvSpPr>
          <p:cNvPr id="23" name="Text 19"/>
          <p:cNvSpPr txBox="1"/>
          <p:nvPr/>
        </p:nvSpPr>
        <p:spPr>
          <a:xfrm>
            <a:off x="6263640" y="5715000"/>
            <a:ext cx="5196535" cy="64008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ATMコーナーでの転倒や、操作が進まず長く滞留している状況を検知。高齢のお客様などへの案内や救護、無人拠点での現地確認につなげます。</a:t>
            </a:r>
            <a:endParaRPr lang="en-US" sz="1100" dirty="0"/>
          </a:p>
        </p:txBody>
      </p:sp>
      <p:sp>
        <p:nvSpPr>
          <p:cNvPr id="24" name="Text 20"/>
          <p:cNvSpPr txBox="1"/>
          <p:nvPr/>
        </p:nvSpPr>
        <p:spPr>
          <a:xfrm>
            <a:off x="5303520" y="6473952"/>
            <a:ext cx="5943600" cy="228600"/>
          </a:xfrm>
          <a:prstGeom prst="rect">
            <a:avLst/>
          </a:prstGeom>
          <a:noFill/>
          <a:ln/>
        </p:spPr>
        <p:txBody>
          <a:bodyPr wrap="square" lIns="0" tIns="0" rIns="0" bIns="0" rtlCol="0" anchor="t"/>
          <a:lstStyle/>
          <a:p>
            <a:pPr indent="0" marL="0">
              <a:buNone/>
            </a:pPr>
            <a:r>
              <a:rPr lang="en-US" sz="900" dirty="0">
                <a:solidFill>
                  <a:srgbClr val="5B5B5B"/>
                </a:solidFill>
                <a:latin typeface="Noto Sans JP" pitchFamily="34" charset="0"/>
                <a:ea typeface="Noto Sans JP" pitchFamily="34" charset="-122"/>
                <a:cs typeface="Noto Sans JP" pitchFamily="34" charset="-120"/>
              </a:rPr>
              <a:t>※サービス資料に基づく想定ユースケースです（導入実績ではありません）。</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15</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ROI</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投資回収の試算例</a:t>
            </a:r>
            <a:endParaRPr lang="en-US" sz="3000" dirty="0"/>
          </a:p>
        </p:txBody>
      </p:sp>
      <p:sp>
        <p:nvSpPr>
          <p:cNvPr id="7" name="Text 4"/>
          <p:cNvSpPr txBox="1"/>
          <p:nvPr/>
        </p:nvSpPr>
        <p:spPr>
          <a:xfrm>
            <a:off x="548640" y="1508760"/>
            <a:ext cx="10058400" cy="320040"/>
          </a:xfrm>
          <a:prstGeom prst="rect">
            <a:avLst/>
          </a:prstGeom>
          <a:noFill/>
          <a:ln/>
        </p:spPr>
        <p:txBody>
          <a:bodyPr wrap="square" lIns="0" tIns="0" rIns="0" bIns="0" rtlCol="0" anchor="t"/>
          <a:lstStyle/>
          <a:p>
            <a:pPr indent="0" marL="0">
              <a:buNone/>
            </a:pPr>
            <a:r>
              <a:rPr lang="en-US" sz="1300" dirty="0">
                <a:solidFill>
                  <a:srgbClr val="5B5B5B"/>
                </a:solidFill>
                <a:latin typeface="Noto Sans JP" pitchFamily="34" charset="0"/>
                <a:ea typeface="Noto Sans JP" pitchFamily="34" charset="-122"/>
                <a:cs typeface="Noto Sans JP" pitchFamily="34" charset="-120"/>
              </a:rPr>
              <a:t>資料の想定価値・初期費用をもとに、月額15,000円／台で再計算した試算例です（金額は税抜）。</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4415" cy="914400"/>
        </p:xfrm>
        <a:graphic>
          <a:graphicData uri="http://schemas.openxmlformats.org/drawingml/2006/table">
            <a:tbl>
              <a:tblPr/>
              <a:tblGrid>
                <a:gridCol w="1554480"/>
                <a:gridCol w="1005840"/>
                <a:gridCol w="1691640"/>
                <a:gridCol w="1508760"/>
                <a:gridCol w="1874520"/>
                <a:gridCol w="1691640"/>
                <a:gridCol w="1767535"/>
              </a:tblGrid>
              <a:tr h="566928">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業種</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台数</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初期費用</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月額</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月間の想定価値</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月額控除後</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c>
                  <a:txBody>
                    <a:bodyPr/>
                    <a:lstStyle/>
                    <a:p>
                      <a:pPr algn="ctr" indent="0" marL="0">
                        <a:buNone/>
                      </a:pPr>
                      <a:r>
                        <a:rPr lang="en-US" sz="1300" b="1" dirty="0">
                          <a:solidFill>
                            <a:srgbClr val="111111"/>
                          </a:solidFill>
                          <a:latin typeface="Noto Sans JP" pitchFamily="34" charset="0"/>
                          <a:ea typeface="Noto Sans JP" pitchFamily="34" charset="-122"/>
                          <a:cs typeface="Noto Sans JP" pitchFamily="34" charset="-120"/>
                        </a:rPr>
                        <a:t>回収目安</a:t>
                      </a:r>
                      <a:endParaRPr lang="en-US" sz="13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D400"/>
                    </a:solidFill>
                  </a:tcPr>
                </a:tc>
              </a:tr>
              <a:tr h="566928">
                <a:tc>
                  <a:txBody>
                    <a:bodyPr/>
                    <a:lstStyle/>
                    <a:p>
                      <a:pPr algn="ctr" indent="0" marL="0">
                        <a:buNone/>
                      </a:pPr>
                      <a:r>
                        <a:rPr lang="en-US" sz="1400" b="1" dirty="0">
                          <a:solidFill>
                            <a:srgbClr val="222222"/>
                          </a:solidFill>
                          <a:latin typeface="Noto Sans JP" pitchFamily="34" charset="0"/>
                          <a:ea typeface="Noto Sans JP" pitchFamily="34" charset="-122"/>
                          <a:cs typeface="Noto Sans JP" pitchFamily="34" charset="-120"/>
                        </a:rPr>
                        <a:t>小売</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10台</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668,867円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150,000円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250,000円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100,000円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22222"/>
                          </a:solidFill>
                          <a:latin typeface="Noto Sans JP" pitchFamily="34" charset="0"/>
                          <a:ea typeface="Noto Sans JP" pitchFamily="34" charset="-122"/>
                          <a:cs typeface="Noto Sans JP" pitchFamily="34" charset="-120"/>
                        </a:rPr>
                        <a:t>約6.7ヶ月</a:t>
                      </a:r>
                      <a:endParaRPr lang="en-US" sz="16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8D6"/>
                    </a:solidFill>
                  </a:tcPr>
                </a:tc>
              </a:tr>
              <a:tr h="566928">
                <a:tc>
                  <a:txBody>
                    <a:bodyPr/>
                    <a:lstStyle/>
                    <a:p>
                      <a:pPr algn="ctr" indent="0" marL="0">
                        <a:buNone/>
                      </a:pPr>
                      <a:r>
                        <a:rPr lang="en-US" sz="1400" b="1" dirty="0">
                          <a:solidFill>
                            <a:srgbClr val="222222"/>
                          </a:solidFill>
                          <a:latin typeface="Noto Sans JP" pitchFamily="34" charset="0"/>
                          <a:ea typeface="Noto Sans JP" pitchFamily="34" charset="-122"/>
                          <a:cs typeface="Noto Sans JP" pitchFamily="34" charset="-120"/>
                        </a:rPr>
                        <a:t>飲食</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5台</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506,170円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75,000円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180,000円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105,000円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600" b="1" dirty="0">
                          <a:solidFill>
                            <a:srgbClr val="222222"/>
                          </a:solidFill>
                          <a:latin typeface="Noto Sans JP" pitchFamily="34" charset="0"/>
                          <a:ea typeface="Noto Sans JP" pitchFamily="34" charset="-122"/>
                          <a:cs typeface="Noto Sans JP" pitchFamily="34" charset="-120"/>
                        </a:rPr>
                        <a:t>約4.8ヶ月</a:t>
                      </a:r>
                      <a:endParaRPr lang="en-US" sz="16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8D6"/>
                    </a:solidFill>
                  </a:tcPr>
                </a:tc>
              </a:tr>
              <a:tr h="566928">
                <a:tc>
                  <a:txBody>
                    <a:bodyPr/>
                    <a:lstStyle/>
                    <a:p>
                      <a:pPr algn="ctr" indent="0" marL="0">
                        <a:buNone/>
                      </a:pPr>
                      <a:r>
                        <a:rPr lang="en-US" sz="1400" b="1" dirty="0">
                          <a:solidFill>
                            <a:srgbClr val="222222"/>
                          </a:solidFill>
                          <a:latin typeface="Noto Sans JP" pitchFamily="34" charset="0"/>
                          <a:ea typeface="Noto Sans JP" pitchFamily="34" charset="-122"/>
                          <a:cs typeface="Noto Sans JP" pitchFamily="34" charset="-120"/>
                        </a:rPr>
                        <a:t>百貨店</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15台</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1,259,342円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225,000円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550,000円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325,000円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22222"/>
                          </a:solidFill>
                          <a:latin typeface="Noto Sans JP" pitchFamily="34" charset="0"/>
                          <a:ea typeface="Noto Sans JP" pitchFamily="34" charset="-122"/>
                          <a:cs typeface="Noto Sans JP" pitchFamily="34" charset="-120"/>
                        </a:rPr>
                        <a:t>約3.9ヶ月</a:t>
                      </a:r>
                      <a:endParaRPr lang="en-US" sz="16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8D6"/>
                    </a:solidFill>
                  </a:tcPr>
                </a:tc>
              </a:tr>
              <a:tr h="566928">
                <a:tc>
                  <a:txBody>
                    <a:bodyPr/>
                    <a:lstStyle/>
                    <a:p>
                      <a:pPr algn="ctr" indent="0" marL="0">
                        <a:buNone/>
                      </a:pPr>
                      <a:r>
                        <a:rPr lang="en-US" sz="1400" b="1" dirty="0">
                          <a:solidFill>
                            <a:srgbClr val="222222"/>
                          </a:solidFill>
                          <a:latin typeface="Noto Sans JP" pitchFamily="34" charset="0"/>
                          <a:ea typeface="Noto Sans JP" pitchFamily="34" charset="-122"/>
                          <a:cs typeface="Noto Sans JP" pitchFamily="34" charset="-120"/>
                        </a:rPr>
                        <a:t>病院・介護</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10台</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668,867円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150,000円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300,000円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150,000円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2"/>
                    </a:solidFill>
                  </a:tcPr>
                </a:tc>
                <a:tc>
                  <a:txBody>
                    <a:bodyPr/>
                    <a:lstStyle/>
                    <a:p>
                      <a:pPr algn="ctr" indent="0" marL="0">
                        <a:buNone/>
                      </a:pPr>
                      <a:r>
                        <a:rPr lang="en-US" sz="1600" b="1" dirty="0">
                          <a:solidFill>
                            <a:srgbClr val="222222"/>
                          </a:solidFill>
                          <a:latin typeface="Noto Sans JP" pitchFamily="34" charset="0"/>
                          <a:ea typeface="Noto Sans JP" pitchFamily="34" charset="-122"/>
                          <a:cs typeface="Noto Sans JP" pitchFamily="34" charset="-120"/>
                        </a:rPr>
                        <a:t>約4.5ヶ月</a:t>
                      </a:r>
                      <a:endParaRPr lang="en-US" sz="16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8D6"/>
                    </a:solidFill>
                  </a:tcPr>
                </a:tc>
              </a:tr>
              <a:tr h="566928">
                <a:tc>
                  <a:txBody>
                    <a:bodyPr/>
                    <a:lstStyle/>
                    <a:p>
                      <a:pPr algn="ctr" indent="0" marL="0">
                        <a:buNone/>
                      </a:pPr>
                      <a:r>
                        <a:rPr lang="en-US" sz="1400" b="1" dirty="0">
                          <a:solidFill>
                            <a:srgbClr val="222222"/>
                          </a:solidFill>
                          <a:latin typeface="Noto Sans JP" pitchFamily="34" charset="0"/>
                          <a:ea typeface="Noto Sans JP" pitchFamily="34" charset="-122"/>
                          <a:cs typeface="Noto Sans JP" pitchFamily="34" charset="-120"/>
                        </a:rPr>
                        <a:t>金融</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8台</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668,867円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120,000円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550,000円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Noto Sans JP" pitchFamily="34" charset="0"/>
                          <a:ea typeface="Noto Sans JP" pitchFamily="34" charset="-122"/>
                          <a:cs typeface="Noto Sans JP" pitchFamily="34" charset="-120"/>
                        </a:rPr>
                        <a:t>430,000円</a:t>
                      </a:r>
                      <a:endParaRPr lang="en-US" sz="14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22222"/>
                          </a:solidFill>
                          <a:latin typeface="Noto Sans JP" pitchFamily="34" charset="0"/>
                          <a:ea typeface="Noto Sans JP" pitchFamily="34" charset="-122"/>
                          <a:cs typeface="Noto Sans JP" pitchFamily="34" charset="-120"/>
                        </a:rPr>
                        <a:t>約1.6ヶ月</a:t>
                      </a:r>
                      <a:endParaRPr lang="en-US" sz="1600" dirty="0">
                        <a:latin typeface="Noto Sans JP" charset="0"/>
                        <a:ea typeface="Noto Sans JP" charset="0"/>
                        <a:cs typeface="Noto Sans JP"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8D6"/>
                    </a:solidFill>
                  </a:tcPr>
                </a:tc>
              </a:tr>
            </a:tbl>
          </a:graphicData>
        </a:graphic>
      </p:graphicFrame>
      <p:sp>
        <p:nvSpPr>
          <p:cNvPr id="9" name="Text 5"/>
          <p:cNvSpPr txBox="1"/>
          <p:nvPr/>
        </p:nvSpPr>
        <p:spPr>
          <a:xfrm>
            <a:off x="548640" y="5669280"/>
            <a:ext cx="11094415" cy="548640"/>
          </a:xfrm>
          <a:prstGeom prst="rect">
            <a:avLst/>
          </a:prstGeom>
          <a:noFill/>
          <a:ln/>
        </p:spPr>
        <p:txBody>
          <a:bodyPr wrap="square" lIns="0" tIns="0" rIns="0" bIns="0" rtlCol="0" anchor="t"/>
          <a:lstStyle/>
          <a:p>
            <a:pPr indent="0" marL="0">
              <a:lnSpc>
                <a:spcPct val="135000"/>
              </a:lnSpc>
              <a:buNone/>
            </a:pPr>
            <a:r>
              <a:rPr lang="en-US" sz="1100" dirty="0">
                <a:solidFill>
                  <a:srgbClr val="5B5B5B"/>
                </a:solidFill>
                <a:latin typeface="Noto Sans JP" pitchFamily="34" charset="0"/>
                <a:ea typeface="Noto Sans JP" pitchFamily="34" charset="-122"/>
                <a:cs typeface="Noto Sans JP" pitchFamily="34" charset="-120"/>
              </a:rPr>
              <a:t>※「月間の想定価値」には、売上改善効果に加えて損害回避（ロス・事故防止など）の想定価値を含みます。実際の利益とは異なり、効果や投資回収を保証するものではありません。</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16</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PRICE</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料金</a:t>
            </a:r>
            <a:endParaRPr lang="en-US" sz="3000" dirty="0"/>
          </a:p>
        </p:txBody>
      </p:sp>
      <p:sp>
        <p:nvSpPr>
          <p:cNvPr id="7" name="Text 4"/>
          <p:cNvSpPr txBox="1"/>
          <p:nvPr/>
        </p:nvSpPr>
        <p:spPr>
          <a:xfrm>
            <a:off x="548640" y="1600200"/>
            <a:ext cx="3657600" cy="365760"/>
          </a:xfrm>
          <a:prstGeom prst="rect">
            <a:avLst/>
          </a:prstGeom>
          <a:noFill/>
          <a:ln/>
        </p:spPr>
        <p:txBody>
          <a:bodyPr wrap="square" lIns="0" tIns="0" rIns="0" bIns="0" rtlCol="0" anchor="t"/>
          <a:lstStyle/>
          <a:p>
            <a:pPr indent="0" marL="0">
              <a:buNone/>
            </a:pPr>
            <a:r>
              <a:rPr lang="en-US" sz="1700" b="1" dirty="0">
                <a:solidFill>
                  <a:srgbClr val="111111"/>
                </a:solidFill>
                <a:latin typeface="Noto Sans JP" pitchFamily="34" charset="0"/>
                <a:ea typeface="Noto Sans JP" pitchFamily="34" charset="-122"/>
                <a:cs typeface="Noto Sans JP" pitchFamily="34" charset="-120"/>
              </a:rPr>
              <a:t>① 本体価格</a:t>
            </a:r>
            <a:endParaRPr lang="en-US" sz="1700" dirty="0"/>
          </a:p>
        </p:txBody>
      </p:sp>
      <p:sp>
        <p:nvSpPr>
          <p:cNvPr id="8" name="Shape 5"/>
          <p:cNvSpPr/>
          <p:nvPr/>
        </p:nvSpPr>
        <p:spPr>
          <a:xfrm>
            <a:off x="548640" y="2103120"/>
            <a:ext cx="1783080" cy="1920240"/>
          </a:xfrm>
          <a:prstGeom prst="roundRect">
            <a:avLst>
              <a:gd name="adj" fmla="val 6154"/>
            </a:avLst>
          </a:prstGeom>
          <a:solidFill>
            <a:srgbClr val="FFFFFF"/>
          </a:solidFill>
          <a:ln w="25400">
            <a:solidFill>
              <a:srgbClr val="FFD400"/>
            </a:solidFill>
            <a:prstDash val="solid"/>
          </a:ln>
        </p:spPr>
      </p:sp>
      <p:sp>
        <p:nvSpPr>
          <p:cNvPr id="9" name="Text 6"/>
          <p:cNvSpPr txBox="1"/>
          <p:nvPr/>
        </p:nvSpPr>
        <p:spPr>
          <a:xfrm>
            <a:off x="548640" y="2286000"/>
            <a:ext cx="1783080" cy="320040"/>
          </a:xfrm>
          <a:prstGeom prst="rect">
            <a:avLst/>
          </a:prstGeom>
          <a:noFill/>
          <a:ln/>
        </p:spPr>
        <p:txBody>
          <a:bodyPr wrap="square" lIns="0" tIns="0" rIns="0" bIns="0" rtlCol="0" anchor="t"/>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16GBモデル</a:t>
            </a:r>
            <a:endParaRPr lang="en-US" sz="1400" dirty="0"/>
          </a:p>
        </p:txBody>
      </p:sp>
      <p:sp>
        <p:nvSpPr>
          <p:cNvPr id="10" name="Text 7"/>
          <p:cNvSpPr txBox="1"/>
          <p:nvPr/>
        </p:nvSpPr>
        <p:spPr>
          <a:xfrm>
            <a:off x="548640" y="2697480"/>
            <a:ext cx="1783080" cy="502920"/>
          </a:xfrm>
          <a:prstGeom prst="rect">
            <a:avLst/>
          </a:prstGeom>
          <a:noFill/>
          <a:ln/>
        </p:spPr>
        <p:txBody>
          <a:bodyPr wrap="square" lIns="0" tIns="0" rIns="0" bIns="0" rtlCol="0" anchor="ctr"/>
          <a:lstStyle/>
          <a:p>
            <a:pPr algn="ctr" indent="0" marL="0">
              <a:buNone/>
            </a:pPr>
            <a:r>
              <a:rPr lang="en-US" sz="2600" b="1" dirty="0">
                <a:solidFill>
                  <a:srgbClr val="111111"/>
                </a:solidFill>
                <a:latin typeface="Noto Sans JP" pitchFamily="34" charset="0"/>
                <a:ea typeface="Noto Sans JP" pitchFamily="34" charset="-122"/>
                <a:cs typeface="Noto Sans JP" pitchFamily="34" charset="-120"/>
              </a:rPr>
              <a:t>327,000</a:t>
            </a:r>
            <a:pPr algn="ctr" indent="0" marL="0">
              <a:buNone/>
            </a:pPr>
            <a:r>
              <a:rPr lang="en-US" sz="1200" dirty="0">
                <a:solidFill>
                  <a:srgbClr val="111111"/>
                </a:solidFill>
                <a:latin typeface="Noto Sans JP" pitchFamily="34" charset="0"/>
                <a:ea typeface="Noto Sans JP" pitchFamily="34" charset="-122"/>
                <a:cs typeface="Noto Sans JP" pitchFamily="34" charset="-120"/>
              </a:rPr>
              <a:t> 円</a:t>
            </a:r>
            <a:endParaRPr lang="en-US" sz="2600" dirty="0"/>
          </a:p>
        </p:txBody>
      </p:sp>
      <p:sp>
        <p:nvSpPr>
          <p:cNvPr id="11" name="Text 8"/>
          <p:cNvSpPr txBox="1"/>
          <p:nvPr/>
        </p:nvSpPr>
        <p:spPr>
          <a:xfrm>
            <a:off x="548640" y="3200400"/>
            <a:ext cx="1783080" cy="228600"/>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（税抜）</a:t>
            </a:r>
            <a:endParaRPr lang="en-US" sz="1000" dirty="0"/>
          </a:p>
        </p:txBody>
      </p:sp>
      <p:sp>
        <p:nvSpPr>
          <p:cNvPr id="12" name="Text 9"/>
          <p:cNvSpPr txBox="1"/>
          <p:nvPr/>
        </p:nvSpPr>
        <p:spPr>
          <a:xfrm>
            <a:off x="548640" y="3520440"/>
            <a:ext cx="1783080" cy="274320"/>
          </a:xfrm>
          <a:prstGeom prst="rect">
            <a:avLst/>
          </a:prstGeom>
          <a:noFill/>
          <a:ln/>
        </p:spPr>
        <p:txBody>
          <a:bodyPr wrap="square" lIns="0" tIns="0" rIns="0" bIns="0" rtlCol="0" anchor="t"/>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推奨カメラ台数 〜7台</a:t>
            </a:r>
            <a:endParaRPr lang="en-US" sz="1150" dirty="0"/>
          </a:p>
        </p:txBody>
      </p:sp>
      <p:sp>
        <p:nvSpPr>
          <p:cNvPr id="13" name="Shape 10"/>
          <p:cNvSpPr/>
          <p:nvPr/>
        </p:nvSpPr>
        <p:spPr>
          <a:xfrm>
            <a:off x="2496312" y="2103120"/>
            <a:ext cx="1783080" cy="1920240"/>
          </a:xfrm>
          <a:prstGeom prst="roundRect">
            <a:avLst>
              <a:gd name="adj" fmla="val 6154"/>
            </a:avLst>
          </a:prstGeom>
          <a:solidFill>
            <a:srgbClr val="FFFFFF"/>
          </a:solidFill>
          <a:ln w="25400">
            <a:solidFill>
              <a:srgbClr val="FFD400"/>
            </a:solidFill>
            <a:prstDash val="solid"/>
          </a:ln>
        </p:spPr>
      </p:sp>
      <p:sp>
        <p:nvSpPr>
          <p:cNvPr id="14" name="Text 11"/>
          <p:cNvSpPr txBox="1"/>
          <p:nvPr/>
        </p:nvSpPr>
        <p:spPr>
          <a:xfrm>
            <a:off x="2496312" y="2286000"/>
            <a:ext cx="1783080" cy="320040"/>
          </a:xfrm>
          <a:prstGeom prst="rect">
            <a:avLst/>
          </a:prstGeom>
          <a:noFill/>
          <a:ln/>
        </p:spPr>
        <p:txBody>
          <a:bodyPr wrap="square" lIns="0" tIns="0" rIns="0" bIns="0" rtlCol="0" anchor="t"/>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32GBモデル</a:t>
            </a:r>
            <a:endParaRPr lang="en-US" sz="1400" dirty="0"/>
          </a:p>
        </p:txBody>
      </p:sp>
      <p:sp>
        <p:nvSpPr>
          <p:cNvPr id="15" name="Text 12"/>
          <p:cNvSpPr txBox="1"/>
          <p:nvPr/>
        </p:nvSpPr>
        <p:spPr>
          <a:xfrm>
            <a:off x="2496312" y="2697480"/>
            <a:ext cx="1783080" cy="502920"/>
          </a:xfrm>
          <a:prstGeom prst="rect">
            <a:avLst/>
          </a:prstGeom>
          <a:noFill/>
          <a:ln/>
        </p:spPr>
        <p:txBody>
          <a:bodyPr wrap="square" lIns="0" tIns="0" rIns="0" bIns="0" rtlCol="0" anchor="ctr"/>
          <a:lstStyle/>
          <a:p>
            <a:pPr algn="ctr" indent="0" marL="0">
              <a:buNone/>
            </a:pPr>
            <a:r>
              <a:rPr lang="en-US" sz="2600" b="1" dirty="0">
                <a:solidFill>
                  <a:srgbClr val="111111"/>
                </a:solidFill>
                <a:latin typeface="Noto Sans JP" pitchFamily="34" charset="0"/>
                <a:ea typeface="Noto Sans JP" pitchFamily="34" charset="-122"/>
                <a:cs typeface="Noto Sans JP" pitchFamily="34" charset="-120"/>
              </a:rPr>
              <a:t>382,000</a:t>
            </a:r>
            <a:pPr algn="ctr" indent="0" marL="0">
              <a:buNone/>
            </a:pPr>
            <a:r>
              <a:rPr lang="en-US" sz="1200" dirty="0">
                <a:solidFill>
                  <a:srgbClr val="111111"/>
                </a:solidFill>
                <a:latin typeface="Noto Sans JP" pitchFamily="34" charset="0"/>
                <a:ea typeface="Noto Sans JP" pitchFamily="34" charset="-122"/>
                <a:cs typeface="Noto Sans JP" pitchFamily="34" charset="-120"/>
              </a:rPr>
              <a:t> 円</a:t>
            </a:r>
            <a:endParaRPr lang="en-US" sz="2600" dirty="0"/>
          </a:p>
        </p:txBody>
      </p:sp>
      <p:sp>
        <p:nvSpPr>
          <p:cNvPr id="16" name="Text 13"/>
          <p:cNvSpPr txBox="1"/>
          <p:nvPr/>
        </p:nvSpPr>
        <p:spPr>
          <a:xfrm>
            <a:off x="2496312" y="3200400"/>
            <a:ext cx="1783080" cy="228600"/>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（税抜）</a:t>
            </a:r>
            <a:endParaRPr lang="en-US" sz="1000" dirty="0"/>
          </a:p>
        </p:txBody>
      </p:sp>
      <p:sp>
        <p:nvSpPr>
          <p:cNvPr id="17" name="Text 14"/>
          <p:cNvSpPr txBox="1"/>
          <p:nvPr/>
        </p:nvSpPr>
        <p:spPr>
          <a:xfrm>
            <a:off x="2496312" y="3520440"/>
            <a:ext cx="1783080" cy="274320"/>
          </a:xfrm>
          <a:prstGeom prst="rect">
            <a:avLst/>
          </a:prstGeom>
          <a:noFill/>
          <a:ln/>
        </p:spPr>
        <p:txBody>
          <a:bodyPr wrap="square" lIns="0" tIns="0" rIns="0" bIns="0" rtlCol="0" anchor="t"/>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推奨カメラ台数 〜18台</a:t>
            </a:r>
            <a:endParaRPr lang="en-US" sz="1150" dirty="0"/>
          </a:p>
        </p:txBody>
      </p:sp>
      <p:sp>
        <p:nvSpPr>
          <p:cNvPr id="18" name="Shape 15"/>
          <p:cNvSpPr/>
          <p:nvPr/>
        </p:nvSpPr>
        <p:spPr>
          <a:xfrm>
            <a:off x="4443984" y="2103120"/>
            <a:ext cx="1783080" cy="1920240"/>
          </a:xfrm>
          <a:prstGeom prst="roundRect">
            <a:avLst>
              <a:gd name="adj" fmla="val 6154"/>
            </a:avLst>
          </a:prstGeom>
          <a:solidFill>
            <a:srgbClr val="FFFFFF"/>
          </a:solidFill>
          <a:ln w="25400">
            <a:solidFill>
              <a:srgbClr val="FFD400"/>
            </a:solidFill>
            <a:prstDash val="solid"/>
          </a:ln>
        </p:spPr>
      </p:sp>
      <p:sp>
        <p:nvSpPr>
          <p:cNvPr id="19" name="Text 16"/>
          <p:cNvSpPr txBox="1"/>
          <p:nvPr/>
        </p:nvSpPr>
        <p:spPr>
          <a:xfrm>
            <a:off x="4443984" y="2286000"/>
            <a:ext cx="1783080" cy="320040"/>
          </a:xfrm>
          <a:prstGeom prst="rect">
            <a:avLst/>
          </a:prstGeom>
          <a:noFill/>
          <a:ln/>
        </p:spPr>
        <p:txBody>
          <a:bodyPr wrap="square" lIns="0" tIns="0" rIns="0" bIns="0" rtlCol="0" anchor="t"/>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64GBモデル</a:t>
            </a:r>
            <a:endParaRPr lang="en-US" sz="1400" dirty="0"/>
          </a:p>
        </p:txBody>
      </p:sp>
      <p:sp>
        <p:nvSpPr>
          <p:cNvPr id="20" name="Text 17"/>
          <p:cNvSpPr txBox="1"/>
          <p:nvPr/>
        </p:nvSpPr>
        <p:spPr>
          <a:xfrm>
            <a:off x="4443984" y="2697480"/>
            <a:ext cx="1783080" cy="502920"/>
          </a:xfrm>
          <a:prstGeom prst="rect">
            <a:avLst/>
          </a:prstGeom>
          <a:noFill/>
          <a:ln/>
        </p:spPr>
        <p:txBody>
          <a:bodyPr wrap="square" lIns="0" tIns="0" rIns="0" bIns="0" rtlCol="0" anchor="ctr"/>
          <a:lstStyle/>
          <a:p>
            <a:pPr algn="ctr" indent="0" marL="0">
              <a:buNone/>
            </a:pPr>
            <a:r>
              <a:rPr lang="en-US" sz="2600" b="1" dirty="0">
                <a:solidFill>
                  <a:srgbClr val="111111"/>
                </a:solidFill>
                <a:latin typeface="Noto Sans JP" pitchFamily="34" charset="0"/>
                <a:ea typeface="Noto Sans JP" pitchFamily="34" charset="-122"/>
                <a:cs typeface="Noto Sans JP" pitchFamily="34" charset="-120"/>
              </a:rPr>
              <a:t>482,000</a:t>
            </a:r>
            <a:pPr algn="ctr" indent="0" marL="0">
              <a:buNone/>
            </a:pPr>
            <a:r>
              <a:rPr lang="en-US" sz="1200" dirty="0">
                <a:solidFill>
                  <a:srgbClr val="111111"/>
                </a:solidFill>
                <a:latin typeface="Noto Sans JP" pitchFamily="34" charset="0"/>
                <a:ea typeface="Noto Sans JP" pitchFamily="34" charset="-122"/>
                <a:cs typeface="Noto Sans JP" pitchFamily="34" charset="-120"/>
              </a:rPr>
              <a:t> 円</a:t>
            </a:r>
            <a:endParaRPr lang="en-US" sz="2600" dirty="0"/>
          </a:p>
        </p:txBody>
      </p:sp>
      <p:sp>
        <p:nvSpPr>
          <p:cNvPr id="21" name="Text 18"/>
          <p:cNvSpPr txBox="1"/>
          <p:nvPr/>
        </p:nvSpPr>
        <p:spPr>
          <a:xfrm>
            <a:off x="4443984" y="3200400"/>
            <a:ext cx="1783080" cy="228600"/>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（税抜）</a:t>
            </a:r>
            <a:endParaRPr lang="en-US" sz="1000" dirty="0"/>
          </a:p>
        </p:txBody>
      </p:sp>
      <p:sp>
        <p:nvSpPr>
          <p:cNvPr id="22" name="Text 19"/>
          <p:cNvSpPr txBox="1"/>
          <p:nvPr/>
        </p:nvSpPr>
        <p:spPr>
          <a:xfrm>
            <a:off x="4443984" y="3520440"/>
            <a:ext cx="1783080" cy="274320"/>
          </a:xfrm>
          <a:prstGeom prst="rect">
            <a:avLst/>
          </a:prstGeom>
          <a:noFill/>
          <a:ln/>
        </p:spPr>
        <p:txBody>
          <a:bodyPr wrap="square" lIns="0" tIns="0" rIns="0" bIns="0" rtlCol="0" anchor="t"/>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推奨カメラ台数 〜40台</a:t>
            </a:r>
            <a:endParaRPr lang="en-US" sz="1150" dirty="0"/>
          </a:p>
        </p:txBody>
      </p:sp>
      <p:sp>
        <p:nvSpPr>
          <p:cNvPr id="23" name="Shape 20"/>
          <p:cNvSpPr/>
          <p:nvPr/>
        </p:nvSpPr>
        <p:spPr>
          <a:xfrm>
            <a:off x="6391656" y="2103120"/>
            <a:ext cx="1783080" cy="1920240"/>
          </a:xfrm>
          <a:prstGeom prst="roundRect">
            <a:avLst>
              <a:gd name="adj" fmla="val 6154"/>
            </a:avLst>
          </a:prstGeom>
          <a:solidFill>
            <a:srgbClr val="FFFFFF"/>
          </a:solidFill>
          <a:ln w="25400">
            <a:solidFill>
              <a:srgbClr val="FFD400"/>
            </a:solidFill>
            <a:prstDash val="solid"/>
          </a:ln>
        </p:spPr>
      </p:sp>
      <p:sp>
        <p:nvSpPr>
          <p:cNvPr id="24" name="Text 21"/>
          <p:cNvSpPr txBox="1"/>
          <p:nvPr/>
        </p:nvSpPr>
        <p:spPr>
          <a:xfrm>
            <a:off x="6391656" y="2286000"/>
            <a:ext cx="1783080" cy="320040"/>
          </a:xfrm>
          <a:prstGeom prst="rect">
            <a:avLst/>
          </a:prstGeom>
          <a:noFill/>
          <a:ln/>
        </p:spPr>
        <p:txBody>
          <a:bodyPr wrap="square" lIns="0" tIns="0" rIns="0" bIns="0" rtlCol="0" anchor="t"/>
          <a:lstStyle/>
          <a:p>
            <a:pPr algn="ctr" indent="0" marL="0">
              <a:buNone/>
            </a:pPr>
            <a:r>
              <a:rPr lang="en-US" sz="1400" b="1" dirty="0">
                <a:solidFill>
                  <a:srgbClr val="111111"/>
                </a:solidFill>
                <a:latin typeface="Noto Sans JP" pitchFamily="34" charset="0"/>
                <a:ea typeface="Noto Sans JP" pitchFamily="34" charset="-122"/>
                <a:cs typeface="Noto Sans JP" pitchFamily="34" charset="-120"/>
              </a:rPr>
              <a:t>96GBモデル</a:t>
            </a:r>
            <a:endParaRPr lang="en-US" sz="1400" dirty="0"/>
          </a:p>
        </p:txBody>
      </p:sp>
      <p:sp>
        <p:nvSpPr>
          <p:cNvPr id="25" name="Text 22"/>
          <p:cNvSpPr txBox="1"/>
          <p:nvPr/>
        </p:nvSpPr>
        <p:spPr>
          <a:xfrm>
            <a:off x="6391656" y="2697480"/>
            <a:ext cx="1783080" cy="502920"/>
          </a:xfrm>
          <a:prstGeom prst="rect">
            <a:avLst/>
          </a:prstGeom>
          <a:noFill/>
          <a:ln/>
        </p:spPr>
        <p:txBody>
          <a:bodyPr wrap="square" lIns="0" tIns="0" rIns="0" bIns="0" rtlCol="0" anchor="ctr"/>
          <a:lstStyle/>
          <a:p>
            <a:pPr algn="ctr" indent="0" marL="0">
              <a:buNone/>
            </a:pPr>
            <a:r>
              <a:rPr lang="en-US" sz="2600" b="1" dirty="0">
                <a:solidFill>
                  <a:srgbClr val="111111"/>
                </a:solidFill>
                <a:latin typeface="Noto Sans JP" pitchFamily="34" charset="0"/>
                <a:ea typeface="Noto Sans JP" pitchFamily="34" charset="-122"/>
                <a:cs typeface="Noto Sans JP" pitchFamily="34" charset="-120"/>
              </a:rPr>
              <a:t>726,000</a:t>
            </a:r>
            <a:pPr algn="ctr" indent="0" marL="0">
              <a:buNone/>
            </a:pPr>
            <a:r>
              <a:rPr lang="en-US" sz="1200" dirty="0">
                <a:solidFill>
                  <a:srgbClr val="111111"/>
                </a:solidFill>
                <a:latin typeface="Noto Sans JP" pitchFamily="34" charset="0"/>
                <a:ea typeface="Noto Sans JP" pitchFamily="34" charset="-122"/>
                <a:cs typeface="Noto Sans JP" pitchFamily="34" charset="-120"/>
              </a:rPr>
              <a:t> 円</a:t>
            </a:r>
            <a:endParaRPr lang="en-US" sz="2600" dirty="0"/>
          </a:p>
        </p:txBody>
      </p:sp>
      <p:sp>
        <p:nvSpPr>
          <p:cNvPr id="26" name="Text 23"/>
          <p:cNvSpPr txBox="1"/>
          <p:nvPr/>
        </p:nvSpPr>
        <p:spPr>
          <a:xfrm>
            <a:off x="6391656" y="3200400"/>
            <a:ext cx="1783080" cy="228600"/>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（税抜）</a:t>
            </a:r>
            <a:endParaRPr lang="en-US" sz="1000" dirty="0"/>
          </a:p>
        </p:txBody>
      </p:sp>
      <p:sp>
        <p:nvSpPr>
          <p:cNvPr id="27" name="Text 24"/>
          <p:cNvSpPr txBox="1"/>
          <p:nvPr/>
        </p:nvSpPr>
        <p:spPr>
          <a:xfrm>
            <a:off x="6391656" y="3520440"/>
            <a:ext cx="1783080" cy="274320"/>
          </a:xfrm>
          <a:prstGeom prst="rect">
            <a:avLst/>
          </a:prstGeom>
          <a:noFill/>
          <a:ln/>
        </p:spPr>
        <p:txBody>
          <a:bodyPr wrap="square" lIns="0" tIns="0" rIns="0" bIns="0" rtlCol="0" anchor="t"/>
          <a:lstStyle/>
          <a:p>
            <a:pPr algn="ctr" indent="0" marL="0">
              <a:buNone/>
            </a:pPr>
            <a:r>
              <a:rPr lang="en-US" sz="1150" b="1" dirty="0">
                <a:solidFill>
                  <a:srgbClr val="111111"/>
                </a:solidFill>
                <a:latin typeface="Noto Sans JP" pitchFamily="34" charset="0"/>
                <a:ea typeface="Noto Sans JP" pitchFamily="34" charset="-122"/>
                <a:cs typeface="Noto Sans JP" pitchFamily="34" charset="-120"/>
              </a:rPr>
              <a:t>推奨カメラ台数 〜50台</a:t>
            </a:r>
            <a:endParaRPr lang="en-US" sz="1150" dirty="0"/>
          </a:p>
        </p:txBody>
      </p:sp>
      <p:sp>
        <p:nvSpPr>
          <p:cNvPr id="28" name="Text 25"/>
          <p:cNvSpPr txBox="1"/>
          <p:nvPr/>
        </p:nvSpPr>
        <p:spPr>
          <a:xfrm>
            <a:off x="548640" y="4114800"/>
            <a:ext cx="5486400" cy="228600"/>
          </a:xfrm>
          <a:prstGeom prst="rect">
            <a:avLst/>
          </a:prstGeom>
          <a:noFill/>
          <a:ln/>
        </p:spPr>
        <p:txBody>
          <a:bodyPr wrap="square" lIns="0" tIns="0" rIns="0" bIns="0" rtlCol="0" anchor="t"/>
          <a:lstStyle/>
          <a:p>
            <a:pPr indent="0" marL="0">
              <a:buNone/>
            </a:pPr>
            <a:r>
              <a:rPr lang="en-US" sz="1000" dirty="0">
                <a:solidFill>
                  <a:srgbClr val="5B5B5B"/>
                </a:solidFill>
                <a:latin typeface="Noto Sans JP" pitchFamily="34" charset="0"/>
                <a:ea typeface="Noto Sans JP" pitchFamily="34" charset="-122"/>
                <a:cs typeface="Noto Sans JP" pitchFamily="34" charset="-120"/>
              </a:rPr>
              <a:t>※推奨台数は1080p映像の場合の目安です。</a:t>
            </a:r>
            <a:endParaRPr lang="en-US" sz="1000" dirty="0"/>
          </a:p>
        </p:txBody>
      </p:sp>
      <p:sp>
        <p:nvSpPr>
          <p:cNvPr id="29" name="Shape 26"/>
          <p:cNvSpPr/>
          <p:nvPr/>
        </p:nvSpPr>
        <p:spPr>
          <a:xfrm>
            <a:off x="8549640" y="1600200"/>
            <a:ext cx="3093415" cy="2743200"/>
          </a:xfrm>
          <a:prstGeom prst="roundRect">
            <a:avLst>
              <a:gd name="adj" fmla="val 5000"/>
            </a:avLst>
          </a:prstGeom>
          <a:solidFill>
            <a:srgbClr val="111111"/>
          </a:solidFill>
          <a:ln/>
        </p:spPr>
      </p:sp>
      <p:sp>
        <p:nvSpPr>
          <p:cNvPr id="30" name="Text 27"/>
          <p:cNvSpPr txBox="1"/>
          <p:nvPr/>
        </p:nvSpPr>
        <p:spPr>
          <a:xfrm>
            <a:off x="8823960" y="1783080"/>
            <a:ext cx="2544775" cy="320040"/>
          </a:xfrm>
          <a:prstGeom prst="rect">
            <a:avLst/>
          </a:prstGeom>
          <a:noFill/>
          <a:ln/>
        </p:spPr>
        <p:txBody>
          <a:bodyPr wrap="square" lIns="0" tIns="0" rIns="0" bIns="0" rtlCol="0" anchor="t"/>
          <a:lstStyle/>
          <a:p>
            <a:pPr indent="0" marL="0">
              <a:buNone/>
            </a:pPr>
            <a:r>
              <a:rPr lang="en-US" sz="1500" b="1" dirty="0">
                <a:solidFill>
                  <a:srgbClr val="FFFFFF"/>
                </a:solidFill>
                <a:latin typeface="Noto Sans JP" pitchFamily="34" charset="0"/>
                <a:ea typeface="Noto Sans JP" pitchFamily="34" charset="-122"/>
                <a:cs typeface="Noto Sans JP" pitchFamily="34" charset="-120"/>
              </a:rPr>
              <a:t>③ 月額利用料</a:t>
            </a:r>
            <a:endParaRPr lang="en-US" sz="1500" dirty="0"/>
          </a:p>
        </p:txBody>
      </p:sp>
      <p:sp>
        <p:nvSpPr>
          <p:cNvPr id="31" name="Text 28"/>
          <p:cNvSpPr txBox="1"/>
          <p:nvPr/>
        </p:nvSpPr>
        <p:spPr>
          <a:xfrm>
            <a:off x="8823960" y="2240280"/>
            <a:ext cx="2544775" cy="274320"/>
          </a:xfrm>
          <a:prstGeom prst="rect">
            <a:avLst/>
          </a:prstGeom>
          <a:noFill/>
          <a:ln/>
        </p:spPr>
        <p:txBody>
          <a:bodyPr wrap="square" lIns="0" tIns="0" rIns="0" bIns="0" rtlCol="0" anchor="t"/>
          <a:lstStyle/>
          <a:p>
            <a:pPr indent="0" marL="0">
              <a:buNone/>
            </a:pPr>
            <a:r>
              <a:rPr lang="en-US" sz="1200" dirty="0">
                <a:solidFill>
                  <a:srgbClr val="DDDDDD"/>
                </a:solidFill>
                <a:latin typeface="Noto Sans JP" pitchFamily="34" charset="0"/>
                <a:ea typeface="Noto Sans JP" pitchFamily="34" charset="-122"/>
                <a:cs typeface="Noto Sans JP" pitchFamily="34" charset="-120"/>
              </a:rPr>
              <a:t>カメラ1台あたり</a:t>
            </a:r>
            <a:endParaRPr lang="en-US" sz="1200" dirty="0"/>
          </a:p>
        </p:txBody>
      </p:sp>
      <p:sp>
        <p:nvSpPr>
          <p:cNvPr id="32" name="Text 29"/>
          <p:cNvSpPr txBox="1"/>
          <p:nvPr/>
        </p:nvSpPr>
        <p:spPr>
          <a:xfrm>
            <a:off x="8823960" y="2560320"/>
            <a:ext cx="2636215" cy="685800"/>
          </a:xfrm>
          <a:prstGeom prst="rect">
            <a:avLst/>
          </a:prstGeom>
          <a:noFill/>
          <a:ln/>
        </p:spPr>
        <p:txBody>
          <a:bodyPr wrap="square" lIns="0" tIns="0" rIns="0" bIns="0" rtlCol="0" anchor="ctr"/>
          <a:lstStyle/>
          <a:p>
            <a:pPr indent="0" marL="0">
              <a:buNone/>
            </a:pPr>
            <a:r>
              <a:rPr lang="en-US" sz="3200" b="1" dirty="0">
                <a:solidFill>
                  <a:srgbClr val="FFD400"/>
                </a:solidFill>
                <a:latin typeface="Noto Sans JP" pitchFamily="34" charset="0"/>
                <a:ea typeface="Noto Sans JP" pitchFamily="34" charset="-122"/>
                <a:cs typeface="Noto Sans JP" pitchFamily="34" charset="-120"/>
              </a:rPr>
              <a:t>15,000</a:t>
            </a:r>
            <a:pPr indent="0" marL="0">
              <a:buNone/>
            </a:pPr>
            <a:r>
              <a:rPr lang="en-US" sz="1300" dirty="0">
                <a:solidFill>
                  <a:srgbClr val="FFFFFF"/>
                </a:solidFill>
                <a:latin typeface="Noto Sans JP" pitchFamily="34" charset="0"/>
                <a:ea typeface="Noto Sans JP" pitchFamily="34" charset="-122"/>
                <a:cs typeface="Noto Sans JP" pitchFamily="34" charset="-120"/>
              </a:rPr>
              <a:t> 円／月</a:t>
            </a:r>
            <a:endParaRPr lang="en-US" sz="3200" dirty="0"/>
          </a:p>
        </p:txBody>
      </p:sp>
      <p:sp>
        <p:nvSpPr>
          <p:cNvPr id="33" name="Text 30"/>
          <p:cNvSpPr txBox="1"/>
          <p:nvPr/>
        </p:nvSpPr>
        <p:spPr>
          <a:xfrm>
            <a:off x="8823960" y="3337560"/>
            <a:ext cx="2544775" cy="457200"/>
          </a:xfrm>
          <a:prstGeom prst="rect">
            <a:avLst/>
          </a:prstGeom>
          <a:noFill/>
          <a:ln/>
        </p:spPr>
        <p:txBody>
          <a:bodyPr wrap="square" lIns="0" tIns="0" rIns="0" bIns="0" rtlCol="0" anchor="t"/>
          <a:lstStyle/>
          <a:p>
            <a:pPr indent="0" marL="0">
              <a:lnSpc>
                <a:spcPct val="130000"/>
              </a:lnSpc>
              <a:buNone/>
            </a:pPr>
            <a:r>
              <a:rPr lang="en-US" sz="1050" dirty="0">
                <a:solidFill>
                  <a:srgbClr val="DDDDDD"/>
                </a:solidFill>
                <a:latin typeface="Noto Sans JP" pitchFamily="34" charset="0"/>
                <a:ea typeface="Noto Sans JP" pitchFamily="34" charset="-122"/>
                <a:cs typeface="Noto Sans JP" pitchFamily="34" charset="-120"/>
              </a:rPr>
              <a:t>（税抜）5台 75,000円／10台 150,000円／15台 225,000円</a:t>
            </a:r>
            <a:endParaRPr lang="en-US" sz="1050" dirty="0"/>
          </a:p>
        </p:txBody>
      </p:sp>
      <p:sp>
        <p:nvSpPr>
          <p:cNvPr id="34" name="Text 31"/>
          <p:cNvSpPr txBox="1"/>
          <p:nvPr/>
        </p:nvSpPr>
        <p:spPr>
          <a:xfrm>
            <a:off x="8823960" y="3840480"/>
            <a:ext cx="2544775" cy="365760"/>
          </a:xfrm>
          <a:prstGeom prst="rect">
            <a:avLst/>
          </a:prstGeom>
          <a:noFill/>
          <a:ln/>
        </p:spPr>
        <p:txBody>
          <a:bodyPr wrap="square" lIns="0" tIns="0" rIns="0" bIns="0" rtlCol="0" anchor="t"/>
          <a:lstStyle/>
          <a:p>
            <a:pPr indent="0" marL="0">
              <a:buNone/>
            </a:pPr>
            <a:r>
              <a:rPr lang="en-US" sz="1050" dirty="0">
                <a:solidFill>
                  <a:srgbClr val="DDDDDD"/>
                </a:solidFill>
                <a:latin typeface="Noto Sans JP" pitchFamily="34" charset="0"/>
                <a:ea typeface="Noto Sans JP" pitchFamily="34" charset="-122"/>
                <a:cs typeface="Noto Sans JP" pitchFamily="34" charset="-120"/>
              </a:rPr>
              <a:t>ソフトウェア利用料とトラブル時の対応を含みます。</a:t>
            </a:r>
            <a:endParaRPr lang="en-US" sz="1050" dirty="0"/>
          </a:p>
        </p:txBody>
      </p:sp>
      <p:sp>
        <p:nvSpPr>
          <p:cNvPr id="35" name="Text 32"/>
          <p:cNvSpPr txBox="1"/>
          <p:nvPr/>
        </p:nvSpPr>
        <p:spPr>
          <a:xfrm>
            <a:off x="548640" y="4526280"/>
            <a:ext cx="4572000" cy="365760"/>
          </a:xfrm>
          <a:prstGeom prst="rect">
            <a:avLst/>
          </a:prstGeom>
          <a:noFill/>
          <a:ln/>
        </p:spPr>
        <p:txBody>
          <a:bodyPr wrap="square" lIns="0" tIns="0" rIns="0" bIns="0" rtlCol="0" anchor="t"/>
          <a:lstStyle/>
          <a:p>
            <a:pPr indent="0" marL="0">
              <a:buNone/>
            </a:pPr>
            <a:r>
              <a:rPr lang="en-US" sz="1700" b="1" dirty="0">
                <a:solidFill>
                  <a:srgbClr val="111111"/>
                </a:solidFill>
                <a:latin typeface="Noto Sans JP" pitchFamily="34" charset="0"/>
                <a:ea typeface="Noto Sans JP" pitchFamily="34" charset="-122"/>
                <a:cs typeface="Noto Sans JP" pitchFamily="34" charset="-120"/>
              </a:rPr>
              <a:t>② ストレージ込みの参考価格</a:t>
            </a:r>
            <a:endParaRPr lang="en-US" sz="1700" dirty="0"/>
          </a:p>
        </p:txBody>
      </p:sp>
      <p:sp>
        <p:nvSpPr>
          <p:cNvPr id="36" name="Shape 33"/>
          <p:cNvSpPr/>
          <p:nvPr/>
        </p:nvSpPr>
        <p:spPr>
          <a:xfrm>
            <a:off x="548640" y="4983480"/>
            <a:ext cx="1783080" cy="1188720"/>
          </a:xfrm>
          <a:prstGeom prst="roundRect">
            <a:avLst>
              <a:gd name="adj" fmla="val 7692"/>
            </a:avLst>
          </a:prstGeom>
          <a:solidFill>
            <a:srgbClr val="F5F5F2"/>
          </a:solidFill>
          <a:ln/>
        </p:spPr>
      </p:sp>
      <p:sp>
        <p:nvSpPr>
          <p:cNvPr id="37" name="Text 34"/>
          <p:cNvSpPr txBox="1"/>
          <p:nvPr/>
        </p:nvSpPr>
        <p:spPr>
          <a:xfrm>
            <a:off x="548640" y="5093208"/>
            <a:ext cx="1783080" cy="274320"/>
          </a:xfrm>
          <a:prstGeom prst="rect">
            <a:avLst/>
          </a:prstGeom>
          <a:noFill/>
          <a:ln/>
        </p:spPr>
        <p:txBody>
          <a:bodyPr wrap="square" lIns="0" tIns="0" rIns="0" bIns="0" rtlCol="0" anchor="t"/>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カメラ1〜5台</a:t>
            </a:r>
            <a:endParaRPr lang="en-US" sz="1200" dirty="0"/>
          </a:p>
        </p:txBody>
      </p:sp>
      <p:sp>
        <p:nvSpPr>
          <p:cNvPr id="38" name="Text 35"/>
          <p:cNvSpPr txBox="1"/>
          <p:nvPr/>
        </p:nvSpPr>
        <p:spPr>
          <a:xfrm>
            <a:off x="548640" y="5394960"/>
            <a:ext cx="1783080" cy="365760"/>
          </a:xfrm>
          <a:prstGeom prst="rect">
            <a:avLst/>
          </a:prstGeom>
          <a:noFill/>
          <a:ln/>
        </p:spPr>
        <p:txBody>
          <a:bodyPr wrap="square" lIns="0" tIns="0" rIns="0" bIns="0" rtlCol="0" anchor="t"/>
          <a:lstStyle/>
          <a:p>
            <a:pPr algn="ctr" indent="0" marL="0">
              <a:buNone/>
            </a:pPr>
            <a:r>
              <a:rPr lang="en-US" sz="1800" b="1" dirty="0">
                <a:solidFill>
                  <a:srgbClr val="111111"/>
                </a:solidFill>
                <a:latin typeface="Noto Sans JP" pitchFamily="34" charset="0"/>
                <a:ea typeface="Noto Sans JP" pitchFamily="34" charset="-122"/>
                <a:cs typeface="Noto Sans JP" pitchFamily="34" charset="-120"/>
              </a:rPr>
              <a:t>506,170円</a:t>
            </a:r>
            <a:endParaRPr lang="en-US" sz="1800" dirty="0"/>
          </a:p>
        </p:txBody>
      </p:sp>
      <p:sp>
        <p:nvSpPr>
          <p:cNvPr id="39" name="Text 36"/>
          <p:cNvSpPr txBox="1"/>
          <p:nvPr/>
        </p:nvSpPr>
        <p:spPr>
          <a:xfrm>
            <a:off x="548640" y="5806440"/>
            <a:ext cx="1783080" cy="256032"/>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SSD 4TB＋HDD 15TB</a:t>
            </a:r>
            <a:endParaRPr lang="en-US" sz="1000" dirty="0"/>
          </a:p>
        </p:txBody>
      </p:sp>
      <p:sp>
        <p:nvSpPr>
          <p:cNvPr id="40" name="Shape 37"/>
          <p:cNvSpPr/>
          <p:nvPr/>
        </p:nvSpPr>
        <p:spPr>
          <a:xfrm>
            <a:off x="2496312" y="4983480"/>
            <a:ext cx="1783080" cy="1188720"/>
          </a:xfrm>
          <a:prstGeom prst="roundRect">
            <a:avLst>
              <a:gd name="adj" fmla="val 7692"/>
            </a:avLst>
          </a:prstGeom>
          <a:solidFill>
            <a:srgbClr val="F5F5F2"/>
          </a:solidFill>
          <a:ln/>
        </p:spPr>
      </p:sp>
      <p:sp>
        <p:nvSpPr>
          <p:cNvPr id="41" name="Text 38"/>
          <p:cNvSpPr txBox="1"/>
          <p:nvPr/>
        </p:nvSpPr>
        <p:spPr>
          <a:xfrm>
            <a:off x="2496312" y="5093208"/>
            <a:ext cx="1783080" cy="274320"/>
          </a:xfrm>
          <a:prstGeom prst="rect">
            <a:avLst/>
          </a:prstGeom>
          <a:noFill/>
          <a:ln/>
        </p:spPr>
        <p:txBody>
          <a:bodyPr wrap="square" lIns="0" tIns="0" rIns="0" bIns="0" rtlCol="0" anchor="t"/>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カメラ5〜10台</a:t>
            </a:r>
            <a:endParaRPr lang="en-US" sz="1200" dirty="0"/>
          </a:p>
        </p:txBody>
      </p:sp>
      <p:sp>
        <p:nvSpPr>
          <p:cNvPr id="42" name="Text 39"/>
          <p:cNvSpPr txBox="1"/>
          <p:nvPr/>
        </p:nvSpPr>
        <p:spPr>
          <a:xfrm>
            <a:off x="2496312" y="5394960"/>
            <a:ext cx="1783080" cy="365760"/>
          </a:xfrm>
          <a:prstGeom prst="rect">
            <a:avLst/>
          </a:prstGeom>
          <a:noFill/>
          <a:ln/>
        </p:spPr>
        <p:txBody>
          <a:bodyPr wrap="square" lIns="0" tIns="0" rIns="0" bIns="0" rtlCol="0" anchor="t"/>
          <a:lstStyle/>
          <a:p>
            <a:pPr algn="ctr" indent="0" marL="0">
              <a:buNone/>
            </a:pPr>
            <a:r>
              <a:rPr lang="en-US" sz="1800" b="1" dirty="0">
                <a:solidFill>
                  <a:srgbClr val="111111"/>
                </a:solidFill>
                <a:latin typeface="Noto Sans JP" pitchFamily="34" charset="0"/>
                <a:ea typeface="Noto Sans JP" pitchFamily="34" charset="-122"/>
                <a:cs typeface="Noto Sans JP" pitchFamily="34" charset="-120"/>
              </a:rPr>
              <a:t>668,867円</a:t>
            </a:r>
            <a:endParaRPr lang="en-US" sz="1800" dirty="0"/>
          </a:p>
        </p:txBody>
      </p:sp>
      <p:sp>
        <p:nvSpPr>
          <p:cNvPr id="43" name="Text 40"/>
          <p:cNvSpPr txBox="1"/>
          <p:nvPr/>
        </p:nvSpPr>
        <p:spPr>
          <a:xfrm>
            <a:off x="2496312" y="5806440"/>
            <a:ext cx="1783080" cy="256032"/>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SSD 4TB＋HDD 30TB</a:t>
            </a:r>
            <a:endParaRPr lang="en-US" sz="1000" dirty="0"/>
          </a:p>
        </p:txBody>
      </p:sp>
      <p:sp>
        <p:nvSpPr>
          <p:cNvPr id="44" name="Shape 41"/>
          <p:cNvSpPr/>
          <p:nvPr/>
        </p:nvSpPr>
        <p:spPr>
          <a:xfrm>
            <a:off x="4443984" y="4983480"/>
            <a:ext cx="1783080" cy="1188720"/>
          </a:xfrm>
          <a:prstGeom prst="roundRect">
            <a:avLst>
              <a:gd name="adj" fmla="val 7692"/>
            </a:avLst>
          </a:prstGeom>
          <a:solidFill>
            <a:srgbClr val="F5F5F2"/>
          </a:solidFill>
          <a:ln/>
        </p:spPr>
      </p:sp>
      <p:sp>
        <p:nvSpPr>
          <p:cNvPr id="45" name="Text 42"/>
          <p:cNvSpPr txBox="1"/>
          <p:nvPr/>
        </p:nvSpPr>
        <p:spPr>
          <a:xfrm>
            <a:off x="4443984" y="5093208"/>
            <a:ext cx="1783080" cy="274320"/>
          </a:xfrm>
          <a:prstGeom prst="rect">
            <a:avLst/>
          </a:prstGeom>
          <a:noFill/>
          <a:ln/>
        </p:spPr>
        <p:txBody>
          <a:bodyPr wrap="square" lIns="0" tIns="0" rIns="0" bIns="0" rtlCol="0" anchor="t"/>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カメラ10〜30台</a:t>
            </a:r>
            <a:endParaRPr lang="en-US" sz="1200" dirty="0"/>
          </a:p>
        </p:txBody>
      </p:sp>
      <p:sp>
        <p:nvSpPr>
          <p:cNvPr id="46" name="Text 43"/>
          <p:cNvSpPr txBox="1"/>
          <p:nvPr/>
        </p:nvSpPr>
        <p:spPr>
          <a:xfrm>
            <a:off x="4443984" y="5394960"/>
            <a:ext cx="1783080" cy="365760"/>
          </a:xfrm>
          <a:prstGeom prst="rect">
            <a:avLst/>
          </a:prstGeom>
          <a:noFill/>
          <a:ln/>
        </p:spPr>
        <p:txBody>
          <a:bodyPr wrap="square" lIns="0" tIns="0" rIns="0" bIns="0" rtlCol="0" anchor="t"/>
          <a:lstStyle/>
          <a:p>
            <a:pPr algn="ctr" indent="0" marL="0">
              <a:buNone/>
            </a:pPr>
            <a:r>
              <a:rPr lang="en-US" sz="1800" b="1" dirty="0">
                <a:solidFill>
                  <a:srgbClr val="111111"/>
                </a:solidFill>
                <a:latin typeface="Noto Sans JP" pitchFamily="34" charset="0"/>
                <a:ea typeface="Noto Sans JP" pitchFamily="34" charset="-122"/>
                <a:cs typeface="Noto Sans JP" pitchFamily="34" charset="-120"/>
              </a:rPr>
              <a:t>1,259,342円</a:t>
            </a:r>
            <a:endParaRPr lang="en-US" sz="1800" dirty="0"/>
          </a:p>
        </p:txBody>
      </p:sp>
      <p:sp>
        <p:nvSpPr>
          <p:cNvPr id="47" name="Text 44"/>
          <p:cNvSpPr txBox="1"/>
          <p:nvPr/>
        </p:nvSpPr>
        <p:spPr>
          <a:xfrm>
            <a:off x="4443984" y="5806440"/>
            <a:ext cx="1783080" cy="256032"/>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SSD 4TB＋HDD 90TB</a:t>
            </a:r>
            <a:endParaRPr lang="en-US" sz="1000" dirty="0"/>
          </a:p>
        </p:txBody>
      </p:sp>
      <p:sp>
        <p:nvSpPr>
          <p:cNvPr id="48" name="Shape 45"/>
          <p:cNvSpPr/>
          <p:nvPr/>
        </p:nvSpPr>
        <p:spPr>
          <a:xfrm>
            <a:off x="6391656" y="4983480"/>
            <a:ext cx="1783080" cy="1188720"/>
          </a:xfrm>
          <a:prstGeom prst="roundRect">
            <a:avLst>
              <a:gd name="adj" fmla="val 7692"/>
            </a:avLst>
          </a:prstGeom>
          <a:solidFill>
            <a:srgbClr val="F5F5F2"/>
          </a:solidFill>
          <a:ln/>
        </p:spPr>
      </p:sp>
      <p:sp>
        <p:nvSpPr>
          <p:cNvPr id="49" name="Text 46"/>
          <p:cNvSpPr txBox="1"/>
          <p:nvPr/>
        </p:nvSpPr>
        <p:spPr>
          <a:xfrm>
            <a:off x="6391656" y="5093208"/>
            <a:ext cx="1783080" cy="274320"/>
          </a:xfrm>
          <a:prstGeom prst="rect">
            <a:avLst/>
          </a:prstGeom>
          <a:noFill/>
          <a:ln/>
        </p:spPr>
        <p:txBody>
          <a:bodyPr wrap="square" lIns="0" tIns="0" rIns="0" bIns="0" rtlCol="0" anchor="t"/>
          <a:lstStyle/>
          <a:p>
            <a:pPr algn="ctr" indent="0" marL="0">
              <a:buNone/>
            </a:pPr>
            <a:r>
              <a:rPr lang="en-US" sz="1200" b="1" dirty="0">
                <a:solidFill>
                  <a:srgbClr val="111111"/>
                </a:solidFill>
                <a:latin typeface="Noto Sans JP" pitchFamily="34" charset="0"/>
                <a:ea typeface="Noto Sans JP" pitchFamily="34" charset="-122"/>
                <a:cs typeface="Noto Sans JP" pitchFamily="34" charset="-120"/>
              </a:rPr>
              <a:t>カメラ30〜50台</a:t>
            </a:r>
            <a:endParaRPr lang="en-US" sz="1200" dirty="0"/>
          </a:p>
        </p:txBody>
      </p:sp>
      <p:sp>
        <p:nvSpPr>
          <p:cNvPr id="50" name="Text 47"/>
          <p:cNvSpPr txBox="1"/>
          <p:nvPr/>
        </p:nvSpPr>
        <p:spPr>
          <a:xfrm>
            <a:off x="6391656" y="5394960"/>
            <a:ext cx="1783080" cy="365760"/>
          </a:xfrm>
          <a:prstGeom prst="rect">
            <a:avLst/>
          </a:prstGeom>
          <a:noFill/>
          <a:ln/>
        </p:spPr>
        <p:txBody>
          <a:bodyPr wrap="square" lIns="0" tIns="0" rIns="0" bIns="0" rtlCol="0" anchor="t"/>
          <a:lstStyle/>
          <a:p>
            <a:pPr algn="ctr" indent="0" marL="0">
              <a:buNone/>
            </a:pPr>
            <a:r>
              <a:rPr lang="en-US" sz="1800" b="1" dirty="0">
                <a:solidFill>
                  <a:srgbClr val="111111"/>
                </a:solidFill>
                <a:latin typeface="Noto Sans JP" pitchFamily="34" charset="0"/>
                <a:ea typeface="Noto Sans JP" pitchFamily="34" charset="-122"/>
                <a:cs typeface="Noto Sans JP" pitchFamily="34" charset="-120"/>
              </a:rPr>
              <a:t>1,952,130円</a:t>
            </a:r>
            <a:endParaRPr lang="en-US" sz="1800" dirty="0"/>
          </a:p>
        </p:txBody>
      </p:sp>
      <p:sp>
        <p:nvSpPr>
          <p:cNvPr id="51" name="Text 48"/>
          <p:cNvSpPr txBox="1"/>
          <p:nvPr/>
        </p:nvSpPr>
        <p:spPr>
          <a:xfrm>
            <a:off x="6391656" y="5806440"/>
            <a:ext cx="1783080" cy="256032"/>
          </a:xfrm>
          <a:prstGeom prst="rect">
            <a:avLst/>
          </a:prstGeom>
          <a:noFill/>
          <a:ln/>
        </p:spPr>
        <p:txBody>
          <a:bodyPr wrap="square" lIns="0" tIns="0" rIns="0" bIns="0" rtlCol="0" anchor="t"/>
          <a:lstStyle/>
          <a:p>
            <a:pPr algn="ctr" indent="0" marL="0">
              <a:buNone/>
            </a:pPr>
            <a:r>
              <a:rPr lang="en-US" sz="1000" dirty="0">
                <a:solidFill>
                  <a:srgbClr val="5B5B5B"/>
                </a:solidFill>
                <a:latin typeface="Noto Sans JP" pitchFamily="34" charset="0"/>
                <a:ea typeface="Noto Sans JP" pitchFamily="34" charset="-122"/>
                <a:cs typeface="Noto Sans JP" pitchFamily="34" charset="-120"/>
              </a:rPr>
              <a:t>SSD 4TB＋HDD 150TB</a:t>
            </a:r>
            <a:endParaRPr lang="en-US" sz="1000" dirty="0"/>
          </a:p>
        </p:txBody>
      </p:sp>
      <p:sp>
        <p:nvSpPr>
          <p:cNvPr id="52" name="Text 49"/>
          <p:cNvSpPr txBox="1"/>
          <p:nvPr/>
        </p:nvSpPr>
        <p:spPr>
          <a:xfrm>
            <a:off x="548640" y="6263640"/>
            <a:ext cx="7772400" cy="228600"/>
          </a:xfrm>
          <a:prstGeom prst="rect">
            <a:avLst/>
          </a:prstGeom>
          <a:noFill/>
          <a:ln/>
        </p:spPr>
        <p:txBody>
          <a:bodyPr wrap="square" lIns="0" tIns="0" rIns="0" bIns="0" rtlCol="0" anchor="t"/>
          <a:lstStyle/>
          <a:p>
            <a:pPr indent="0" marL="0">
              <a:buNone/>
            </a:pPr>
            <a:r>
              <a:rPr lang="en-US" sz="1000" dirty="0">
                <a:solidFill>
                  <a:srgbClr val="5B5B5B"/>
                </a:solidFill>
                <a:latin typeface="Noto Sans JP" pitchFamily="34" charset="0"/>
                <a:ea typeface="Noto Sans JP" pitchFamily="34" charset="-122"/>
                <a:cs typeface="Noto Sans JP" pitchFamily="34" charset="-120"/>
              </a:rPr>
              <a:t>※税抜。15fps・12ヶ月保存を前提とした、2026年8月時点の資料に基づく試算です。</a:t>
            </a:r>
            <a:endParaRPr lang="en-US" sz="1000" dirty="0"/>
          </a:p>
        </p:txBody>
      </p:sp>
      <p:sp>
        <p:nvSpPr>
          <p:cNvPr id="53" name="Text 50"/>
          <p:cNvSpPr txBox="1"/>
          <p:nvPr/>
        </p:nvSpPr>
        <p:spPr>
          <a:xfrm>
            <a:off x="8549640" y="4526280"/>
            <a:ext cx="3093415" cy="365760"/>
          </a:xfrm>
          <a:prstGeom prst="rect">
            <a:avLst/>
          </a:prstGeom>
          <a:noFill/>
          <a:ln/>
        </p:spPr>
        <p:txBody>
          <a:bodyPr wrap="square" lIns="0" tIns="0" rIns="0" bIns="0" rtlCol="0" anchor="t"/>
          <a:lstStyle/>
          <a:p>
            <a:pPr indent="0" marL="0">
              <a:buNone/>
            </a:pPr>
            <a:r>
              <a:rPr lang="en-US" sz="1700" b="1" dirty="0">
                <a:solidFill>
                  <a:srgbClr val="111111"/>
                </a:solidFill>
                <a:latin typeface="Noto Sans JP" pitchFamily="34" charset="0"/>
                <a:ea typeface="Noto Sans JP" pitchFamily="34" charset="-122"/>
                <a:cs typeface="Noto Sans JP" pitchFamily="34" charset="-120"/>
              </a:rPr>
              <a:t>④ ご注意事項</a:t>
            </a:r>
            <a:endParaRPr lang="en-US" sz="1700" dirty="0"/>
          </a:p>
        </p:txBody>
      </p:sp>
      <p:sp>
        <p:nvSpPr>
          <p:cNvPr id="54" name="Text 51"/>
          <p:cNvSpPr txBox="1"/>
          <p:nvPr/>
        </p:nvSpPr>
        <p:spPr>
          <a:xfrm>
            <a:off x="8549640" y="4983480"/>
            <a:ext cx="3093415" cy="13716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latin typeface="Noto Sans JP" pitchFamily="34" charset="0"/>
                <a:ea typeface="Noto Sans JP" pitchFamily="34" charset="-122"/>
                <a:cs typeface="Noto Sans JP" pitchFamily="34" charset="-120"/>
              </a:rPr>
              <a:t>台数に応じた値引きがあります。</a:t>
            </a:r>
            <a:endParaRPr lang="en-US" sz="1100" dirty="0"/>
          </a:p>
          <a:p>
            <a:pPr marL="342900" indent="-342900">
              <a:spcAft>
                <a:spcPts val="400"/>
              </a:spcAft>
              <a:buSzPct val="100000"/>
              <a:buChar char="•"/>
            </a:pPr>
            <a:r>
              <a:rPr lang="en-US" sz="1100" dirty="0">
                <a:solidFill>
                  <a:srgbClr val="222222"/>
                </a:solidFill>
                <a:latin typeface="Noto Sans JP" pitchFamily="34" charset="0"/>
                <a:ea typeface="Noto Sans JP" pitchFamily="34" charset="-122"/>
                <a:cs typeface="Noto Sans JP" pitchFamily="34" charset="-120"/>
              </a:rPr>
              <a:t>追加開発は別途お見積りです。</a:t>
            </a:r>
            <a:endParaRPr lang="en-US" sz="1100" dirty="0"/>
          </a:p>
          <a:p>
            <a:pPr marL="342900" indent="-342900">
              <a:spcAft>
                <a:spcPts val="400"/>
              </a:spcAft>
              <a:buSzPct val="100000"/>
              <a:buChar char="•"/>
            </a:pPr>
            <a:r>
              <a:rPr lang="en-US" sz="1100" dirty="0">
                <a:solidFill>
                  <a:srgbClr val="222222"/>
                </a:solidFill>
                <a:latin typeface="Noto Sans JP" pitchFamily="34" charset="0"/>
                <a:ea typeface="Noto Sans JP" pitchFamily="34" charset="-122"/>
                <a:cs typeface="Noto Sans JP" pitchFamily="34" charset="-120"/>
              </a:rPr>
              <a:t>SSD・HDD・PoE機器・施工費は本体価格に含まれません。</a:t>
            </a:r>
            <a:endParaRPr lang="en-US" sz="1100" dirty="0"/>
          </a:p>
          <a:p>
            <a:pPr marL="342900" indent="-342900">
              <a:spcAft>
                <a:spcPts val="400"/>
              </a:spcAft>
              <a:buSzPct val="100000"/>
              <a:buChar char="•"/>
            </a:pPr>
            <a:r>
              <a:rPr lang="en-US" sz="1100" dirty="0">
                <a:solidFill>
                  <a:srgbClr val="222222"/>
                </a:solidFill>
                <a:latin typeface="Noto Sans JP" pitchFamily="34" charset="0"/>
                <a:ea typeface="Noto Sans JP" pitchFamily="34" charset="-122"/>
                <a:cs typeface="Noto Sans JP" pitchFamily="34" charset="-120"/>
              </a:rPr>
              <a:t>カメラ50台以上は個別お見積りの対象です。</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2"/>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17</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FLOW</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導入の流れ</a:t>
            </a:r>
            <a:endParaRPr lang="en-US" sz="3000" dirty="0"/>
          </a:p>
        </p:txBody>
      </p:sp>
      <p:sp>
        <p:nvSpPr>
          <p:cNvPr id="7" name="Shape 4"/>
          <p:cNvSpPr/>
          <p:nvPr/>
        </p:nvSpPr>
        <p:spPr>
          <a:xfrm>
            <a:off x="1615288" y="2606040"/>
            <a:ext cx="8961120" cy="54864"/>
          </a:xfrm>
          <a:prstGeom prst="rect">
            <a:avLst/>
          </a:prstGeom>
          <a:solidFill>
            <a:srgbClr val="111111"/>
          </a:solidFill>
          <a:ln/>
        </p:spPr>
      </p:sp>
      <p:sp>
        <p:nvSpPr>
          <p:cNvPr id="8" name="Shape 5"/>
          <p:cNvSpPr/>
          <p:nvPr/>
        </p:nvSpPr>
        <p:spPr>
          <a:xfrm>
            <a:off x="1066648" y="2103120"/>
            <a:ext cx="1097280" cy="950244"/>
          </a:xfrm>
          <a:prstGeom prst="hexagon">
            <a:avLst/>
          </a:prstGeom>
          <a:solidFill>
            <a:srgbClr val="FFD400"/>
          </a:solidFill>
          <a:ln w="25400">
            <a:solidFill>
              <a:srgbClr val="111111"/>
            </a:solidFill>
            <a:prstDash val="solid"/>
          </a:ln>
        </p:spPr>
      </p:sp>
      <p:sp>
        <p:nvSpPr>
          <p:cNvPr id="9" name="Text 6"/>
          <p:cNvSpPr txBox="1"/>
          <p:nvPr/>
        </p:nvSpPr>
        <p:spPr>
          <a:xfrm>
            <a:off x="1066648" y="2103120"/>
            <a:ext cx="1097280" cy="950976"/>
          </a:xfrm>
          <a:prstGeom prst="rect">
            <a:avLst/>
          </a:prstGeom>
          <a:noFill/>
          <a:ln/>
        </p:spPr>
        <p:txBody>
          <a:bodyPr wrap="square" lIns="0" tIns="0" rIns="0" bIns="0" rtlCol="0" anchor="ctr"/>
          <a:lstStyle/>
          <a:p>
            <a:pPr algn="ctr" indent="0" marL="0">
              <a:buNone/>
            </a:pPr>
            <a:r>
              <a:rPr lang="en-US" sz="2800" b="1" dirty="0">
                <a:solidFill>
                  <a:srgbClr val="111111"/>
                </a:solidFill>
                <a:latin typeface="Noto Sans JP" pitchFamily="34" charset="0"/>
                <a:ea typeface="Noto Sans JP" pitchFamily="34" charset="-122"/>
                <a:cs typeface="Noto Sans JP" pitchFamily="34" charset="-120"/>
              </a:rPr>
              <a:t>1</a:t>
            </a:r>
            <a:endParaRPr lang="en-US" sz="2800" dirty="0"/>
          </a:p>
        </p:txBody>
      </p:sp>
      <p:sp>
        <p:nvSpPr>
          <p:cNvPr id="10" name="Shape 7"/>
          <p:cNvSpPr/>
          <p:nvPr/>
        </p:nvSpPr>
        <p:spPr>
          <a:xfrm>
            <a:off x="586588" y="3383280"/>
            <a:ext cx="2057400" cy="2286000"/>
          </a:xfrm>
          <a:prstGeom prst="roundRect">
            <a:avLst>
              <a:gd name="adj" fmla="val 5333"/>
            </a:avLst>
          </a:prstGeom>
          <a:solidFill>
            <a:srgbClr val="FFFFFF"/>
          </a:solidFill>
          <a:ln/>
        </p:spPr>
      </p:sp>
      <p:sp>
        <p:nvSpPr>
          <p:cNvPr id="11" name="Text 8"/>
          <p:cNvSpPr txBox="1"/>
          <p:nvPr/>
        </p:nvSpPr>
        <p:spPr>
          <a:xfrm>
            <a:off x="723748" y="3566160"/>
            <a:ext cx="1783080" cy="411480"/>
          </a:xfrm>
          <a:prstGeom prst="rect">
            <a:avLst/>
          </a:prstGeom>
          <a:noFill/>
          <a:ln/>
        </p:spPr>
        <p:txBody>
          <a:bodyPr wrap="square" lIns="0" tIns="0" rIns="0" bIns="0" rtlCol="0" anchor="t"/>
          <a:lstStyle/>
          <a:p>
            <a:pPr algn="ctr" indent="0" marL="0">
              <a:buNone/>
            </a:pPr>
            <a:r>
              <a:rPr lang="en-US" sz="1600" b="1" dirty="0">
                <a:solidFill>
                  <a:srgbClr val="111111"/>
                </a:solidFill>
                <a:latin typeface="Noto Sans JP" pitchFamily="34" charset="0"/>
                <a:ea typeface="Noto Sans JP" pitchFamily="34" charset="-122"/>
                <a:cs typeface="Noto Sans JP" pitchFamily="34" charset="-120"/>
              </a:rPr>
              <a:t>ヒアリング</a:t>
            </a:r>
            <a:endParaRPr lang="en-US" sz="1600" dirty="0"/>
          </a:p>
        </p:txBody>
      </p:sp>
      <p:sp>
        <p:nvSpPr>
          <p:cNvPr id="12" name="Text 9"/>
          <p:cNvSpPr txBox="1"/>
          <p:nvPr/>
        </p:nvSpPr>
        <p:spPr>
          <a:xfrm>
            <a:off x="787756" y="4114800"/>
            <a:ext cx="1655064" cy="1371600"/>
          </a:xfrm>
          <a:prstGeom prst="rect">
            <a:avLst/>
          </a:prstGeom>
          <a:noFill/>
          <a:ln/>
        </p:spPr>
        <p:txBody>
          <a:bodyPr wrap="square" lIns="0" tIns="0" rIns="0" bIns="0" rtlCol="0" anchor="t"/>
          <a:lstStyle/>
          <a:p>
            <a:pPr indent="0" marL="0">
              <a:lnSpc>
                <a:spcPct val="140000"/>
              </a:lnSpc>
              <a:buNone/>
            </a:pPr>
            <a:r>
              <a:rPr lang="en-US" sz="1250" dirty="0">
                <a:solidFill>
                  <a:srgbClr val="5B5B5B"/>
                </a:solidFill>
                <a:latin typeface="Noto Sans JP" pitchFamily="34" charset="0"/>
                <a:ea typeface="Noto Sans JP" pitchFamily="34" charset="-122"/>
                <a:cs typeface="Noto Sans JP" pitchFamily="34" charset="-120"/>
              </a:rPr>
              <a:t>現在のカメラ環境と課題をお伺いします。</a:t>
            </a:r>
            <a:endParaRPr lang="en-US" sz="1250" dirty="0"/>
          </a:p>
        </p:txBody>
      </p:sp>
      <p:sp>
        <p:nvSpPr>
          <p:cNvPr id="13" name="Shape 10"/>
          <p:cNvSpPr/>
          <p:nvPr/>
        </p:nvSpPr>
        <p:spPr>
          <a:xfrm>
            <a:off x="3306928" y="2103120"/>
            <a:ext cx="1097280" cy="950244"/>
          </a:xfrm>
          <a:prstGeom prst="hexagon">
            <a:avLst/>
          </a:prstGeom>
          <a:solidFill>
            <a:srgbClr val="FFD400"/>
          </a:solidFill>
          <a:ln w="25400">
            <a:solidFill>
              <a:srgbClr val="111111"/>
            </a:solidFill>
            <a:prstDash val="solid"/>
          </a:ln>
        </p:spPr>
      </p:sp>
      <p:sp>
        <p:nvSpPr>
          <p:cNvPr id="14" name="Text 11"/>
          <p:cNvSpPr txBox="1"/>
          <p:nvPr/>
        </p:nvSpPr>
        <p:spPr>
          <a:xfrm>
            <a:off x="3306928" y="2103120"/>
            <a:ext cx="1097280" cy="950976"/>
          </a:xfrm>
          <a:prstGeom prst="rect">
            <a:avLst/>
          </a:prstGeom>
          <a:noFill/>
          <a:ln/>
        </p:spPr>
        <p:txBody>
          <a:bodyPr wrap="square" lIns="0" tIns="0" rIns="0" bIns="0" rtlCol="0" anchor="ctr"/>
          <a:lstStyle/>
          <a:p>
            <a:pPr algn="ctr" indent="0" marL="0">
              <a:buNone/>
            </a:pPr>
            <a:r>
              <a:rPr lang="en-US" sz="2800" b="1" dirty="0">
                <a:solidFill>
                  <a:srgbClr val="111111"/>
                </a:solidFill>
                <a:latin typeface="Noto Sans JP" pitchFamily="34" charset="0"/>
                <a:ea typeface="Noto Sans JP" pitchFamily="34" charset="-122"/>
                <a:cs typeface="Noto Sans JP" pitchFamily="34" charset="-120"/>
              </a:rPr>
              <a:t>2</a:t>
            </a:r>
            <a:endParaRPr lang="en-US" sz="2800" dirty="0"/>
          </a:p>
        </p:txBody>
      </p:sp>
      <p:sp>
        <p:nvSpPr>
          <p:cNvPr id="15" name="Shape 12"/>
          <p:cNvSpPr/>
          <p:nvPr/>
        </p:nvSpPr>
        <p:spPr>
          <a:xfrm>
            <a:off x="2826868" y="3383280"/>
            <a:ext cx="2057400" cy="2286000"/>
          </a:xfrm>
          <a:prstGeom prst="roundRect">
            <a:avLst>
              <a:gd name="adj" fmla="val 5333"/>
            </a:avLst>
          </a:prstGeom>
          <a:solidFill>
            <a:srgbClr val="FFFFFF"/>
          </a:solidFill>
          <a:ln/>
        </p:spPr>
      </p:sp>
      <p:sp>
        <p:nvSpPr>
          <p:cNvPr id="16" name="Text 13"/>
          <p:cNvSpPr txBox="1"/>
          <p:nvPr/>
        </p:nvSpPr>
        <p:spPr>
          <a:xfrm>
            <a:off x="2964028" y="3566160"/>
            <a:ext cx="1783080" cy="411480"/>
          </a:xfrm>
          <a:prstGeom prst="rect">
            <a:avLst/>
          </a:prstGeom>
          <a:noFill/>
          <a:ln/>
        </p:spPr>
        <p:txBody>
          <a:bodyPr wrap="square" lIns="0" tIns="0" rIns="0" bIns="0" rtlCol="0" anchor="t"/>
          <a:lstStyle/>
          <a:p>
            <a:pPr algn="ctr" indent="0" marL="0">
              <a:buNone/>
            </a:pPr>
            <a:r>
              <a:rPr lang="en-US" sz="1600" b="1" dirty="0">
                <a:solidFill>
                  <a:srgbClr val="111111"/>
                </a:solidFill>
                <a:latin typeface="Noto Sans JP" pitchFamily="34" charset="0"/>
                <a:ea typeface="Noto Sans JP" pitchFamily="34" charset="-122"/>
                <a:cs typeface="Noto Sans JP" pitchFamily="34" charset="-120"/>
              </a:rPr>
              <a:t>ご提案</a:t>
            </a:r>
            <a:endParaRPr lang="en-US" sz="1600" dirty="0"/>
          </a:p>
        </p:txBody>
      </p:sp>
      <p:sp>
        <p:nvSpPr>
          <p:cNvPr id="17" name="Text 14"/>
          <p:cNvSpPr txBox="1"/>
          <p:nvPr/>
        </p:nvSpPr>
        <p:spPr>
          <a:xfrm>
            <a:off x="3028036" y="4114800"/>
            <a:ext cx="1655064" cy="1371600"/>
          </a:xfrm>
          <a:prstGeom prst="rect">
            <a:avLst/>
          </a:prstGeom>
          <a:noFill/>
          <a:ln/>
        </p:spPr>
        <p:txBody>
          <a:bodyPr wrap="square" lIns="0" tIns="0" rIns="0" bIns="0" rtlCol="0" anchor="t"/>
          <a:lstStyle/>
          <a:p>
            <a:pPr indent="0" marL="0">
              <a:lnSpc>
                <a:spcPct val="140000"/>
              </a:lnSpc>
              <a:buNone/>
            </a:pPr>
            <a:r>
              <a:rPr lang="en-US" sz="1250" dirty="0">
                <a:solidFill>
                  <a:srgbClr val="5B5B5B"/>
                </a:solidFill>
                <a:latin typeface="Noto Sans JP" pitchFamily="34" charset="0"/>
                <a:ea typeface="Noto Sans JP" pitchFamily="34" charset="-122"/>
                <a:cs typeface="Noto Sans JP" pitchFamily="34" charset="-120"/>
              </a:rPr>
              <a:t>必要な機能・台数・構成とお見積りをご提示します。</a:t>
            </a:r>
            <a:endParaRPr lang="en-US" sz="1250" dirty="0"/>
          </a:p>
        </p:txBody>
      </p:sp>
      <p:sp>
        <p:nvSpPr>
          <p:cNvPr id="18" name="Shape 15"/>
          <p:cNvSpPr/>
          <p:nvPr/>
        </p:nvSpPr>
        <p:spPr>
          <a:xfrm>
            <a:off x="5547208" y="2103120"/>
            <a:ext cx="1097280" cy="950244"/>
          </a:xfrm>
          <a:prstGeom prst="hexagon">
            <a:avLst/>
          </a:prstGeom>
          <a:solidFill>
            <a:srgbClr val="FFD400"/>
          </a:solidFill>
          <a:ln w="25400">
            <a:solidFill>
              <a:srgbClr val="111111"/>
            </a:solidFill>
            <a:prstDash val="solid"/>
          </a:ln>
        </p:spPr>
      </p:sp>
      <p:sp>
        <p:nvSpPr>
          <p:cNvPr id="19" name="Text 16"/>
          <p:cNvSpPr txBox="1"/>
          <p:nvPr/>
        </p:nvSpPr>
        <p:spPr>
          <a:xfrm>
            <a:off x="5547208" y="2103120"/>
            <a:ext cx="1097280" cy="950976"/>
          </a:xfrm>
          <a:prstGeom prst="rect">
            <a:avLst/>
          </a:prstGeom>
          <a:noFill/>
          <a:ln/>
        </p:spPr>
        <p:txBody>
          <a:bodyPr wrap="square" lIns="0" tIns="0" rIns="0" bIns="0" rtlCol="0" anchor="ctr"/>
          <a:lstStyle/>
          <a:p>
            <a:pPr algn="ctr" indent="0" marL="0">
              <a:buNone/>
            </a:pPr>
            <a:r>
              <a:rPr lang="en-US" sz="2800" b="1" dirty="0">
                <a:solidFill>
                  <a:srgbClr val="111111"/>
                </a:solidFill>
                <a:latin typeface="Noto Sans JP" pitchFamily="34" charset="0"/>
                <a:ea typeface="Noto Sans JP" pitchFamily="34" charset="-122"/>
                <a:cs typeface="Noto Sans JP" pitchFamily="34" charset="-120"/>
              </a:rPr>
              <a:t>3</a:t>
            </a:r>
            <a:endParaRPr lang="en-US" sz="2800" dirty="0"/>
          </a:p>
        </p:txBody>
      </p:sp>
      <p:sp>
        <p:nvSpPr>
          <p:cNvPr id="20" name="Shape 17"/>
          <p:cNvSpPr/>
          <p:nvPr/>
        </p:nvSpPr>
        <p:spPr>
          <a:xfrm>
            <a:off x="5067148" y="3383280"/>
            <a:ext cx="2057400" cy="2286000"/>
          </a:xfrm>
          <a:prstGeom prst="roundRect">
            <a:avLst>
              <a:gd name="adj" fmla="val 5333"/>
            </a:avLst>
          </a:prstGeom>
          <a:solidFill>
            <a:srgbClr val="FFFFFF"/>
          </a:solidFill>
          <a:ln/>
        </p:spPr>
      </p:sp>
      <p:sp>
        <p:nvSpPr>
          <p:cNvPr id="21" name="Text 18"/>
          <p:cNvSpPr txBox="1"/>
          <p:nvPr/>
        </p:nvSpPr>
        <p:spPr>
          <a:xfrm>
            <a:off x="5204308" y="3566160"/>
            <a:ext cx="1783080" cy="411480"/>
          </a:xfrm>
          <a:prstGeom prst="rect">
            <a:avLst/>
          </a:prstGeom>
          <a:noFill/>
          <a:ln/>
        </p:spPr>
        <p:txBody>
          <a:bodyPr wrap="square" lIns="0" tIns="0" rIns="0" bIns="0" rtlCol="0" anchor="t"/>
          <a:lstStyle/>
          <a:p>
            <a:pPr algn="ctr" indent="0" marL="0">
              <a:buNone/>
            </a:pPr>
            <a:r>
              <a:rPr lang="en-US" sz="1600" b="1" dirty="0">
                <a:solidFill>
                  <a:srgbClr val="111111"/>
                </a:solidFill>
                <a:latin typeface="Noto Sans JP" pitchFamily="34" charset="0"/>
                <a:ea typeface="Noto Sans JP" pitchFamily="34" charset="-122"/>
                <a:cs typeface="Noto Sans JP" pitchFamily="34" charset="-120"/>
              </a:rPr>
              <a:t>設計・実証</a:t>
            </a:r>
            <a:endParaRPr lang="en-US" sz="1600" dirty="0"/>
          </a:p>
        </p:txBody>
      </p:sp>
      <p:sp>
        <p:nvSpPr>
          <p:cNvPr id="22" name="Text 19"/>
          <p:cNvSpPr txBox="1"/>
          <p:nvPr/>
        </p:nvSpPr>
        <p:spPr>
          <a:xfrm>
            <a:off x="5268316" y="4114800"/>
            <a:ext cx="1655064" cy="1371600"/>
          </a:xfrm>
          <a:prstGeom prst="rect">
            <a:avLst/>
          </a:prstGeom>
          <a:noFill/>
          <a:ln/>
        </p:spPr>
        <p:txBody>
          <a:bodyPr wrap="square" lIns="0" tIns="0" rIns="0" bIns="0" rtlCol="0" anchor="t"/>
          <a:lstStyle/>
          <a:p>
            <a:pPr indent="0" marL="0">
              <a:lnSpc>
                <a:spcPct val="140000"/>
              </a:lnSpc>
              <a:buNone/>
            </a:pPr>
            <a:r>
              <a:rPr lang="en-US" sz="1250" dirty="0">
                <a:solidFill>
                  <a:srgbClr val="5B5B5B"/>
                </a:solidFill>
                <a:latin typeface="Noto Sans JP" pitchFamily="34" charset="0"/>
                <a:ea typeface="Noto Sans JP" pitchFamily="34" charset="-122"/>
                <a:cs typeface="Noto Sans JP" pitchFamily="34" charset="-120"/>
              </a:rPr>
              <a:t>必要に応じて設計と追加実証を行います。</a:t>
            </a:r>
            <a:endParaRPr lang="en-US" sz="1250" dirty="0"/>
          </a:p>
        </p:txBody>
      </p:sp>
      <p:sp>
        <p:nvSpPr>
          <p:cNvPr id="23" name="Shape 20"/>
          <p:cNvSpPr/>
          <p:nvPr/>
        </p:nvSpPr>
        <p:spPr>
          <a:xfrm>
            <a:off x="7787488" y="2103120"/>
            <a:ext cx="1097280" cy="950244"/>
          </a:xfrm>
          <a:prstGeom prst="hexagon">
            <a:avLst/>
          </a:prstGeom>
          <a:solidFill>
            <a:srgbClr val="FFD400"/>
          </a:solidFill>
          <a:ln w="25400">
            <a:solidFill>
              <a:srgbClr val="111111"/>
            </a:solidFill>
            <a:prstDash val="solid"/>
          </a:ln>
        </p:spPr>
      </p:sp>
      <p:sp>
        <p:nvSpPr>
          <p:cNvPr id="24" name="Text 21"/>
          <p:cNvSpPr txBox="1"/>
          <p:nvPr/>
        </p:nvSpPr>
        <p:spPr>
          <a:xfrm>
            <a:off x="7787488" y="2103120"/>
            <a:ext cx="1097280" cy="950976"/>
          </a:xfrm>
          <a:prstGeom prst="rect">
            <a:avLst/>
          </a:prstGeom>
          <a:noFill/>
          <a:ln/>
        </p:spPr>
        <p:txBody>
          <a:bodyPr wrap="square" lIns="0" tIns="0" rIns="0" bIns="0" rtlCol="0" anchor="ctr"/>
          <a:lstStyle/>
          <a:p>
            <a:pPr algn="ctr" indent="0" marL="0">
              <a:buNone/>
            </a:pPr>
            <a:r>
              <a:rPr lang="en-US" sz="2800" b="1" dirty="0">
                <a:solidFill>
                  <a:srgbClr val="111111"/>
                </a:solidFill>
                <a:latin typeface="Noto Sans JP" pitchFamily="34" charset="0"/>
                <a:ea typeface="Noto Sans JP" pitchFamily="34" charset="-122"/>
                <a:cs typeface="Noto Sans JP" pitchFamily="34" charset="-120"/>
              </a:rPr>
              <a:t>4</a:t>
            </a:r>
            <a:endParaRPr lang="en-US" sz="2800" dirty="0"/>
          </a:p>
        </p:txBody>
      </p:sp>
      <p:sp>
        <p:nvSpPr>
          <p:cNvPr id="25" name="Shape 22"/>
          <p:cNvSpPr/>
          <p:nvPr/>
        </p:nvSpPr>
        <p:spPr>
          <a:xfrm>
            <a:off x="7307428" y="3383280"/>
            <a:ext cx="2057400" cy="2286000"/>
          </a:xfrm>
          <a:prstGeom prst="roundRect">
            <a:avLst>
              <a:gd name="adj" fmla="val 5333"/>
            </a:avLst>
          </a:prstGeom>
          <a:solidFill>
            <a:srgbClr val="FFFFFF"/>
          </a:solidFill>
          <a:ln/>
        </p:spPr>
      </p:sp>
      <p:sp>
        <p:nvSpPr>
          <p:cNvPr id="26" name="Text 23"/>
          <p:cNvSpPr txBox="1"/>
          <p:nvPr/>
        </p:nvSpPr>
        <p:spPr>
          <a:xfrm>
            <a:off x="7444588" y="3566160"/>
            <a:ext cx="1783080" cy="411480"/>
          </a:xfrm>
          <a:prstGeom prst="rect">
            <a:avLst/>
          </a:prstGeom>
          <a:noFill/>
          <a:ln/>
        </p:spPr>
        <p:txBody>
          <a:bodyPr wrap="square" lIns="0" tIns="0" rIns="0" bIns="0" rtlCol="0" anchor="t"/>
          <a:lstStyle/>
          <a:p>
            <a:pPr algn="ctr" indent="0" marL="0">
              <a:buNone/>
            </a:pPr>
            <a:r>
              <a:rPr lang="en-US" sz="1600" b="1" dirty="0">
                <a:solidFill>
                  <a:srgbClr val="111111"/>
                </a:solidFill>
                <a:latin typeface="Noto Sans JP" pitchFamily="34" charset="0"/>
                <a:ea typeface="Noto Sans JP" pitchFamily="34" charset="-122"/>
                <a:cs typeface="Noto Sans JP" pitchFamily="34" charset="-120"/>
              </a:rPr>
              <a:t>本番導入</a:t>
            </a:r>
            <a:endParaRPr lang="en-US" sz="1600" dirty="0"/>
          </a:p>
        </p:txBody>
      </p:sp>
      <p:sp>
        <p:nvSpPr>
          <p:cNvPr id="27" name="Text 24"/>
          <p:cNvSpPr txBox="1"/>
          <p:nvPr/>
        </p:nvSpPr>
        <p:spPr>
          <a:xfrm>
            <a:off x="7508596" y="4114800"/>
            <a:ext cx="1655064" cy="1371600"/>
          </a:xfrm>
          <a:prstGeom prst="rect">
            <a:avLst/>
          </a:prstGeom>
          <a:noFill/>
          <a:ln/>
        </p:spPr>
        <p:txBody>
          <a:bodyPr wrap="square" lIns="0" tIns="0" rIns="0" bIns="0" rtlCol="0" anchor="t"/>
          <a:lstStyle/>
          <a:p>
            <a:pPr indent="0" marL="0">
              <a:lnSpc>
                <a:spcPct val="140000"/>
              </a:lnSpc>
              <a:buNone/>
            </a:pPr>
            <a:r>
              <a:rPr lang="en-US" sz="1250" dirty="0">
                <a:solidFill>
                  <a:srgbClr val="5B5B5B"/>
                </a:solidFill>
                <a:latin typeface="Noto Sans JP" pitchFamily="34" charset="0"/>
                <a:ea typeface="Noto Sans JP" pitchFamily="34" charset="-122"/>
                <a:cs typeface="Noto Sans JP" pitchFamily="34" charset="-120"/>
              </a:rPr>
              <a:t>本体を設置し、本番運用を開始します。</a:t>
            </a:r>
            <a:endParaRPr lang="en-US" sz="1250" dirty="0"/>
          </a:p>
        </p:txBody>
      </p:sp>
      <p:sp>
        <p:nvSpPr>
          <p:cNvPr id="28" name="Shape 25"/>
          <p:cNvSpPr/>
          <p:nvPr/>
        </p:nvSpPr>
        <p:spPr>
          <a:xfrm>
            <a:off x="10027768" y="2103120"/>
            <a:ext cx="1097280" cy="950244"/>
          </a:xfrm>
          <a:prstGeom prst="hexagon">
            <a:avLst/>
          </a:prstGeom>
          <a:solidFill>
            <a:srgbClr val="FFD400"/>
          </a:solidFill>
          <a:ln w="25400">
            <a:solidFill>
              <a:srgbClr val="111111"/>
            </a:solidFill>
            <a:prstDash val="solid"/>
          </a:ln>
        </p:spPr>
      </p:sp>
      <p:sp>
        <p:nvSpPr>
          <p:cNvPr id="29" name="Text 26"/>
          <p:cNvSpPr txBox="1"/>
          <p:nvPr/>
        </p:nvSpPr>
        <p:spPr>
          <a:xfrm>
            <a:off x="10027768" y="2103120"/>
            <a:ext cx="1097280" cy="950976"/>
          </a:xfrm>
          <a:prstGeom prst="rect">
            <a:avLst/>
          </a:prstGeom>
          <a:noFill/>
          <a:ln/>
        </p:spPr>
        <p:txBody>
          <a:bodyPr wrap="square" lIns="0" tIns="0" rIns="0" bIns="0" rtlCol="0" anchor="ctr"/>
          <a:lstStyle/>
          <a:p>
            <a:pPr algn="ctr" indent="0" marL="0">
              <a:buNone/>
            </a:pPr>
            <a:r>
              <a:rPr lang="en-US" sz="2800" b="1" dirty="0">
                <a:solidFill>
                  <a:srgbClr val="111111"/>
                </a:solidFill>
                <a:latin typeface="Noto Sans JP" pitchFamily="34" charset="0"/>
                <a:ea typeface="Noto Sans JP" pitchFamily="34" charset="-122"/>
                <a:cs typeface="Noto Sans JP" pitchFamily="34" charset="-120"/>
              </a:rPr>
              <a:t>5</a:t>
            </a:r>
            <a:endParaRPr lang="en-US" sz="2800" dirty="0"/>
          </a:p>
        </p:txBody>
      </p:sp>
      <p:sp>
        <p:nvSpPr>
          <p:cNvPr id="30" name="Shape 27"/>
          <p:cNvSpPr/>
          <p:nvPr/>
        </p:nvSpPr>
        <p:spPr>
          <a:xfrm>
            <a:off x="9547708" y="3383280"/>
            <a:ext cx="2057400" cy="2286000"/>
          </a:xfrm>
          <a:prstGeom prst="roundRect">
            <a:avLst>
              <a:gd name="adj" fmla="val 5333"/>
            </a:avLst>
          </a:prstGeom>
          <a:solidFill>
            <a:srgbClr val="FFFFFF"/>
          </a:solidFill>
          <a:ln/>
        </p:spPr>
      </p:sp>
      <p:sp>
        <p:nvSpPr>
          <p:cNvPr id="31" name="Text 28"/>
          <p:cNvSpPr txBox="1"/>
          <p:nvPr/>
        </p:nvSpPr>
        <p:spPr>
          <a:xfrm>
            <a:off x="9684868" y="3566160"/>
            <a:ext cx="1783080" cy="411480"/>
          </a:xfrm>
          <a:prstGeom prst="rect">
            <a:avLst/>
          </a:prstGeom>
          <a:noFill/>
          <a:ln/>
        </p:spPr>
        <p:txBody>
          <a:bodyPr wrap="square" lIns="0" tIns="0" rIns="0" bIns="0" rtlCol="0" anchor="t"/>
          <a:lstStyle/>
          <a:p>
            <a:pPr algn="ctr" indent="0" marL="0">
              <a:buNone/>
            </a:pPr>
            <a:r>
              <a:rPr lang="en-US" sz="1600" b="1" dirty="0">
                <a:solidFill>
                  <a:srgbClr val="111111"/>
                </a:solidFill>
                <a:latin typeface="Noto Sans JP" pitchFamily="34" charset="0"/>
                <a:ea typeface="Noto Sans JP" pitchFamily="34" charset="-122"/>
                <a:cs typeface="Noto Sans JP" pitchFamily="34" charset="-120"/>
              </a:rPr>
              <a:t>月次確認（6ヶ月）</a:t>
            </a:r>
            <a:endParaRPr lang="en-US" sz="1600" dirty="0"/>
          </a:p>
        </p:txBody>
      </p:sp>
      <p:sp>
        <p:nvSpPr>
          <p:cNvPr id="32" name="Text 29"/>
          <p:cNvSpPr txBox="1"/>
          <p:nvPr/>
        </p:nvSpPr>
        <p:spPr>
          <a:xfrm>
            <a:off x="9748876" y="4114800"/>
            <a:ext cx="1655064" cy="1371600"/>
          </a:xfrm>
          <a:prstGeom prst="rect">
            <a:avLst/>
          </a:prstGeom>
          <a:noFill/>
          <a:ln/>
        </p:spPr>
        <p:txBody>
          <a:bodyPr wrap="square" lIns="0" tIns="0" rIns="0" bIns="0" rtlCol="0" anchor="t"/>
          <a:lstStyle/>
          <a:p>
            <a:pPr indent="0" marL="0">
              <a:lnSpc>
                <a:spcPct val="140000"/>
              </a:lnSpc>
              <a:buNone/>
            </a:pPr>
            <a:r>
              <a:rPr lang="en-US" sz="1250" dirty="0">
                <a:solidFill>
                  <a:srgbClr val="5B5B5B"/>
                </a:solidFill>
                <a:latin typeface="Noto Sans JP" pitchFamily="34" charset="0"/>
                <a:ea typeface="Noto Sans JP" pitchFamily="34" charset="-122"/>
                <a:cs typeface="Noto Sans JP" pitchFamily="34" charset="-120"/>
              </a:rPr>
              <a:t>導入後6ヶ月間、月次で分析結果と運用を確認します。</a:t>
            </a:r>
            <a:endParaRPr lang="en-US" sz="1250" dirty="0"/>
          </a:p>
        </p:txBody>
      </p:sp>
      <p:sp>
        <p:nvSpPr>
          <p:cNvPr id="33" name="Text 30"/>
          <p:cNvSpPr txBox="1"/>
          <p:nvPr/>
        </p:nvSpPr>
        <p:spPr>
          <a:xfrm>
            <a:off x="548640" y="6035040"/>
            <a:ext cx="10058400" cy="274320"/>
          </a:xfrm>
          <a:prstGeom prst="rect">
            <a:avLst/>
          </a:prstGeom>
          <a:noFill/>
          <a:ln/>
        </p:spPr>
        <p:txBody>
          <a:bodyPr wrap="square" lIns="0" tIns="0" rIns="0" bIns="0" rtlCol="0" anchor="t"/>
          <a:lstStyle/>
          <a:p>
            <a:pPr indent="0" marL="0">
              <a:buNone/>
            </a:pPr>
            <a:r>
              <a:rPr lang="en-US" sz="1200" dirty="0">
                <a:solidFill>
                  <a:srgbClr val="5B5B5B"/>
                </a:solidFill>
                <a:latin typeface="Noto Sans JP" pitchFamily="34" charset="0"/>
                <a:ea typeface="Noto Sans JP" pitchFamily="34" charset="-122"/>
                <a:cs typeface="Noto Sans JP" pitchFamily="34" charset="-120"/>
              </a:rPr>
              <a:t>※ヒアリングからご提案まで約1週間〜10日。追加実証を行う場合は2〜4ヶ月が目安です。</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claude-0/-home-user-AIInfinity/c029ed01-a8ff-5307-a636-4c28fa3dbac4/scratchpad/lp/jpg/logo.png">    </p:cNvPr>
          <p:cNvPicPr>
            <a:picLocks noChangeAspect="1"/>
          </p:cNvPicPr>
          <p:nvPr/>
        </p:nvPicPr>
        <p:blipFill>
          <a:blip r:embed="rId1"/>
          <a:stretch>
            <a:fillRect/>
          </a:stretch>
        </p:blipFill>
        <p:spPr>
          <a:xfrm>
            <a:off x="10545775" y="292608"/>
            <a:ext cx="1188720" cy="291065"/>
          </a:xfrm>
          <a:prstGeom prst="rect">
            <a:avLst/>
          </a:prstGeom>
        </p:spPr>
      </p:pic>
      <p:sp>
        <p:nvSpPr>
          <p:cNvPr id="3"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5B5B5B"/>
                </a:solidFill>
                <a:latin typeface="Noto Sans JP" pitchFamily="34" charset="0"/>
                <a:ea typeface="Noto Sans JP" pitchFamily="34" charset="-122"/>
                <a:cs typeface="Noto Sans JP" pitchFamily="34" charset="-120"/>
              </a:rPr>
              <a:t>18</a:t>
            </a:r>
            <a:endParaRPr lang="en-US" sz="1000" dirty="0"/>
          </a:p>
        </p:txBody>
      </p:sp>
      <p:sp>
        <p:nvSpPr>
          <p:cNvPr id="4" name="Shape 1"/>
          <p:cNvSpPr/>
          <p:nvPr/>
        </p:nvSpPr>
        <p:spPr>
          <a:xfrm>
            <a:off x="548640" y="411480"/>
            <a:ext cx="365760" cy="54864"/>
          </a:xfrm>
          <a:prstGeom prst="rect">
            <a:avLst/>
          </a:prstGeom>
          <a:solidFill>
            <a:srgbClr val="FFD400"/>
          </a:solidFill>
          <a:ln/>
        </p:spPr>
      </p:sp>
      <p:sp>
        <p:nvSpPr>
          <p:cNvPr id="5" name="Text 2"/>
          <p:cNvSpPr txBox="1"/>
          <p:nvPr/>
        </p:nvSpPr>
        <p:spPr>
          <a:xfrm>
            <a:off x="548640" y="539496"/>
            <a:ext cx="3657600" cy="274320"/>
          </a:xfrm>
          <a:prstGeom prst="rect">
            <a:avLst/>
          </a:prstGeom>
          <a:noFill/>
          <a:ln/>
        </p:spPr>
        <p:txBody>
          <a:bodyPr wrap="square" lIns="0" tIns="0" rIns="0" bIns="0" rtlCol="0" anchor="t"/>
          <a:lstStyle/>
          <a:p>
            <a:pPr indent="0" marL="0">
              <a:buNone/>
            </a:pPr>
            <a:r>
              <a:rPr lang="en-US" sz="1100" b="1" spc="300" kern="0" dirty="0">
                <a:solidFill>
                  <a:srgbClr val="111111"/>
                </a:solidFill>
                <a:latin typeface="Noto Sans JP" pitchFamily="34" charset="0"/>
                <a:ea typeface="Noto Sans JP" pitchFamily="34" charset="-122"/>
                <a:cs typeface="Noto Sans JP" pitchFamily="34" charset="-120"/>
              </a:rPr>
              <a:t>FAQ</a:t>
            </a:r>
            <a:endParaRPr lang="en-US" sz="1100" dirty="0"/>
          </a:p>
        </p:txBody>
      </p:sp>
      <p:sp>
        <p:nvSpPr>
          <p:cNvPr id="6" name="Text 3"/>
          <p:cNvSpPr txBox="1"/>
          <p:nvPr/>
        </p:nvSpPr>
        <p:spPr>
          <a:xfrm>
            <a:off x="548640" y="850392"/>
            <a:ext cx="9144000" cy="685800"/>
          </a:xfrm>
          <a:prstGeom prst="rect">
            <a:avLst/>
          </a:prstGeom>
          <a:noFill/>
          <a:ln/>
        </p:spPr>
        <p:txBody>
          <a:bodyPr wrap="square" lIns="0" tIns="0" rIns="0" bIns="0" rtlCol="0" anchor="t"/>
          <a:lstStyle/>
          <a:p>
            <a:pPr indent="0" marL="0">
              <a:buNone/>
            </a:pPr>
            <a:r>
              <a:rPr lang="en-US" sz="3000" b="1" dirty="0">
                <a:solidFill>
                  <a:srgbClr val="111111"/>
                </a:solidFill>
                <a:latin typeface="Noto Sans JP" pitchFamily="34" charset="0"/>
                <a:ea typeface="Noto Sans JP" pitchFamily="34" charset="-122"/>
                <a:cs typeface="Noto Sans JP" pitchFamily="34" charset="-120"/>
              </a:rPr>
              <a:t>よくある質問</a:t>
            </a:r>
            <a:endParaRPr lang="en-US" sz="3000" dirty="0"/>
          </a:p>
        </p:txBody>
      </p:sp>
      <p:sp>
        <p:nvSpPr>
          <p:cNvPr id="7" name="Shape 4"/>
          <p:cNvSpPr/>
          <p:nvPr/>
        </p:nvSpPr>
        <p:spPr>
          <a:xfrm>
            <a:off x="548640" y="1783080"/>
            <a:ext cx="5410048" cy="1325880"/>
          </a:xfrm>
          <a:prstGeom prst="roundRect">
            <a:avLst>
              <a:gd name="adj" fmla="val 6897"/>
            </a:avLst>
          </a:prstGeom>
          <a:solidFill>
            <a:srgbClr val="F5F5F2"/>
          </a:solidFill>
          <a:ln/>
        </p:spPr>
      </p:sp>
      <p:sp>
        <p:nvSpPr>
          <p:cNvPr id="8" name="Shape 5"/>
          <p:cNvSpPr/>
          <p:nvPr/>
        </p:nvSpPr>
        <p:spPr>
          <a:xfrm>
            <a:off x="731520" y="1947672"/>
            <a:ext cx="384048" cy="384048"/>
          </a:xfrm>
          <a:prstGeom prst="ellipse">
            <a:avLst/>
          </a:prstGeom>
          <a:solidFill>
            <a:srgbClr val="FFD400"/>
          </a:solidFill>
          <a:ln/>
        </p:spPr>
      </p:sp>
      <p:sp>
        <p:nvSpPr>
          <p:cNvPr id="9" name="Text 6"/>
          <p:cNvSpPr txBox="1"/>
          <p:nvPr/>
        </p:nvSpPr>
        <p:spPr>
          <a:xfrm>
            <a:off x="731520" y="1947672"/>
            <a:ext cx="384048" cy="384048"/>
          </a:xfrm>
          <a:prstGeom prst="rect">
            <a:avLst/>
          </a:prstGeom>
          <a:noFill/>
          <a:ln/>
        </p:spPr>
        <p:txBody>
          <a:bodyPr wrap="square" lIns="0" tIns="0" rIns="0" bIns="0" rtlCol="0" anchor="ctr"/>
          <a:lstStyle/>
          <a:p>
            <a:pPr algn="ctr" indent="0" marL="0">
              <a:buNone/>
            </a:pPr>
            <a:r>
              <a:rPr lang="en-US" sz="1500" b="1" dirty="0">
                <a:solidFill>
                  <a:srgbClr val="111111"/>
                </a:solidFill>
                <a:latin typeface="Noto Sans JP" pitchFamily="34" charset="0"/>
                <a:ea typeface="Noto Sans JP" pitchFamily="34" charset="-122"/>
                <a:cs typeface="Noto Sans JP" pitchFamily="34" charset="-120"/>
              </a:rPr>
              <a:t>Q</a:t>
            </a:r>
            <a:endParaRPr lang="en-US" sz="1500" dirty="0"/>
          </a:p>
        </p:txBody>
      </p:sp>
      <p:sp>
        <p:nvSpPr>
          <p:cNvPr id="10" name="Text 7"/>
          <p:cNvSpPr txBox="1"/>
          <p:nvPr/>
        </p:nvSpPr>
        <p:spPr>
          <a:xfrm>
            <a:off x="1280160" y="1929384"/>
            <a:ext cx="4495648" cy="420624"/>
          </a:xfrm>
          <a:prstGeom prst="rect">
            <a:avLst/>
          </a:prstGeom>
          <a:noFill/>
          <a:ln/>
        </p:spPr>
        <p:txBody>
          <a:bodyPr wrap="square" lIns="0" tIns="0" rIns="0" bIns="0" rtlCol="0" anchor="ctr"/>
          <a:lstStyle/>
          <a:p>
            <a:pPr indent="0" marL="0">
              <a:buNone/>
            </a:pPr>
            <a:r>
              <a:rPr lang="en-US" sz="1450" b="1" dirty="0">
                <a:solidFill>
                  <a:srgbClr val="111111"/>
                </a:solidFill>
                <a:latin typeface="Noto Sans JP" pitchFamily="34" charset="0"/>
                <a:ea typeface="Noto Sans JP" pitchFamily="34" charset="-122"/>
                <a:cs typeface="Noto Sans JP" pitchFamily="34" charset="-120"/>
              </a:rPr>
              <a:t>今使っている防犯カメラはそのまま使えますか？</a:t>
            </a:r>
            <a:endParaRPr lang="en-US" sz="1450" dirty="0"/>
          </a:p>
        </p:txBody>
      </p:sp>
      <p:sp>
        <p:nvSpPr>
          <p:cNvPr id="11" name="Text 8"/>
          <p:cNvSpPr txBox="1"/>
          <p:nvPr/>
        </p:nvSpPr>
        <p:spPr>
          <a:xfrm>
            <a:off x="1280160" y="2386584"/>
            <a:ext cx="4495648" cy="658368"/>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多くの場合、既存の防犯カメラをそのまま利用できます。機種や接続方式によって対応可否が異なるため、事前のヒアリングで確認します。</a:t>
            </a:r>
            <a:endParaRPr lang="en-US" sz="1150" dirty="0"/>
          </a:p>
        </p:txBody>
      </p:sp>
      <p:sp>
        <p:nvSpPr>
          <p:cNvPr id="12" name="Shape 9"/>
          <p:cNvSpPr/>
          <p:nvPr/>
        </p:nvSpPr>
        <p:spPr>
          <a:xfrm>
            <a:off x="6233008" y="1783080"/>
            <a:ext cx="5410048" cy="1325880"/>
          </a:xfrm>
          <a:prstGeom prst="roundRect">
            <a:avLst>
              <a:gd name="adj" fmla="val 6897"/>
            </a:avLst>
          </a:prstGeom>
          <a:solidFill>
            <a:srgbClr val="F5F5F2"/>
          </a:solidFill>
          <a:ln/>
        </p:spPr>
      </p:sp>
      <p:sp>
        <p:nvSpPr>
          <p:cNvPr id="13" name="Shape 10"/>
          <p:cNvSpPr/>
          <p:nvPr/>
        </p:nvSpPr>
        <p:spPr>
          <a:xfrm>
            <a:off x="6415888" y="1947672"/>
            <a:ext cx="384048" cy="384048"/>
          </a:xfrm>
          <a:prstGeom prst="ellipse">
            <a:avLst/>
          </a:prstGeom>
          <a:solidFill>
            <a:srgbClr val="FFD400"/>
          </a:solidFill>
          <a:ln/>
        </p:spPr>
      </p:sp>
      <p:sp>
        <p:nvSpPr>
          <p:cNvPr id="14" name="Text 11"/>
          <p:cNvSpPr txBox="1"/>
          <p:nvPr/>
        </p:nvSpPr>
        <p:spPr>
          <a:xfrm>
            <a:off x="6415888" y="1947672"/>
            <a:ext cx="384048" cy="384048"/>
          </a:xfrm>
          <a:prstGeom prst="rect">
            <a:avLst/>
          </a:prstGeom>
          <a:noFill/>
          <a:ln/>
        </p:spPr>
        <p:txBody>
          <a:bodyPr wrap="square" lIns="0" tIns="0" rIns="0" bIns="0" rtlCol="0" anchor="ctr"/>
          <a:lstStyle/>
          <a:p>
            <a:pPr algn="ctr" indent="0" marL="0">
              <a:buNone/>
            </a:pPr>
            <a:r>
              <a:rPr lang="en-US" sz="1500" b="1" dirty="0">
                <a:solidFill>
                  <a:srgbClr val="111111"/>
                </a:solidFill>
                <a:latin typeface="Noto Sans JP" pitchFamily="34" charset="0"/>
                <a:ea typeface="Noto Sans JP" pitchFamily="34" charset="-122"/>
                <a:cs typeface="Noto Sans JP" pitchFamily="34" charset="-120"/>
              </a:rPr>
              <a:t>Q</a:t>
            </a:r>
            <a:endParaRPr lang="en-US" sz="1500" dirty="0"/>
          </a:p>
        </p:txBody>
      </p:sp>
      <p:sp>
        <p:nvSpPr>
          <p:cNvPr id="15" name="Text 12"/>
          <p:cNvSpPr txBox="1"/>
          <p:nvPr/>
        </p:nvSpPr>
        <p:spPr>
          <a:xfrm>
            <a:off x="6964528" y="1929384"/>
            <a:ext cx="4495648" cy="420624"/>
          </a:xfrm>
          <a:prstGeom prst="rect">
            <a:avLst/>
          </a:prstGeom>
          <a:noFill/>
          <a:ln/>
        </p:spPr>
        <p:txBody>
          <a:bodyPr wrap="square" lIns="0" tIns="0" rIns="0" bIns="0" rtlCol="0" anchor="ctr"/>
          <a:lstStyle/>
          <a:p>
            <a:pPr indent="0" marL="0">
              <a:buNone/>
            </a:pPr>
            <a:r>
              <a:rPr lang="en-US" sz="1450" b="1" dirty="0">
                <a:solidFill>
                  <a:srgbClr val="111111"/>
                </a:solidFill>
                <a:latin typeface="Noto Sans JP" pitchFamily="34" charset="0"/>
                <a:ea typeface="Noto Sans JP" pitchFamily="34" charset="-122"/>
                <a:cs typeface="Noto Sans JP" pitchFamily="34" charset="-120"/>
              </a:rPr>
              <a:t>映像が外部に送られることはありますか？</a:t>
            </a:r>
            <a:endParaRPr lang="en-US" sz="1450" dirty="0"/>
          </a:p>
        </p:txBody>
      </p:sp>
      <p:sp>
        <p:nvSpPr>
          <p:cNvPr id="16" name="Text 13"/>
          <p:cNvSpPr txBox="1"/>
          <p:nvPr/>
        </p:nvSpPr>
        <p:spPr>
          <a:xfrm>
            <a:off x="6964528" y="2386584"/>
            <a:ext cx="4495648" cy="658368"/>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映像は施設内に設置した本体で処理します。外部への通知は映像を含まない匿名テキストで行います。</a:t>
            </a:r>
            <a:endParaRPr lang="en-US" sz="1150" dirty="0"/>
          </a:p>
        </p:txBody>
      </p:sp>
      <p:sp>
        <p:nvSpPr>
          <p:cNvPr id="17" name="Shape 14"/>
          <p:cNvSpPr/>
          <p:nvPr/>
        </p:nvSpPr>
        <p:spPr>
          <a:xfrm>
            <a:off x="548640" y="3310128"/>
            <a:ext cx="5410048" cy="1325880"/>
          </a:xfrm>
          <a:prstGeom prst="roundRect">
            <a:avLst>
              <a:gd name="adj" fmla="val 6897"/>
            </a:avLst>
          </a:prstGeom>
          <a:solidFill>
            <a:srgbClr val="F5F5F2"/>
          </a:solidFill>
          <a:ln/>
        </p:spPr>
      </p:sp>
      <p:sp>
        <p:nvSpPr>
          <p:cNvPr id="18" name="Shape 15"/>
          <p:cNvSpPr/>
          <p:nvPr/>
        </p:nvSpPr>
        <p:spPr>
          <a:xfrm>
            <a:off x="731520" y="3474720"/>
            <a:ext cx="384048" cy="384048"/>
          </a:xfrm>
          <a:prstGeom prst="ellipse">
            <a:avLst/>
          </a:prstGeom>
          <a:solidFill>
            <a:srgbClr val="FFD400"/>
          </a:solidFill>
          <a:ln/>
        </p:spPr>
      </p:sp>
      <p:sp>
        <p:nvSpPr>
          <p:cNvPr id="19" name="Text 16"/>
          <p:cNvSpPr txBox="1"/>
          <p:nvPr/>
        </p:nvSpPr>
        <p:spPr>
          <a:xfrm>
            <a:off x="731520" y="3474720"/>
            <a:ext cx="384048" cy="384048"/>
          </a:xfrm>
          <a:prstGeom prst="rect">
            <a:avLst/>
          </a:prstGeom>
          <a:noFill/>
          <a:ln/>
        </p:spPr>
        <p:txBody>
          <a:bodyPr wrap="square" lIns="0" tIns="0" rIns="0" bIns="0" rtlCol="0" anchor="ctr"/>
          <a:lstStyle/>
          <a:p>
            <a:pPr algn="ctr" indent="0" marL="0">
              <a:buNone/>
            </a:pPr>
            <a:r>
              <a:rPr lang="en-US" sz="1500" b="1" dirty="0">
                <a:solidFill>
                  <a:srgbClr val="111111"/>
                </a:solidFill>
                <a:latin typeface="Noto Sans JP" pitchFamily="34" charset="0"/>
                <a:ea typeface="Noto Sans JP" pitchFamily="34" charset="-122"/>
                <a:cs typeface="Noto Sans JP" pitchFamily="34" charset="-120"/>
              </a:rPr>
              <a:t>Q</a:t>
            </a:r>
            <a:endParaRPr lang="en-US" sz="1500" dirty="0"/>
          </a:p>
        </p:txBody>
      </p:sp>
      <p:sp>
        <p:nvSpPr>
          <p:cNvPr id="20" name="Text 17"/>
          <p:cNvSpPr txBox="1"/>
          <p:nvPr/>
        </p:nvSpPr>
        <p:spPr>
          <a:xfrm>
            <a:off x="1280160" y="3456432"/>
            <a:ext cx="4495648" cy="420624"/>
          </a:xfrm>
          <a:prstGeom prst="rect">
            <a:avLst/>
          </a:prstGeom>
          <a:noFill/>
          <a:ln/>
        </p:spPr>
        <p:txBody>
          <a:bodyPr wrap="square" lIns="0" tIns="0" rIns="0" bIns="0" rtlCol="0" anchor="ctr"/>
          <a:lstStyle/>
          <a:p>
            <a:pPr indent="0" marL="0">
              <a:buNone/>
            </a:pPr>
            <a:r>
              <a:rPr lang="en-US" sz="1450" b="1" dirty="0">
                <a:solidFill>
                  <a:srgbClr val="111111"/>
                </a:solidFill>
                <a:latin typeface="Noto Sans JP" pitchFamily="34" charset="0"/>
                <a:ea typeface="Noto Sans JP" pitchFamily="34" charset="-122"/>
                <a:cs typeface="Noto Sans JP" pitchFamily="34" charset="-120"/>
              </a:rPr>
              <a:t>インターネットが切れたらどうなりますか？</a:t>
            </a:r>
            <a:endParaRPr lang="en-US" sz="1450" dirty="0"/>
          </a:p>
        </p:txBody>
      </p:sp>
      <p:sp>
        <p:nvSpPr>
          <p:cNvPr id="21" name="Text 18"/>
          <p:cNvSpPr txBox="1"/>
          <p:nvPr/>
        </p:nvSpPr>
        <p:spPr>
          <a:xfrm>
            <a:off x="1280160" y="3913632"/>
            <a:ext cx="4495648" cy="658368"/>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本体はローカルで稼働を続け、解析も継続します。ただし、回線が切断されている間は外部への通知が届かないなどの制約があります。</a:t>
            </a:r>
            <a:endParaRPr lang="en-US" sz="1150" dirty="0"/>
          </a:p>
        </p:txBody>
      </p:sp>
      <p:sp>
        <p:nvSpPr>
          <p:cNvPr id="22" name="Shape 19"/>
          <p:cNvSpPr/>
          <p:nvPr/>
        </p:nvSpPr>
        <p:spPr>
          <a:xfrm>
            <a:off x="6233008" y="3310128"/>
            <a:ext cx="5410048" cy="1325880"/>
          </a:xfrm>
          <a:prstGeom prst="roundRect">
            <a:avLst>
              <a:gd name="adj" fmla="val 6897"/>
            </a:avLst>
          </a:prstGeom>
          <a:solidFill>
            <a:srgbClr val="F5F5F2"/>
          </a:solidFill>
          <a:ln/>
        </p:spPr>
      </p:sp>
      <p:sp>
        <p:nvSpPr>
          <p:cNvPr id="23" name="Shape 20"/>
          <p:cNvSpPr/>
          <p:nvPr/>
        </p:nvSpPr>
        <p:spPr>
          <a:xfrm>
            <a:off x="6415888" y="3474720"/>
            <a:ext cx="384048" cy="384048"/>
          </a:xfrm>
          <a:prstGeom prst="ellipse">
            <a:avLst/>
          </a:prstGeom>
          <a:solidFill>
            <a:srgbClr val="FFD400"/>
          </a:solidFill>
          <a:ln/>
        </p:spPr>
      </p:sp>
      <p:sp>
        <p:nvSpPr>
          <p:cNvPr id="24" name="Text 21"/>
          <p:cNvSpPr txBox="1"/>
          <p:nvPr/>
        </p:nvSpPr>
        <p:spPr>
          <a:xfrm>
            <a:off x="6415888" y="3474720"/>
            <a:ext cx="384048" cy="384048"/>
          </a:xfrm>
          <a:prstGeom prst="rect">
            <a:avLst/>
          </a:prstGeom>
          <a:noFill/>
          <a:ln/>
        </p:spPr>
        <p:txBody>
          <a:bodyPr wrap="square" lIns="0" tIns="0" rIns="0" bIns="0" rtlCol="0" anchor="ctr"/>
          <a:lstStyle/>
          <a:p>
            <a:pPr algn="ctr" indent="0" marL="0">
              <a:buNone/>
            </a:pPr>
            <a:r>
              <a:rPr lang="en-US" sz="1500" b="1" dirty="0">
                <a:solidFill>
                  <a:srgbClr val="111111"/>
                </a:solidFill>
                <a:latin typeface="Noto Sans JP" pitchFamily="34" charset="0"/>
                <a:ea typeface="Noto Sans JP" pitchFamily="34" charset="-122"/>
                <a:cs typeface="Noto Sans JP" pitchFamily="34" charset="-120"/>
              </a:rPr>
              <a:t>Q</a:t>
            </a:r>
            <a:endParaRPr lang="en-US" sz="1500" dirty="0"/>
          </a:p>
        </p:txBody>
      </p:sp>
      <p:sp>
        <p:nvSpPr>
          <p:cNvPr id="25" name="Text 22"/>
          <p:cNvSpPr txBox="1"/>
          <p:nvPr/>
        </p:nvSpPr>
        <p:spPr>
          <a:xfrm>
            <a:off x="6964528" y="3456432"/>
            <a:ext cx="4495648" cy="420624"/>
          </a:xfrm>
          <a:prstGeom prst="rect">
            <a:avLst/>
          </a:prstGeom>
          <a:noFill/>
          <a:ln/>
        </p:spPr>
        <p:txBody>
          <a:bodyPr wrap="square" lIns="0" tIns="0" rIns="0" bIns="0" rtlCol="0" anchor="ctr"/>
          <a:lstStyle/>
          <a:p>
            <a:pPr indent="0" marL="0">
              <a:buNone/>
            </a:pPr>
            <a:r>
              <a:rPr lang="en-US" sz="1450" b="1" dirty="0">
                <a:solidFill>
                  <a:srgbClr val="111111"/>
                </a:solidFill>
                <a:latin typeface="Noto Sans JP" pitchFamily="34" charset="0"/>
                <a:ea typeface="Noto Sans JP" pitchFamily="34" charset="-122"/>
                <a:cs typeface="Noto Sans JP" pitchFamily="34" charset="-120"/>
              </a:rPr>
              <a:t>掲載されている機能はすべて今すぐ使えますか？</a:t>
            </a:r>
            <a:endParaRPr lang="en-US" sz="1450" dirty="0"/>
          </a:p>
        </p:txBody>
      </p:sp>
      <p:sp>
        <p:nvSpPr>
          <p:cNvPr id="26" name="Text 23"/>
          <p:cNvSpPr txBox="1"/>
          <p:nvPr/>
        </p:nvSpPr>
        <p:spPr>
          <a:xfrm>
            <a:off x="6964528" y="3913632"/>
            <a:ext cx="4495648" cy="658368"/>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一部に開発予定・提供予定の機能を含みます。提供時期や対応範囲はお問い合わせ時にご案内します。</a:t>
            </a:r>
            <a:endParaRPr lang="en-US" sz="1150" dirty="0"/>
          </a:p>
        </p:txBody>
      </p:sp>
      <p:sp>
        <p:nvSpPr>
          <p:cNvPr id="27" name="Shape 24"/>
          <p:cNvSpPr/>
          <p:nvPr/>
        </p:nvSpPr>
        <p:spPr>
          <a:xfrm>
            <a:off x="548640" y="4837176"/>
            <a:ext cx="5410048" cy="1325880"/>
          </a:xfrm>
          <a:prstGeom prst="roundRect">
            <a:avLst>
              <a:gd name="adj" fmla="val 6897"/>
            </a:avLst>
          </a:prstGeom>
          <a:solidFill>
            <a:srgbClr val="F5F5F2"/>
          </a:solidFill>
          <a:ln/>
        </p:spPr>
      </p:sp>
      <p:sp>
        <p:nvSpPr>
          <p:cNvPr id="28" name="Shape 25"/>
          <p:cNvSpPr/>
          <p:nvPr/>
        </p:nvSpPr>
        <p:spPr>
          <a:xfrm>
            <a:off x="731520" y="5001768"/>
            <a:ext cx="384048" cy="384048"/>
          </a:xfrm>
          <a:prstGeom prst="ellipse">
            <a:avLst/>
          </a:prstGeom>
          <a:solidFill>
            <a:srgbClr val="FFD400"/>
          </a:solidFill>
          <a:ln/>
        </p:spPr>
      </p:sp>
      <p:sp>
        <p:nvSpPr>
          <p:cNvPr id="29" name="Text 26"/>
          <p:cNvSpPr txBox="1"/>
          <p:nvPr/>
        </p:nvSpPr>
        <p:spPr>
          <a:xfrm>
            <a:off x="731520" y="5001768"/>
            <a:ext cx="384048" cy="384048"/>
          </a:xfrm>
          <a:prstGeom prst="rect">
            <a:avLst/>
          </a:prstGeom>
          <a:noFill/>
          <a:ln/>
        </p:spPr>
        <p:txBody>
          <a:bodyPr wrap="square" lIns="0" tIns="0" rIns="0" bIns="0" rtlCol="0" anchor="ctr"/>
          <a:lstStyle/>
          <a:p>
            <a:pPr algn="ctr" indent="0" marL="0">
              <a:buNone/>
            </a:pPr>
            <a:r>
              <a:rPr lang="en-US" sz="1500" b="1" dirty="0">
                <a:solidFill>
                  <a:srgbClr val="111111"/>
                </a:solidFill>
                <a:latin typeface="Noto Sans JP" pitchFamily="34" charset="0"/>
                <a:ea typeface="Noto Sans JP" pitchFamily="34" charset="-122"/>
                <a:cs typeface="Noto Sans JP" pitchFamily="34" charset="-120"/>
              </a:rPr>
              <a:t>Q</a:t>
            </a:r>
            <a:endParaRPr lang="en-US" sz="1500" dirty="0"/>
          </a:p>
        </p:txBody>
      </p:sp>
      <p:sp>
        <p:nvSpPr>
          <p:cNvPr id="30" name="Text 27"/>
          <p:cNvSpPr txBox="1"/>
          <p:nvPr/>
        </p:nvSpPr>
        <p:spPr>
          <a:xfrm>
            <a:off x="1280160" y="4983480"/>
            <a:ext cx="4495648" cy="420624"/>
          </a:xfrm>
          <a:prstGeom prst="rect">
            <a:avLst/>
          </a:prstGeom>
          <a:noFill/>
          <a:ln/>
        </p:spPr>
        <p:txBody>
          <a:bodyPr wrap="square" lIns="0" tIns="0" rIns="0" bIns="0" rtlCol="0" anchor="ctr"/>
          <a:lstStyle/>
          <a:p>
            <a:pPr indent="0" marL="0">
              <a:buNone/>
            </a:pPr>
            <a:r>
              <a:rPr lang="en-US" sz="1450" b="1" dirty="0">
                <a:solidFill>
                  <a:srgbClr val="111111"/>
                </a:solidFill>
                <a:latin typeface="Noto Sans JP" pitchFamily="34" charset="0"/>
                <a:ea typeface="Noto Sans JP" pitchFamily="34" charset="-122"/>
                <a:cs typeface="Noto Sans JP" pitchFamily="34" charset="-120"/>
              </a:rPr>
              <a:t>初期費用以外に別途かかる費用はありますか？</a:t>
            </a:r>
            <a:endParaRPr lang="en-US" sz="1450" dirty="0"/>
          </a:p>
        </p:txBody>
      </p:sp>
      <p:sp>
        <p:nvSpPr>
          <p:cNvPr id="31" name="Text 28"/>
          <p:cNvSpPr txBox="1"/>
          <p:nvPr/>
        </p:nvSpPr>
        <p:spPr>
          <a:xfrm>
            <a:off x="1280160" y="5440680"/>
            <a:ext cx="4495648" cy="658368"/>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SSD・HDD・PoE機器・施工費は本体価格に含まれず、別途必要です。追加開発をご希望の場合も別途お見積りとなります。</a:t>
            </a:r>
            <a:endParaRPr lang="en-US" sz="1150" dirty="0"/>
          </a:p>
        </p:txBody>
      </p:sp>
      <p:sp>
        <p:nvSpPr>
          <p:cNvPr id="32" name="Shape 29"/>
          <p:cNvSpPr/>
          <p:nvPr/>
        </p:nvSpPr>
        <p:spPr>
          <a:xfrm>
            <a:off x="6233008" y="4837176"/>
            <a:ext cx="5410048" cy="1325880"/>
          </a:xfrm>
          <a:prstGeom prst="roundRect">
            <a:avLst>
              <a:gd name="adj" fmla="val 6897"/>
            </a:avLst>
          </a:prstGeom>
          <a:solidFill>
            <a:srgbClr val="F5F5F2"/>
          </a:solidFill>
          <a:ln/>
        </p:spPr>
      </p:sp>
      <p:sp>
        <p:nvSpPr>
          <p:cNvPr id="33" name="Shape 30"/>
          <p:cNvSpPr/>
          <p:nvPr/>
        </p:nvSpPr>
        <p:spPr>
          <a:xfrm>
            <a:off x="6415888" y="5001768"/>
            <a:ext cx="384048" cy="384048"/>
          </a:xfrm>
          <a:prstGeom prst="ellipse">
            <a:avLst/>
          </a:prstGeom>
          <a:solidFill>
            <a:srgbClr val="FFD400"/>
          </a:solidFill>
          <a:ln/>
        </p:spPr>
      </p:sp>
      <p:sp>
        <p:nvSpPr>
          <p:cNvPr id="34" name="Text 31"/>
          <p:cNvSpPr txBox="1"/>
          <p:nvPr/>
        </p:nvSpPr>
        <p:spPr>
          <a:xfrm>
            <a:off x="6415888" y="5001768"/>
            <a:ext cx="384048" cy="384048"/>
          </a:xfrm>
          <a:prstGeom prst="rect">
            <a:avLst/>
          </a:prstGeom>
          <a:noFill/>
          <a:ln/>
        </p:spPr>
        <p:txBody>
          <a:bodyPr wrap="square" lIns="0" tIns="0" rIns="0" bIns="0" rtlCol="0" anchor="ctr"/>
          <a:lstStyle/>
          <a:p>
            <a:pPr algn="ctr" indent="0" marL="0">
              <a:buNone/>
            </a:pPr>
            <a:r>
              <a:rPr lang="en-US" sz="1500" b="1" dirty="0">
                <a:solidFill>
                  <a:srgbClr val="111111"/>
                </a:solidFill>
                <a:latin typeface="Noto Sans JP" pitchFamily="34" charset="0"/>
                <a:ea typeface="Noto Sans JP" pitchFamily="34" charset="-122"/>
                <a:cs typeface="Noto Sans JP" pitchFamily="34" charset="-120"/>
              </a:rPr>
              <a:t>Q</a:t>
            </a:r>
            <a:endParaRPr lang="en-US" sz="1500" dirty="0"/>
          </a:p>
        </p:txBody>
      </p:sp>
      <p:sp>
        <p:nvSpPr>
          <p:cNvPr id="35" name="Text 32"/>
          <p:cNvSpPr txBox="1"/>
          <p:nvPr/>
        </p:nvSpPr>
        <p:spPr>
          <a:xfrm>
            <a:off x="6964528" y="4983480"/>
            <a:ext cx="4495648" cy="420624"/>
          </a:xfrm>
          <a:prstGeom prst="rect">
            <a:avLst/>
          </a:prstGeom>
          <a:noFill/>
          <a:ln/>
        </p:spPr>
        <p:txBody>
          <a:bodyPr wrap="square" lIns="0" tIns="0" rIns="0" bIns="0" rtlCol="0" anchor="ctr"/>
          <a:lstStyle/>
          <a:p>
            <a:pPr indent="0" marL="0">
              <a:buNone/>
            </a:pPr>
            <a:r>
              <a:rPr lang="en-US" sz="1450" b="1" dirty="0">
                <a:solidFill>
                  <a:srgbClr val="111111"/>
                </a:solidFill>
                <a:latin typeface="Noto Sans JP" pitchFamily="34" charset="0"/>
                <a:ea typeface="Noto Sans JP" pitchFamily="34" charset="-122"/>
                <a:cs typeface="Noto Sans JP" pitchFamily="34" charset="-120"/>
              </a:rPr>
              <a:t>導入までどのくらいかかりますか？</a:t>
            </a:r>
            <a:endParaRPr lang="en-US" sz="1450" dirty="0"/>
          </a:p>
        </p:txBody>
      </p:sp>
      <p:sp>
        <p:nvSpPr>
          <p:cNvPr id="36" name="Text 33"/>
          <p:cNvSpPr txBox="1"/>
          <p:nvPr/>
        </p:nvSpPr>
        <p:spPr>
          <a:xfrm>
            <a:off x="6964528" y="5440680"/>
            <a:ext cx="4495648" cy="658368"/>
          </a:xfrm>
          <a:prstGeom prst="rect">
            <a:avLst/>
          </a:prstGeom>
          <a:noFill/>
          <a:ln/>
        </p:spPr>
        <p:txBody>
          <a:bodyPr wrap="square" lIns="0" tIns="0" rIns="0" bIns="0" rtlCol="0" anchor="t"/>
          <a:lstStyle/>
          <a:p>
            <a:pPr indent="0" marL="0">
              <a:lnSpc>
                <a:spcPct val="135000"/>
              </a:lnSpc>
              <a:buNone/>
            </a:pPr>
            <a:r>
              <a:rPr lang="en-US" sz="1150" dirty="0">
                <a:solidFill>
                  <a:srgbClr val="5B5B5B"/>
                </a:solidFill>
                <a:latin typeface="Noto Sans JP" pitchFamily="34" charset="0"/>
                <a:ea typeface="Noto Sans JP" pitchFamily="34" charset="-122"/>
                <a:cs typeface="Noto Sans JP" pitchFamily="34" charset="-120"/>
              </a:rPr>
              <a:t>ヒアリングからご提案まで約1週間〜10日が目安です。追加実証を行う場合は2〜4ヶ月程度を見込んでください。</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1000" dirty="0">
                <a:solidFill>
                  <a:srgbClr val="DDDDDD"/>
                </a:solidFill>
                <a:latin typeface="Noto Sans JP" pitchFamily="34" charset="0"/>
                <a:ea typeface="Noto Sans JP" pitchFamily="34" charset="-122"/>
                <a:cs typeface="Noto Sans JP" pitchFamily="34" charset="-120"/>
              </a:rPr>
              <a:t>19</a:t>
            </a:r>
            <a:endParaRPr lang="en-US" sz="1000" dirty="0"/>
          </a:p>
        </p:txBody>
      </p:sp>
      <p:sp>
        <p:nvSpPr>
          <p:cNvPr id="3" name="Shape 1"/>
          <p:cNvSpPr/>
          <p:nvPr/>
        </p:nvSpPr>
        <p:spPr>
          <a:xfrm>
            <a:off x="8778240" y="548640"/>
            <a:ext cx="1463040" cy="1266993"/>
          </a:xfrm>
          <a:prstGeom prst="hexagon">
            <a:avLst/>
          </a:prstGeom>
          <a:ln w="38100">
            <a:solidFill>
              <a:srgbClr val="FFD400"/>
            </a:solidFill>
            <a:prstDash val="solid"/>
          </a:ln>
        </p:spPr>
      </p:sp>
      <p:sp>
        <p:nvSpPr>
          <p:cNvPr id="4" name="Shape 2"/>
          <p:cNvSpPr/>
          <p:nvPr/>
        </p:nvSpPr>
        <p:spPr>
          <a:xfrm>
            <a:off x="10058400" y="1280160"/>
            <a:ext cx="1097280" cy="950244"/>
          </a:xfrm>
          <a:prstGeom prst="hexagon">
            <a:avLst/>
          </a:prstGeom>
          <a:solidFill>
            <a:srgbClr val="FFD400"/>
          </a:solidFill>
          <a:ln w="12700">
            <a:solidFill>
              <a:srgbClr val="FFD400"/>
            </a:solidFill>
            <a:prstDash val="solid"/>
          </a:ln>
        </p:spPr>
      </p:sp>
      <p:sp>
        <p:nvSpPr>
          <p:cNvPr id="5" name="Shape 3"/>
          <p:cNvSpPr/>
          <p:nvPr/>
        </p:nvSpPr>
        <p:spPr>
          <a:xfrm>
            <a:off x="10607040" y="4389120"/>
            <a:ext cx="1188720" cy="1029432"/>
          </a:xfrm>
          <a:prstGeom prst="hexagon">
            <a:avLst/>
          </a:prstGeom>
          <a:ln w="38100">
            <a:solidFill>
              <a:srgbClr val="FFD400"/>
            </a:solidFill>
            <a:prstDash val="solid"/>
          </a:ln>
        </p:spPr>
      </p:sp>
      <p:sp>
        <p:nvSpPr>
          <p:cNvPr id="6" name="Shape 4"/>
          <p:cNvSpPr/>
          <p:nvPr/>
        </p:nvSpPr>
        <p:spPr>
          <a:xfrm>
            <a:off x="9509760" y="5120640"/>
            <a:ext cx="822960" cy="712683"/>
          </a:xfrm>
          <a:prstGeom prst="hexagon">
            <a:avLst/>
          </a:prstGeom>
          <a:solidFill>
            <a:srgbClr val="FFD400"/>
          </a:solidFill>
          <a:ln w="12700">
            <a:solidFill>
              <a:srgbClr val="FFD400"/>
            </a:solidFill>
            <a:prstDash val="solid"/>
          </a:ln>
        </p:spPr>
      </p:sp>
      <p:sp>
        <p:nvSpPr>
          <p:cNvPr id="7" name="Shape 5"/>
          <p:cNvSpPr/>
          <p:nvPr/>
        </p:nvSpPr>
        <p:spPr>
          <a:xfrm>
            <a:off x="8686800" y="5760720"/>
            <a:ext cx="640080" cy="554309"/>
          </a:xfrm>
          <a:prstGeom prst="hexagon">
            <a:avLst/>
          </a:prstGeom>
          <a:ln w="38100">
            <a:solidFill>
              <a:srgbClr val="FFD400"/>
            </a:solidFill>
            <a:prstDash val="solid"/>
          </a:ln>
        </p:spPr>
      </p:sp>
      <p:sp>
        <p:nvSpPr>
          <p:cNvPr id="8" name="Shape 6"/>
          <p:cNvSpPr/>
          <p:nvPr/>
        </p:nvSpPr>
        <p:spPr>
          <a:xfrm>
            <a:off x="822960" y="822960"/>
            <a:ext cx="2377440" cy="822960"/>
          </a:xfrm>
          <a:prstGeom prst="roundRect">
            <a:avLst>
              <a:gd name="adj" fmla="val 13333"/>
            </a:avLst>
          </a:prstGeom>
          <a:solidFill>
            <a:srgbClr val="FFFFFF"/>
          </a:solidFill>
          <a:ln/>
        </p:spPr>
      </p:sp>
      <p:pic>
        <p:nvPicPr>
          <p:cNvPr id="9" name="Image 0" descr="/tmp/claude-0/-home-user-AIInfinity/c029ed01-a8ff-5307-a636-4c28fa3dbac4/scratchpad/lp/jpg/logo.png">    </p:cNvPr>
          <p:cNvPicPr>
            <a:picLocks noChangeAspect="1"/>
          </p:cNvPicPr>
          <p:nvPr/>
        </p:nvPicPr>
        <p:blipFill>
          <a:blip r:embed="rId1"/>
          <a:stretch>
            <a:fillRect/>
          </a:stretch>
        </p:blipFill>
        <p:spPr>
          <a:xfrm>
            <a:off x="1005840" y="987552"/>
            <a:ext cx="2011680" cy="492572"/>
          </a:xfrm>
          <a:prstGeom prst="rect">
            <a:avLst/>
          </a:prstGeom>
        </p:spPr>
      </p:pic>
      <p:sp>
        <p:nvSpPr>
          <p:cNvPr id="10" name="Text 7"/>
          <p:cNvSpPr txBox="1"/>
          <p:nvPr/>
        </p:nvSpPr>
        <p:spPr>
          <a:xfrm>
            <a:off x="822960" y="2103120"/>
            <a:ext cx="8229600" cy="1828800"/>
          </a:xfrm>
          <a:prstGeom prst="rect">
            <a:avLst/>
          </a:prstGeom>
          <a:noFill/>
          <a:ln/>
        </p:spPr>
        <p:txBody>
          <a:bodyPr wrap="square" lIns="0" tIns="0" rIns="0" bIns="0" rtlCol="0" anchor="t"/>
          <a:lstStyle/>
          <a:p>
            <a:pPr indent="0" marL="0">
              <a:lnSpc>
                <a:spcPct val="125000"/>
              </a:lnSpc>
              <a:buNone/>
            </a:pPr>
            <a:r>
              <a:rPr lang="en-US" sz="3400" b="1" dirty="0">
                <a:solidFill>
                  <a:srgbClr val="FFFFFF"/>
                </a:solidFill>
                <a:latin typeface="Noto Sans JP" pitchFamily="34" charset="0"/>
                <a:ea typeface="Noto Sans JP" pitchFamily="34" charset="-122"/>
                <a:cs typeface="Noto Sans JP" pitchFamily="34" charset="-120"/>
              </a:rPr>
              <a:t>カメラはそのまま。</a:t>
            </a:r>
            <a:endParaRPr lang="en-US" sz="3400" dirty="0"/>
          </a:p>
          <a:p>
            <a:pPr indent="0" marL="0">
              <a:lnSpc>
                <a:spcPct val="125000"/>
              </a:lnSpc>
              <a:buNone/>
            </a:pPr>
            <a:r>
              <a:rPr lang="en-US" sz="3400" b="1" dirty="0">
                <a:solidFill>
                  <a:srgbClr val="FFFFFF"/>
                </a:solidFill>
                <a:latin typeface="Noto Sans JP" pitchFamily="34" charset="0"/>
                <a:ea typeface="Noto Sans JP" pitchFamily="34" charset="-122"/>
                <a:cs typeface="Noto Sans JP" pitchFamily="34" charset="-120"/>
              </a:rPr>
              <a:t>まずは今の環境でできることを</a:t>
            </a:r>
            <a:endParaRPr lang="en-US" sz="3400" dirty="0"/>
          </a:p>
          <a:p>
            <a:pPr indent="0" marL="0">
              <a:lnSpc>
                <a:spcPct val="125000"/>
              </a:lnSpc>
              <a:buNone/>
            </a:pPr>
            <a:r>
              <a:rPr lang="en-US" sz="3400" b="1" dirty="0">
                <a:solidFill>
                  <a:srgbClr val="FFFFFF"/>
                </a:solidFill>
                <a:latin typeface="Noto Sans JP" pitchFamily="34" charset="0"/>
                <a:ea typeface="Noto Sans JP" pitchFamily="34" charset="-122"/>
                <a:cs typeface="Noto Sans JP" pitchFamily="34" charset="-120"/>
              </a:rPr>
              <a:t>確認しませんか。</a:t>
            </a:r>
            <a:endParaRPr lang="en-US" sz="3400" dirty="0"/>
          </a:p>
        </p:txBody>
      </p:sp>
      <p:sp>
        <p:nvSpPr>
          <p:cNvPr id="11" name="Shape 8"/>
          <p:cNvSpPr/>
          <p:nvPr/>
        </p:nvSpPr>
        <p:spPr>
          <a:xfrm>
            <a:off x="822960" y="4251960"/>
            <a:ext cx="5120640" cy="777240"/>
          </a:xfrm>
          <a:prstGeom prst="roundRect">
            <a:avLst>
              <a:gd name="adj" fmla="val 49412"/>
            </a:avLst>
          </a:prstGeom>
          <a:solidFill>
            <a:srgbClr val="FFD400"/>
          </a:solidFill>
          <a:ln/>
        </p:spPr>
      </p:sp>
      <p:sp>
        <p:nvSpPr>
          <p:cNvPr id="12" name="Text 9"/>
          <p:cNvSpPr txBox="1"/>
          <p:nvPr/>
        </p:nvSpPr>
        <p:spPr>
          <a:xfrm>
            <a:off x="822960" y="4251960"/>
            <a:ext cx="5120640" cy="777240"/>
          </a:xfrm>
          <a:prstGeom prst="rect">
            <a:avLst/>
          </a:prstGeom>
          <a:noFill/>
          <a:ln/>
        </p:spPr>
        <p:txBody>
          <a:bodyPr wrap="square" lIns="0" tIns="0" rIns="0" bIns="0" rtlCol="0" anchor="ctr"/>
          <a:lstStyle/>
          <a:p>
            <a:pPr algn="ctr" indent="0" marL="0">
              <a:buNone/>
            </a:pPr>
            <a:r>
              <a:rPr lang="en-US" sz="2000" b="1" dirty="0">
                <a:solidFill>
                  <a:srgbClr val="111111"/>
                </a:solidFill>
                <a:latin typeface="Noto Sans JP" pitchFamily="34" charset="0"/>
                <a:ea typeface="Noto Sans JP" pitchFamily="34" charset="-122"/>
                <a:cs typeface="Noto Sans JP" pitchFamily="34" charset="-120"/>
              </a:rPr>
              <a:t>導入のご相談・お見積りは無料です</a:t>
            </a:r>
            <a:endParaRPr lang="en-US" sz="2000" dirty="0"/>
          </a:p>
        </p:txBody>
      </p:sp>
      <p:sp>
        <p:nvSpPr>
          <p:cNvPr id="13" name="Text 10"/>
          <p:cNvSpPr txBox="1"/>
          <p:nvPr/>
        </p:nvSpPr>
        <p:spPr>
          <a:xfrm>
            <a:off x="822960" y="5349240"/>
            <a:ext cx="2743200" cy="274320"/>
          </a:xfrm>
          <a:prstGeom prst="rect">
            <a:avLst/>
          </a:prstGeom>
          <a:noFill/>
          <a:ln/>
        </p:spPr>
        <p:txBody>
          <a:bodyPr wrap="square" lIns="0" tIns="0" rIns="0" bIns="0" rtlCol="0" anchor="t"/>
          <a:lstStyle/>
          <a:p>
            <a:pPr indent="0" marL="0">
              <a:buNone/>
            </a:pPr>
            <a:r>
              <a:rPr lang="en-US" sz="1200" dirty="0">
                <a:solidFill>
                  <a:srgbClr val="BBBBBB"/>
                </a:solidFill>
                <a:latin typeface="Noto Sans JP" pitchFamily="34" charset="0"/>
                <a:ea typeface="Noto Sans JP" pitchFamily="34" charset="-122"/>
                <a:cs typeface="Noto Sans JP" pitchFamily="34" charset="-120"/>
              </a:rPr>
              <a:t>お問い合わせ</a:t>
            </a:r>
            <a:endParaRPr lang="en-US" sz="1200" dirty="0"/>
          </a:p>
        </p:txBody>
      </p:sp>
      <p:sp>
        <p:nvSpPr>
          <p:cNvPr id="14" name="Text 11"/>
          <p:cNvSpPr txBox="1"/>
          <p:nvPr/>
        </p:nvSpPr>
        <p:spPr>
          <a:xfrm>
            <a:off x="822960" y="5623560"/>
            <a:ext cx="7315200" cy="411480"/>
          </a:xfrm>
          <a:prstGeom prst="rect">
            <a:avLst/>
          </a:prstGeom>
          <a:noFill/>
          <a:ln/>
        </p:spPr>
        <p:txBody>
          <a:bodyPr wrap="square" lIns="0" tIns="0" rIns="0" bIns="0" rtlCol="0" anchor="t"/>
          <a:lstStyle/>
          <a:p>
            <a:pPr indent="0" marL="0">
              <a:buNone/>
            </a:pPr>
            <a:r>
              <a:rPr lang="en-US" sz="2000" b="1" dirty="0">
                <a:solidFill>
                  <a:srgbClr val="FFFFFF"/>
                </a:solidFill>
                <a:latin typeface="Noto Sans JP" pitchFamily="34" charset="0"/>
                <a:ea typeface="Noto Sans JP" pitchFamily="34" charset="-122"/>
                <a:cs typeface="Noto Sans JP" pitchFamily="34" charset="-120"/>
              </a:rPr>
              <a:t>info@hornet-v.com　／　03-4400-2790</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HACHINOS サービスご紹介</dc:title>
  <dc:subject>PptxGenJS Presentation</dc:subject>
  <dc:creator>PptxGenJS</dc:creator>
  <cp:lastModifiedBy>PptxGenJS</cp:lastModifiedBy>
  <cp:revision>1</cp:revision>
  <dcterms:created xsi:type="dcterms:W3CDTF">2026-10-01T11:34:16Z</dcterms:created>
  <dcterms:modified xsi:type="dcterms:W3CDTF">2026-10-01T11:34:16Z</dcterms:modified>
</cp:coreProperties>
</file>